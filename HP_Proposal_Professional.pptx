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7315200" cy="5486400"/>
          </a:xfrm>
          <a:prstGeom prst="rect">
            <a:avLst/>
          </a:prstGeom>
          <a:noFill/>
        </p:spPr>
        <p:txBody>
          <a:bodyPr wrap="square">
            <a:spAutoFit/>
          </a:bodyPr>
          <a:lstStyle/>
          <a:p>
            <a:pPr algn="ctr">
              <a:defRPr b="1" sz="3000">
                <a:solidFill>
                  <a:srgbClr val="004279"/>
                </a:solidFill>
              </a:defRPr>
            </a:pPr>
            <a:r>
              <a:t>Introducing the HP EliteBook series, the pinnacle of portable productivity. With ultralight designs ranging from 1.33 kg to 1.88 kg, each model offers RAM upgrades to 16 GB and robust enterprise security features. Perfectly tailored for mobile professionals and designers, our EliteBook laptops provide reliability and performance without compromise. Elevate your work experience with HP.</a:t>
            </a:r>
          </a:p>
        </p:txBody>
      </p:sp>
      <p:sp>
        <p:nvSpPr>
          <p:cNvPr id="3" name="TextBox 2"/>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Generated by HP AI Sales Assistant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Customer Requirements</a:t>
            </a:r>
          </a:p>
        </p:txBody>
      </p:sp>
      <p:sp>
        <p:nvSpPr>
          <p:cNvPr id="3" name="TextBox 2"/>
          <p:cNvSpPr txBox="1"/>
          <p:nvPr/>
        </p:nvSpPr>
        <p:spPr>
          <a:xfrm>
            <a:off x="548640" y="1188720"/>
            <a:ext cx="7772400" cy="1097280"/>
          </a:xfrm>
          <a:prstGeom prst="rect">
            <a:avLst/>
          </a:prstGeom>
          <a:noFill/>
        </p:spPr>
        <p:txBody>
          <a:bodyPr wrap="none">
            <a:spAutoFit/>
          </a:bodyPr>
          <a:lstStyle/>
          <a:p>
            <a:r>
              <a:rPr sz="1600" b="1">
                <a:solidFill>
                  <a:srgbClr val="222222"/>
                </a:solidFill>
                <a:latin typeface="Calibri"/>
              </a:rPr>
              <a:t>User Query:</a:t>
            </a:r>
          </a:p>
          <a:p>
            <a:r>
              <a:rPr sz="1400" b="0">
                <a:solidFill>
                  <a:srgbClr val="222222"/>
                </a:solidFill>
                <a:latin typeface="Calibri"/>
              </a:rPr>
              <a:t>We need 10 laptops for a design team, around ₹1 lakh each, lightweight, 8GB RAM, and good graphics.</a:t>
            </a:r>
          </a:p>
        </p:txBody>
      </p:sp>
      <p:sp>
        <p:nvSpPr>
          <p:cNvPr id="4" name="TextBox 3"/>
          <p:cNvSpPr txBox="1"/>
          <p:nvPr/>
        </p:nvSpPr>
        <p:spPr>
          <a:xfrm>
            <a:off x="548640" y="2560320"/>
            <a:ext cx="7772400" cy="4389120"/>
          </a:xfrm>
          <a:prstGeom prst="rect">
            <a:avLst/>
          </a:prstGeom>
          <a:noFill/>
        </p:spPr>
        <p:txBody>
          <a:bodyPr wrap="none">
            <a:spAutoFit/>
          </a:bodyPr>
          <a:lstStyle/>
          <a:p>
            <a:r>
              <a:rPr sz="1600" b="1">
                <a:solidFill>
                  <a:srgbClr val="0084B4"/>
                </a:solidFill>
                <a:latin typeface="Calibri"/>
              </a:rPr>
              <a:t>Extracted Requirements:</a:t>
            </a:r>
          </a:p>
          <a:p>
            <a:r>
              <a:rPr sz="1400" b="0">
                <a:solidFill>
                  <a:srgbClr val="222222"/>
                </a:solidFill>
                <a:latin typeface="Calibri"/>
              </a:rPr>
              <a:t>• product_category</a:t>
            </a:r>
          </a:p>
          <a:p>
            <a:r>
              <a:rPr sz="1400" b="0">
                <a:solidFill>
                  <a:srgbClr val="222222"/>
                </a:solidFill>
                <a:latin typeface="Calibri"/>
              </a:rPr>
              <a:t>• quantity</a:t>
            </a:r>
          </a:p>
          <a:p>
            <a:r>
              <a:rPr sz="1400" b="0">
                <a:solidFill>
                  <a:srgbClr val="222222"/>
                </a:solidFill>
                <a:latin typeface="Calibri"/>
              </a:rPr>
              <a:t>• budget_per_unit</a:t>
            </a:r>
          </a:p>
          <a:p>
            <a:r>
              <a:rPr sz="1400" b="0">
                <a:solidFill>
                  <a:srgbClr val="222222"/>
                </a:solidFill>
                <a:latin typeface="Calibri"/>
              </a:rPr>
              <a:t>• specific_requirements</a:t>
            </a:r>
          </a:p>
          <a:p>
            <a:r>
              <a:rPr sz="1400" b="0">
                <a:solidFill>
                  <a:srgbClr val="222222"/>
                </a:solidFill>
                <a:latin typeface="Calibri"/>
              </a:rPr>
              <a:t>• user_intent</a:t>
            </a:r>
          </a:p>
        </p:txBody>
      </p:sp>
      <p:sp>
        <p:nvSpPr>
          <p:cNvPr id="5" name="TextBox 4"/>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Customer Requirement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EliteBook 820 G1</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Now employees can hit the road with a travel pro. The HP EliteBook 820 industry leading thin and light notebook is ultra-mobile in and out of the office. Work with confidence thanks to proven enterprise technologies and enterprise security, performance and management features.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718457">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718457">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718457">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31.8 cm (12.5")</a:t>
                      </a:r>
                    </a:p>
                  </a:txBody>
                  <a:tcPr/>
                </a:tc>
              </a:tr>
              <a:tr h="718457">
                <a:tc>
                  <a:txBody>
                    <a:bodyPr/>
                    <a:lstStyle/>
                    <a:p>
                      <a:r>
                        <a:rPr sz="1000" b="0">
                          <a:solidFill>
                            <a:srgbClr val="222222"/>
                          </a:solidFill>
                          <a:latin typeface="Calibri"/>
                        </a:rPr>
                        <a:t>Battery</a:t>
                      </a:r>
                    </a:p>
                  </a:txBody>
                  <a:tcPr/>
                </a:tc>
                <a:tc>
                  <a:txBody>
                    <a:bodyPr/>
                    <a:lstStyle/>
                    <a:p>
                      <a:r>
                        <a:rPr sz="1000" b="0">
                          <a:solidFill>
                            <a:srgbClr val="222222"/>
                          </a:solidFill>
                          <a:latin typeface="Calibri"/>
                        </a:rPr>
                        <a:t>Primary Battery: 3-cell (26 WHr) HP Long Life; 3-cell (46 WHr) HP Long Life; Integrated: 45W Smart AC adapter; Discrete: 65W Smart AC adapter</a:t>
                      </a:r>
                    </a:p>
                  </a:txBody>
                  <a:tcPr/>
                </a:tc>
              </a:tr>
              <a:tr h="718457">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1.33 kg</a:t>
                      </a:r>
                    </a:p>
                  </a:txBody>
                  <a:tcPr/>
                </a:tc>
              </a:tr>
              <a:tr h="718457">
                <a:tc>
                  <a:txBody>
                    <a:bodyPr/>
                    <a:lstStyle/>
                    <a:p>
                      <a:r>
                        <a:rPr sz="1000" b="0">
                          <a:solidFill>
                            <a:srgbClr val="222222"/>
                          </a:solidFill>
                          <a:latin typeface="Calibri"/>
                        </a:rPr>
                        <a:t>Ports</a:t>
                      </a:r>
                    </a:p>
                  </a:txBody>
                  <a:tcPr/>
                </a:tc>
                <a:tc>
                  <a:txBody>
                    <a:bodyPr/>
                    <a:lstStyle/>
                    <a:p>
                      <a:r>
                        <a:rPr sz="1000" b="0">
                          <a:solidFill>
                            <a:srgbClr val="222222"/>
                          </a:solidFill>
                          <a:latin typeface="Calibri"/>
                        </a:rPr>
                        <a:t>1 Media Card Reader; 2 USB 3.0; 1 USB 3.0 charging; 1 DisplayPort 1.2; 1 VGA; 1 combo stereo headphone/mic jack; 1 AC power; 1 RJ-45; 1 side docking connector</a:t>
                      </a:r>
                    </a:p>
                  </a:txBody>
                  <a:tcPr/>
                </a:tc>
              </a:tr>
              <a:tr h="718458">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 or other operating systems available</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EliteBook 820 G1 — Product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EliteBook 840 G1</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Now employees can hit the road with a travel pro. The HP EliteBook 840 industry leading Ultrabook™ 21 is ultra-productive in and out of the office. Work with confidence thanks to proven enterprise technologies and enterprise security, performance and management features.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718457">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718457">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718457">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35.6 cm (14")</a:t>
                      </a:r>
                    </a:p>
                  </a:txBody>
                  <a:tcPr/>
                </a:tc>
              </a:tr>
              <a:tr h="718457">
                <a:tc>
                  <a:txBody>
                    <a:bodyPr/>
                    <a:lstStyle/>
                    <a:p>
                      <a:r>
                        <a:rPr sz="1000" b="0">
                          <a:solidFill>
                            <a:srgbClr val="222222"/>
                          </a:solidFill>
                          <a:latin typeface="Calibri"/>
                        </a:rPr>
                        <a:t>Battery</a:t>
                      </a:r>
                    </a:p>
                  </a:txBody>
                  <a:tcPr/>
                </a:tc>
                <a:tc>
                  <a:txBody>
                    <a:bodyPr/>
                    <a:lstStyle/>
                    <a:p>
                      <a:r>
                        <a:rPr sz="1000" b="0">
                          <a:solidFill>
                            <a:srgbClr val="222222"/>
                          </a:solidFill>
                          <a:latin typeface="Calibri"/>
                        </a:rPr>
                        <a:t>Primary Battery: 3-cell (26 WHr) HP Long Life; 3-cell (46 WHr) HP Long Life; Secondary 6-cell (60 WHr) HP Long Life optional; Integrated: 45W Smart AC adapter; Discrete: 65W Smart AC adapter</a:t>
                      </a:r>
                    </a:p>
                  </a:txBody>
                  <a:tcPr/>
                </a:tc>
              </a:tr>
              <a:tr h="718457">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1.58 kg</a:t>
                      </a:r>
                    </a:p>
                  </a:txBody>
                  <a:tcPr/>
                </a:tc>
              </a:tr>
              <a:tr h="718457">
                <a:tc>
                  <a:txBody>
                    <a:bodyPr/>
                    <a:lstStyle/>
                    <a:p>
                      <a:r>
                        <a:rPr sz="1000" b="0">
                          <a:solidFill>
                            <a:srgbClr val="222222"/>
                          </a:solidFill>
                          <a:latin typeface="Calibri"/>
                        </a:rPr>
                        <a:t>Ports</a:t>
                      </a:r>
                    </a:p>
                  </a:txBody>
                  <a:tcPr/>
                </a:tc>
                <a:tc>
                  <a:txBody>
                    <a:bodyPr/>
                    <a:lstStyle/>
                    <a:p>
                      <a:r>
                        <a:rPr sz="1000" b="0">
                          <a:solidFill>
                            <a:srgbClr val="222222"/>
                          </a:solidFill>
                          <a:latin typeface="Calibri"/>
                        </a:rPr>
                        <a:t>1 Media Card Reader; 2 USB 3.0; 1 USB 3.0 charging; 1 DisplayPort 1.2; 1 VGA; 1 combo stereo headphone/mic jack; 1 AC power; 1 RJ-45; 1 side docking connector</a:t>
                      </a:r>
                    </a:p>
                  </a:txBody>
                  <a:tcPr/>
                </a:tc>
              </a:tr>
              <a:tr h="718458">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 or other operating systems available</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EliteBook 840 G1 — Product Details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ProBook 430 G2</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Meet the demands of your work. Work smarter—and look good doing it—with an HP ProBook built to perform wherever business takes you. Count on a durable design inside and out, with integrated security and a spill-resistant keyboard. Plus, there's less bulk to bring with you, thanks to thin, stylish construction.</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718457">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718457">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 2 SODIMM</a:t>
                      </a:r>
                    </a:p>
                  </a:txBody>
                  <a:tcPr/>
                </a:tc>
              </a:tr>
              <a:tr h="718457">
                <a:tc>
                  <a:txBody>
                    <a:bodyPr/>
                    <a:lstStyle/>
                    <a:p>
                      <a:r>
                        <a:rPr sz="1000" b="0">
                          <a:solidFill>
                            <a:srgbClr val="222222"/>
                          </a:solidFill>
                          <a:latin typeface="Calibri"/>
                        </a:rPr>
                        <a:t>Cpu</a:t>
                      </a:r>
                    </a:p>
                  </a:txBody>
                  <a:tcPr/>
                </a:tc>
                <a:tc>
                  <a:txBody>
                    <a:bodyPr/>
                    <a:lstStyle/>
                    <a:p>
                      <a:r>
                        <a:rPr sz="1000" b="0">
                          <a:solidFill>
                            <a:srgbClr val="222222"/>
                          </a:solidFill>
                          <a:latin typeface="Calibri"/>
                        </a:rPr>
                        <a:t>Mobile Intel® HM87 Express</a:t>
                      </a:r>
                    </a:p>
                  </a:txBody>
                  <a:tcPr/>
                </a:tc>
              </a:tr>
              <a:tr h="718457">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33.8 cm (13.3")</a:t>
                      </a:r>
                    </a:p>
                  </a:txBody>
                  <a:tcPr/>
                </a:tc>
              </a:tr>
              <a:tr h="718457">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1.5 kg</a:t>
                      </a:r>
                    </a:p>
                  </a:txBody>
                  <a:tcPr/>
                </a:tc>
              </a:tr>
              <a:tr h="718457">
                <a:tc>
                  <a:txBody>
                    <a:bodyPr/>
                    <a:lstStyle/>
                    <a:p>
                      <a:r>
                        <a:rPr sz="1000" b="0">
                          <a:solidFill>
                            <a:srgbClr val="222222"/>
                          </a:solidFill>
                          <a:latin typeface="Calibri"/>
                        </a:rPr>
                        <a:t>Ports</a:t>
                      </a:r>
                    </a:p>
                  </a:txBody>
                  <a:tcPr/>
                </a:tc>
                <a:tc>
                  <a:txBody>
                    <a:bodyPr/>
                    <a:lstStyle/>
                    <a:p>
                      <a:r>
                        <a:rPr sz="1000" b="0">
                          <a:solidFill>
                            <a:srgbClr val="222222"/>
                          </a:solidFill>
                          <a:latin typeface="Calibri"/>
                        </a:rPr>
                        <a:t>2 USB 3.0; 2 USB 2.0; 1 HDMI; 1 stereo microphone in; 1 headphone/line-out; 1 RJ-45; 1 power; 1 VGA</a:t>
                      </a:r>
                    </a:p>
                  </a:txBody>
                  <a:tcPr/>
                </a:tc>
              </a:tr>
              <a:tr h="718458">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 or other operating systems available</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ProBook 430 G2 — Product Details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EliteBook 850 G1</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Now employees can hit the road with a travel pro. The HP EliteBook 850 industry leading Ultrabook™ 21 is ultra-productive in and out of the office. Work with confidence thanks to proven enterprise technologies and enterprise security, performance and management features.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718457">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718457">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718457">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39.6 cm (15.6")</a:t>
                      </a:r>
                    </a:p>
                  </a:txBody>
                  <a:tcPr/>
                </a:tc>
              </a:tr>
              <a:tr h="718457">
                <a:tc>
                  <a:txBody>
                    <a:bodyPr/>
                    <a:lstStyle/>
                    <a:p>
                      <a:r>
                        <a:rPr sz="1000" b="0">
                          <a:solidFill>
                            <a:srgbClr val="222222"/>
                          </a:solidFill>
                          <a:latin typeface="Calibri"/>
                        </a:rPr>
                        <a:t>Battery</a:t>
                      </a:r>
                    </a:p>
                  </a:txBody>
                  <a:tcPr/>
                </a:tc>
                <a:tc>
                  <a:txBody>
                    <a:bodyPr/>
                    <a:lstStyle/>
                    <a:p>
                      <a:r>
                        <a:rPr sz="1000" b="0">
                          <a:solidFill>
                            <a:srgbClr val="222222"/>
                          </a:solidFill>
                          <a:latin typeface="Calibri"/>
                        </a:rPr>
                        <a:t>Primary Battery: 3-cell (24 WHr) HP Long Life; 3-cell (50 WHr) HP Long Life; Integrated: 45W Smart AC adapter; Discrete: 65W Smart AC adapter</a:t>
                      </a:r>
                    </a:p>
                  </a:txBody>
                  <a:tcPr/>
                </a:tc>
              </a:tr>
              <a:tr h="718457">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1.88 kg</a:t>
                      </a:r>
                    </a:p>
                  </a:txBody>
                  <a:tcPr/>
                </a:tc>
              </a:tr>
              <a:tr h="718457">
                <a:tc>
                  <a:txBody>
                    <a:bodyPr/>
                    <a:lstStyle/>
                    <a:p>
                      <a:r>
                        <a:rPr sz="1000" b="0">
                          <a:solidFill>
                            <a:srgbClr val="222222"/>
                          </a:solidFill>
                          <a:latin typeface="Calibri"/>
                        </a:rPr>
                        <a:t>Ports</a:t>
                      </a:r>
                    </a:p>
                  </a:txBody>
                  <a:tcPr/>
                </a:tc>
                <a:tc>
                  <a:txBody>
                    <a:bodyPr/>
                    <a:lstStyle/>
                    <a:p>
                      <a:r>
                        <a:rPr sz="1000" b="0">
                          <a:solidFill>
                            <a:srgbClr val="222222"/>
                          </a:solidFill>
                          <a:latin typeface="Calibri"/>
                        </a:rPr>
                        <a:t>1 Media Card Reader; 3 USB 3.0; 1 USB 3.0 charging; 1 DisplayPort 1.2; 1 VGA; 1 combo stereo headphone/mic jack; 1 AC power; 1 RJ-45; 1 side docking connector</a:t>
                      </a:r>
                    </a:p>
                  </a:txBody>
                  <a:tcPr/>
                </a:tc>
              </a:tr>
              <a:tr h="718458">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 or other operating systems available</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EliteBook 850 G1 — Product Details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250 G3</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Designed to complete business tasks with Intel® technology, essential multimedia tools, and Windows 8.1. The durable chassis in a matte charcoal color protects the notebook from daily rigors.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628650">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628650">
                <a:tc>
                  <a:txBody>
                    <a:bodyPr/>
                    <a:lstStyle/>
                    <a:p>
                      <a:r>
                        <a:rPr sz="1000" b="0">
                          <a:solidFill>
                            <a:srgbClr val="222222"/>
                          </a:solidFill>
                          <a:latin typeface="Calibri"/>
                        </a:rPr>
                        <a:t>Ram</a:t>
                      </a:r>
                    </a:p>
                  </a:txBody>
                  <a:tcPr/>
                </a:tc>
                <a:tc>
                  <a:txBody>
                    <a:bodyPr/>
                    <a:lstStyle/>
                    <a:p>
                      <a:r>
                        <a:rPr sz="1000" b="0">
                          <a:solidFill>
                            <a:srgbClr val="222222"/>
                          </a:solidFill>
                          <a:latin typeface="Calibri"/>
                        </a:rPr>
                        <a:t>Standard memory up to 8,192MB; 1 SODIMM</a:t>
                      </a:r>
                    </a:p>
                  </a:txBody>
                  <a:tcPr/>
                </a:tc>
              </a:tr>
              <a:tr h="628650">
                <a:tc>
                  <a:txBody>
                    <a:bodyPr/>
                    <a:lstStyle/>
                    <a:p>
                      <a:r>
                        <a:rPr sz="1000" b="0">
                          <a:solidFill>
                            <a:srgbClr val="222222"/>
                          </a:solidFill>
                          <a:latin typeface="Calibri"/>
                        </a:rPr>
                        <a:t>Cpu</a:t>
                      </a:r>
                    </a:p>
                  </a:txBody>
                  <a:tcPr/>
                </a:tc>
                <a:tc>
                  <a:txBody>
                    <a:bodyPr/>
                    <a:lstStyle/>
                    <a:p>
                      <a:r>
                        <a:rPr sz="1000" b="0">
                          <a:solidFill>
                            <a:srgbClr val="222222"/>
                          </a:solidFill>
                          <a:latin typeface="Calibri"/>
                        </a:rPr>
                        <a:t>Intel® technology</a:t>
                      </a:r>
                    </a:p>
                  </a:txBody>
                  <a:tcPr/>
                </a:tc>
              </a:tr>
              <a:tr h="628650">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39.6 cm (15.6")</a:t>
                      </a:r>
                    </a:p>
                  </a:txBody>
                  <a:tcPr/>
                </a:tc>
              </a:tr>
              <a:tr h="628650">
                <a:tc>
                  <a:txBody>
                    <a:bodyPr/>
                    <a:lstStyle/>
                    <a:p>
                      <a:r>
                        <a:rPr sz="1000" b="0">
                          <a:solidFill>
                            <a:srgbClr val="222222"/>
                          </a:solidFill>
                          <a:latin typeface="Calibri"/>
                        </a:rPr>
                        <a:t>Battery</a:t>
                      </a:r>
                    </a:p>
                  </a:txBody>
                  <a:tcPr/>
                </a:tc>
                <a:tc>
                  <a:txBody>
                    <a:bodyPr/>
                    <a:lstStyle/>
                    <a:p>
                      <a:r>
                        <a:rPr sz="1000" b="0">
                          <a:solidFill>
                            <a:srgbClr val="222222"/>
                          </a:solidFill>
                          <a:latin typeface="Calibri"/>
                        </a:rPr>
                        <a:t>HP 3-cell (31 WHr) polymer battery; HP 4-cell (41 WHr) polymer battery</a:t>
                      </a:r>
                    </a:p>
                  </a:txBody>
                  <a:tcPr/>
                </a:tc>
              </a:tr>
              <a:tr h="628650">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&lt; 2 kg (Non-Touch); Starting at &lt; 2.4 kg (Touch)</a:t>
                      </a:r>
                    </a:p>
                  </a:txBody>
                  <a:tcPr/>
                </a:tc>
              </a:tr>
              <a:tr h="628650">
                <a:tc>
                  <a:txBody>
                    <a:bodyPr/>
                    <a:lstStyle/>
                    <a:p>
                      <a:r>
                        <a:rPr sz="1000" b="0">
                          <a:solidFill>
                            <a:srgbClr val="222222"/>
                          </a:solidFill>
                          <a:latin typeface="Calibri"/>
                        </a:rPr>
                        <a:t>Ports</a:t>
                      </a:r>
                    </a:p>
                  </a:txBody>
                  <a:tcPr/>
                </a:tc>
                <a:tc>
                  <a:txBody>
                    <a:bodyPr/>
                    <a:lstStyle/>
                    <a:p>
                      <a:r>
                        <a:rPr sz="1000" b="0">
                          <a:solidFill>
                            <a:srgbClr val="222222"/>
                          </a:solidFill>
                          <a:latin typeface="Calibri"/>
                        </a:rPr>
                        <a:t>1 USB 3.0; 2 USB 2.0; 1 HDMI; 1 VGA; 1 stereo microphone-in combo jack; 1 AC power; 1 RJ-45 (Ethernet)</a:t>
                      </a:r>
                    </a:p>
                  </a:txBody>
                  <a:tcPr/>
                </a:tc>
              </a:tr>
              <a:tr h="628650">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8.1</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250 G3 — Product Details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457200"/>
            <a:ext cx="8229600" cy="640080"/>
          </a:xfrm>
          <a:prstGeom prst="rect">
            <a:avLst/>
          </a:prstGeom>
          <a:noFill/>
        </p:spPr>
        <p:txBody>
          <a:bodyPr wrap="none">
            <a:spAutoFit/>
          </a:bodyPr>
          <a:lstStyle/>
          <a:p>
            <a:r>
              <a:rPr sz="2200" b="1">
                <a:solidFill>
                  <a:srgbClr val="004279"/>
                </a:solidFill>
                <a:latin typeface="Calibri"/>
              </a:rPr>
              <a:t>Product Comparison</a:t>
            </a:r>
          </a:p>
        </p:txBody>
      </p:sp>
      <p:graphicFrame>
        <p:nvGraphicFramePr>
          <p:cNvPr id="3" name="Table 2"/>
          <p:cNvGraphicFramePr>
            <a:graphicFrameLocks noGrp="1"/>
          </p:cNvGraphicFramePr>
          <p:nvPr/>
        </p:nvGraphicFramePr>
        <p:xfrm>
          <a:off x="274320" y="1188720"/>
          <a:ext cx="8595360" cy="4937760"/>
        </p:xfrm>
        <a:graphic>
          <a:graphicData uri="http://schemas.openxmlformats.org/drawingml/2006/table">
            <a:tbl>
              <a:tblPr firstRow="1" bandRow="1">
                <a:tableStyleId>{5C22544A-7EE6-4342-B048-85BDC9FD1C3A}</a:tableStyleId>
              </a:tblPr>
              <a:tblGrid>
                <a:gridCol w="1432560"/>
                <a:gridCol w="1432560"/>
                <a:gridCol w="1432560"/>
                <a:gridCol w="1432560"/>
                <a:gridCol w="1432560"/>
                <a:gridCol w="1432560"/>
              </a:tblGrid>
              <a:tr h="617220">
                <a:tc>
                  <a:txBody>
                    <a:bodyPr/>
                    <a:lstStyle/>
                    <a:p>
                      <a:r>
                        <a:rPr sz="1100" b="1">
                          <a:solidFill>
                            <a:srgbClr val="222222"/>
                          </a:solidFill>
                          <a:latin typeface="Calibri"/>
                        </a:rPr>
                        <a:t>Feature</a:t>
                      </a:r>
                    </a:p>
                  </a:txBody>
                  <a:tcPr/>
                </a:tc>
                <a:tc>
                  <a:txBody>
                    <a:bodyPr/>
                    <a:lstStyle/>
                    <a:p>
                      <a:r>
                        <a:rPr sz="1100" b="1">
                          <a:solidFill>
                            <a:srgbClr val="222222"/>
                          </a:solidFill>
                          <a:latin typeface="Calibri"/>
                        </a:rPr>
                        <a:t>HP EliteBook 820 G1</a:t>
                      </a:r>
                    </a:p>
                  </a:txBody>
                  <a:tcPr/>
                </a:tc>
                <a:tc>
                  <a:txBody>
                    <a:bodyPr/>
                    <a:lstStyle/>
                    <a:p>
                      <a:r>
                        <a:rPr sz="1100" b="1">
                          <a:solidFill>
                            <a:srgbClr val="222222"/>
                          </a:solidFill>
                          <a:latin typeface="Calibri"/>
                        </a:rPr>
                        <a:t>HP EliteBook 840 G1</a:t>
                      </a:r>
                    </a:p>
                  </a:txBody>
                  <a:tcPr/>
                </a:tc>
                <a:tc>
                  <a:txBody>
                    <a:bodyPr/>
                    <a:lstStyle/>
                    <a:p>
                      <a:r>
                        <a:rPr sz="1100" b="1">
                          <a:solidFill>
                            <a:srgbClr val="222222"/>
                          </a:solidFill>
                          <a:latin typeface="Calibri"/>
                        </a:rPr>
                        <a:t>HP ProBook 430 G2</a:t>
                      </a:r>
                    </a:p>
                  </a:txBody>
                  <a:tcPr/>
                </a:tc>
                <a:tc>
                  <a:txBody>
                    <a:bodyPr/>
                    <a:lstStyle/>
                    <a:p>
                      <a:r>
                        <a:rPr sz="1100" b="1">
                          <a:solidFill>
                            <a:srgbClr val="222222"/>
                          </a:solidFill>
                          <a:latin typeface="Calibri"/>
                        </a:rPr>
                        <a:t>HP EliteBook 850 G1</a:t>
                      </a:r>
                    </a:p>
                  </a:txBody>
                  <a:tcPr/>
                </a:tc>
                <a:tc>
                  <a:txBody>
                    <a:bodyPr/>
                    <a:lstStyle/>
                    <a:p>
                      <a:r>
                        <a:rPr sz="1100" b="1">
                          <a:solidFill>
                            <a:srgbClr val="222222"/>
                          </a:solidFill>
                          <a:latin typeface="Calibri"/>
                        </a:rPr>
                        <a:t>HP 250 G3</a:t>
                      </a:r>
                    </a:p>
                  </a:txBody>
                  <a:tcPr/>
                </a:tc>
              </a:tr>
              <a:tr h="617220">
                <a:tc>
                  <a:txBody>
                    <a:bodyPr/>
                    <a:lstStyle/>
                    <a:p>
                      <a:r>
                        <a:rPr sz="1000" b="1">
                          <a:solidFill>
                            <a:srgbClr val="222222"/>
                          </a:solidFill>
                          <a:latin typeface="Calibri"/>
                        </a:rPr>
                        <a:t>Battery</a:t>
                      </a:r>
                    </a:p>
                  </a:txBody>
                  <a:tcPr/>
                </a:tc>
                <a:tc>
                  <a:txBody>
                    <a:bodyPr/>
                    <a:lstStyle/>
                    <a:p>
                      <a:r>
                        <a:rPr sz="900" b="0">
                          <a:solidFill>
                            <a:srgbClr val="222222"/>
                          </a:solidFill>
                          <a:latin typeface="Calibri"/>
                        </a:rPr>
                        <a:t>Primary Battery: 3-cell (26 WHr) HP Long Life; 3-cell (46 WHr) HP Long Life; Integrated: 45W Smart AC adapter; Discrete: 65W Smart AC adapter</a:t>
                      </a:r>
                    </a:p>
                  </a:txBody>
                  <a:tcPr/>
                </a:tc>
                <a:tc>
                  <a:txBody>
                    <a:bodyPr/>
                    <a:lstStyle/>
                    <a:p>
                      <a:r>
                        <a:rPr sz="900" b="0">
                          <a:solidFill>
                            <a:srgbClr val="222222"/>
                          </a:solidFill>
                          <a:latin typeface="Calibri"/>
                        </a:rPr>
                        <a:t>Primary Battery: 3-cell (26 WHr) HP Long Life; 3-cell (46 WHr) HP Long Life; Secondary 6-cell (60 WHr) HP Long Life optional; Integrated: 45W Smart AC adapter; Discrete: 65W Smart AC adapter</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Primary Battery: 3-cell (24 WHr) HP Long Life; 3-cell (50 WHr) HP Long Life; Integrated: 45W Smart AC adapter; Discrete: 65W Smart AC adapter</a:t>
                      </a:r>
                    </a:p>
                  </a:txBody>
                  <a:tcPr/>
                </a:tc>
                <a:tc>
                  <a:txBody>
                    <a:bodyPr/>
                    <a:lstStyle/>
                    <a:p>
                      <a:r>
                        <a:rPr sz="900" b="0">
                          <a:solidFill>
                            <a:srgbClr val="222222"/>
                          </a:solidFill>
                          <a:latin typeface="Calibri"/>
                        </a:rPr>
                        <a:t>HP 3-cell (31 WHr) polymer battery; HP 4-cell (41 WHr) polymer battery</a:t>
                      </a:r>
                    </a:p>
                  </a:txBody>
                  <a:tcPr/>
                </a:tc>
              </a:tr>
              <a:tr h="617220">
                <a:tc>
                  <a:txBody>
                    <a:bodyPr/>
                    <a:lstStyle/>
                    <a:p>
                      <a:r>
                        <a:rPr sz="1000" b="1">
                          <a:solidFill>
                            <a:srgbClr val="222222"/>
                          </a:solidFill>
                          <a:latin typeface="Calibri"/>
                        </a:rPr>
                        <a:t>Cpu</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Mobile Intel® HM87 Express</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Intel® technology</a:t>
                      </a:r>
                    </a:p>
                  </a:txBody>
                  <a:tcPr/>
                </a:tc>
              </a:tr>
              <a:tr h="617220">
                <a:tc>
                  <a:txBody>
                    <a:bodyPr/>
                    <a:lstStyle/>
                    <a:p>
                      <a:r>
                        <a:rPr sz="1000" b="1">
                          <a:solidFill>
                            <a:srgbClr val="222222"/>
                          </a:solidFill>
                          <a:latin typeface="Calibri"/>
                        </a:rPr>
                        <a:t>Display</a:t>
                      </a:r>
                    </a:p>
                  </a:txBody>
                  <a:tcPr/>
                </a:tc>
                <a:tc>
                  <a:txBody>
                    <a:bodyPr/>
                    <a:lstStyle/>
                    <a:p>
                      <a:r>
                        <a:rPr sz="900" b="0">
                          <a:solidFill>
                            <a:srgbClr val="222222"/>
                          </a:solidFill>
                          <a:latin typeface="Calibri"/>
                        </a:rPr>
                        <a:t>31.8 cm (12.5")</a:t>
                      </a:r>
                    </a:p>
                  </a:txBody>
                  <a:tcPr/>
                </a:tc>
                <a:tc>
                  <a:txBody>
                    <a:bodyPr/>
                    <a:lstStyle/>
                    <a:p>
                      <a:r>
                        <a:rPr sz="900" b="0">
                          <a:solidFill>
                            <a:srgbClr val="222222"/>
                          </a:solidFill>
                          <a:latin typeface="Calibri"/>
                        </a:rPr>
                        <a:t>35.6 cm (14")</a:t>
                      </a:r>
                    </a:p>
                  </a:txBody>
                  <a:tcPr/>
                </a:tc>
                <a:tc>
                  <a:txBody>
                    <a:bodyPr/>
                    <a:lstStyle/>
                    <a:p>
                      <a:r>
                        <a:rPr sz="900" b="0">
                          <a:solidFill>
                            <a:srgbClr val="222222"/>
                          </a:solidFill>
                          <a:latin typeface="Calibri"/>
                        </a:rPr>
                        <a:t>33.8 cm (13.3")</a:t>
                      </a:r>
                    </a:p>
                  </a:txBody>
                  <a:tcPr/>
                </a:tc>
                <a:tc>
                  <a:txBody>
                    <a:bodyPr/>
                    <a:lstStyle/>
                    <a:p>
                      <a:r>
                        <a:rPr sz="900" b="0">
                          <a:solidFill>
                            <a:srgbClr val="222222"/>
                          </a:solidFill>
                          <a:latin typeface="Calibri"/>
                        </a:rPr>
                        <a:t>39.6 cm (15.6")</a:t>
                      </a:r>
                    </a:p>
                  </a:txBody>
                  <a:tcPr/>
                </a:tc>
                <a:tc>
                  <a:txBody>
                    <a:bodyPr/>
                    <a:lstStyle/>
                    <a:p>
                      <a:r>
                        <a:rPr sz="900" b="0">
                          <a:solidFill>
                            <a:srgbClr val="222222"/>
                          </a:solidFill>
                          <a:latin typeface="Calibri"/>
                        </a:rPr>
                        <a:t>39.6 cm (15.6")</a:t>
                      </a:r>
                    </a:p>
                  </a:txBody>
                  <a:tcPr/>
                </a:tc>
              </a:tr>
              <a:tr h="617220">
                <a:tc>
                  <a:txBody>
                    <a:bodyPr/>
                    <a:lstStyle/>
                    <a:p>
                      <a:r>
                        <a:rPr sz="1000" b="1">
                          <a:solidFill>
                            <a:srgbClr val="222222"/>
                          </a:solidFill>
                          <a:latin typeface="Calibri"/>
                        </a:rPr>
                        <a:t>Os</a:t>
                      </a:r>
                    </a:p>
                  </a:txBody>
                  <a:tcPr/>
                </a:tc>
                <a:tc>
                  <a:txBody>
                    <a:bodyPr/>
                    <a:lstStyle/>
                    <a:p>
                      <a:r>
                        <a:rPr sz="900" b="0">
                          <a:solidFill>
                            <a:srgbClr val="222222"/>
                          </a:solidFill>
                          <a:latin typeface="Calibri"/>
                        </a:rPr>
                        <a:t>Windows 8 Pro or other operating systems available</a:t>
                      </a:r>
                    </a:p>
                  </a:txBody>
                  <a:tcPr/>
                </a:tc>
                <a:tc>
                  <a:txBody>
                    <a:bodyPr/>
                    <a:lstStyle/>
                    <a:p>
                      <a:r>
                        <a:rPr sz="900" b="0">
                          <a:solidFill>
                            <a:srgbClr val="222222"/>
                          </a:solidFill>
                          <a:latin typeface="Calibri"/>
                        </a:rPr>
                        <a:t>Windows 8 Pro or other operating systems available</a:t>
                      </a:r>
                    </a:p>
                  </a:txBody>
                  <a:tcPr/>
                </a:tc>
                <a:tc>
                  <a:txBody>
                    <a:bodyPr/>
                    <a:lstStyle/>
                    <a:p>
                      <a:r>
                        <a:rPr sz="900" b="0">
                          <a:solidFill>
                            <a:srgbClr val="222222"/>
                          </a:solidFill>
                          <a:latin typeface="Calibri"/>
                        </a:rPr>
                        <a:t>Windows 8 Pro or other operating systems available</a:t>
                      </a:r>
                    </a:p>
                  </a:txBody>
                  <a:tcPr/>
                </a:tc>
                <a:tc>
                  <a:txBody>
                    <a:bodyPr/>
                    <a:lstStyle/>
                    <a:p>
                      <a:r>
                        <a:rPr sz="900" b="0">
                          <a:solidFill>
                            <a:srgbClr val="222222"/>
                          </a:solidFill>
                          <a:latin typeface="Calibri"/>
                        </a:rPr>
                        <a:t>Windows 8 Pro or other operating systems available</a:t>
                      </a:r>
                    </a:p>
                  </a:txBody>
                  <a:tcPr/>
                </a:tc>
                <a:tc>
                  <a:txBody>
                    <a:bodyPr/>
                    <a:lstStyle/>
                    <a:p>
                      <a:r>
                        <a:rPr sz="900" b="0">
                          <a:solidFill>
                            <a:srgbClr val="222222"/>
                          </a:solidFill>
                          <a:latin typeface="Calibri"/>
                        </a:rPr>
                        <a:t>Windows 8.1</a:t>
                      </a:r>
                    </a:p>
                  </a:txBody>
                  <a:tcPr/>
                </a:tc>
              </a:tr>
              <a:tr h="617220">
                <a:tc>
                  <a:txBody>
                    <a:bodyPr/>
                    <a:lstStyle/>
                    <a:p>
                      <a:r>
                        <a:rPr sz="1000" b="1">
                          <a:solidFill>
                            <a:srgbClr val="222222"/>
                          </a:solidFill>
                          <a:latin typeface="Calibri"/>
                        </a:rPr>
                        <a:t>Ports</a:t>
                      </a:r>
                    </a:p>
                  </a:txBody>
                  <a:tcPr/>
                </a:tc>
                <a:tc>
                  <a:txBody>
                    <a:bodyPr/>
                    <a:lstStyle/>
                    <a:p>
                      <a:r>
                        <a:rPr sz="900" b="0">
                          <a:solidFill>
                            <a:srgbClr val="222222"/>
                          </a:solidFill>
                          <a:latin typeface="Calibri"/>
                        </a:rPr>
                        <a:t>1 Media Card Reader; 2 USB 3.0; 1 USB 3.0 charging; 1 DisplayPort 1.2; 1 VGA; 1 combo stereo headphone/mic jack; 1 AC power; 1 RJ-45; 1 side docking connector</a:t>
                      </a:r>
                    </a:p>
                  </a:txBody>
                  <a:tcPr/>
                </a:tc>
                <a:tc>
                  <a:txBody>
                    <a:bodyPr/>
                    <a:lstStyle/>
                    <a:p>
                      <a:r>
                        <a:rPr sz="900" b="0">
                          <a:solidFill>
                            <a:srgbClr val="222222"/>
                          </a:solidFill>
                          <a:latin typeface="Calibri"/>
                        </a:rPr>
                        <a:t>1 Media Card Reader; 2 USB 3.0; 1 USB 3.0 charging; 1 DisplayPort 1.2; 1 VGA; 1 combo stereo headphone/mic jack; 1 AC power; 1 RJ-45; 1 side docking connector</a:t>
                      </a:r>
                    </a:p>
                  </a:txBody>
                  <a:tcPr/>
                </a:tc>
                <a:tc>
                  <a:txBody>
                    <a:bodyPr/>
                    <a:lstStyle/>
                    <a:p>
                      <a:r>
                        <a:rPr sz="900" b="0">
                          <a:solidFill>
                            <a:srgbClr val="222222"/>
                          </a:solidFill>
                          <a:latin typeface="Calibri"/>
                        </a:rPr>
                        <a:t>2 USB 3.0; 2 USB 2.0; 1 HDMI; 1 stereo microphone in; 1 headphone/line-out; 1 RJ-45; 1 power; 1 VGA</a:t>
                      </a:r>
                    </a:p>
                  </a:txBody>
                  <a:tcPr/>
                </a:tc>
                <a:tc>
                  <a:txBody>
                    <a:bodyPr/>
                    <a:lstStyle/>
                    <a:p>
                      <a:r>
                        <a:rPr sz="900" b="0">
                          <a:solidFill>
                            <a:srgbClr val="222222"/>
                          </a:solidFill>
                          <a:latin typeface="Calibri"/>
                        </a:rPr>
                        <a:t>1 Media Card Reader; 3 USB 3.0; 1 USB 3.0 charging; 1 DisplayPort 1.2; 1 VGA; 1 combo stereo headphone/mic jack; 1 AC power; 1 RJ-45; 1 side docking connector</a:t>
                      </a:r>
                    </a:p>
                  </a:txBody>
                  <a:tcPr/>
                </a:tc>
                <a:tc>
                  <a:txBody>
                    <a:bodyPr/>
                    <a:lstStyle/>
                    <a:p>
                      <a:r>
                        <a:rPr sz="900" b="0">
                          <a:solidFill>
                            <a:srgbClr val="222222"/>
                          </a:solidFill>
                          <a:latin typeface="Calibri"/>
                        </a:rPr>
                        <a:t>1 USB 3.0; 2 USB 2.0; 1 HDMI; 1 VGA; 1 stereo microphone-in combo jack; 1 AC power; 1 RJ-45 (Ethernet)</a:t>
                      </a:r>
                    </a:p>
                  </a:txBody>
                  <a:tcPr/>
                </a:tc>
              </a:tr>
              <a:tr h="617220">
                <a:tc>
                  <a:txBody>
                    <a:bodyPr/>
                    <a:lstStyle/>
                    <a:p>
                      <a:r>
                        <a:rPr sz="1000" b="1">
                          <a:solidFill>
                            <a:srgbClr val="222222"/>
                          </a:solidFill>
                          <a:latin typeface="Calibri"/>
                        </a:rPr>
                        <a:t>Ram</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 2 SODIMM</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Standard memory up to 8,192MB; 1 SODIMM</a:t>
                      </a:r>
                    </a:p>
                  </a:txBody>
                  <a:tcPr/>
                </a:tc>
              </a:tr>
              <a:tr h="617220">
                <a:tc>
                  <a:txBody>
                    <a:bodyPr/>
                    <a:lstStyle/>
                    <a:p>
                      <a:r>
                        <a:rPr sz="1000" b="1">
                          <a:solidFill>
                            <a:srgbClr val="222222"/>
                          </a:solidFill>
                          <a:latin typeface="Calibri"/>
                        </a:rPr>
                        <a:t>Weight</a:t>
                      </a:r>
                    </a:p>
                  </a:txBody>
                  <a:tcPr/>
                </a:tc>
                <a:tc>
                  <a:txBody>
                    <a:bodyPr/>
                    <a:lstStyle/>
                    <a:p>
                      <a:r>
                        <a:rPr sz="900" b="0">
                          <a:solidFill>
                            <a:srgbClr val="222222"/>
                          </a:solidFill>
                          <a:latin typeface="Calibri"/>
                        </a:rPr>
                        <a:t>Starting at 1.33 kg</a:t>
                      </a:r>
                    </a:p>
                  </a:txBody>
                  <a:tcPr/>
                </a:tc>
                <a:tc>
                  <a:txBody>
                    <a:bodyPr/>
                    <a:lstStyle/>
                    <a:p>
                      <a:r>
                        <a:rPr sz="900" b="0">
                          <a:solidFill>
                            <a:srgbClr val="222222"/>
                          </a:solidFill>
                          <a:latin typeface="Calibri"/>
                        </a:rPr>
                        <a:t>Starting at 1.58 kg</a:t>
                      </a:r>
                    </a:p>
                  </a:txBody>
                  <a:tcPr/>
                </a:tc>
                <a:tc>
                  <a:txBody>
                    <a:bodyPr/>
                    <a:lstStyle/>
                    <a:p>
                      <a:r>
                        <a:rPr sz="900" b="0">
                          <a:solidFill>
                            <a:srgbClr val="222222"/>
                          </a:solidFill>
                          <a:latin typeface="Calibri"/>
                        </a:rPr>
                        <a:t>Starting at 1.5 kg</a:t>
                      </a:r>
                    </a:p>
                  </a:txBody>
                  <a:tcPr/>
                </a:tc>
                <a:tc>
                  <a:txBody>
                    <a:bodyPr/>
                    <a:lstStyle/>
                    <a:p>
                      <a:r>
                        <a:rPr sz="900" b="0">
                          <a:solidFill>
                            <a:srgbClr val="222222"/>
                          </a:solidFill>
                          <a:latin typeface="Calibri"/>
                        </a:rPr>
                        <a:t>Starting at 1.88 kg</a:t>
                      </a:r>
                    </a:p>
                  </a:txBody>
                  <a:tcPr/>
                </a:tc>
                <a:tc>
                  <a:txBody>
                    <a:bodyPr/>
                    <a:lstStyle/>
                    <a:p>
                      <a:r>
                        <a:rPr sz="900" b="0">
                          <a:solidFill>
                            <a:srgbClr val="222222"/>
                          </a:solidFill>
                          <a:latin typeface="Calibri"/>
                        </a:rPr>
                        <a:t>Starting at &lt; 2 kg (Non-Touch); Starting at &lt; 2.4 kg (Touch)</a:t>
                      </a:r>
                    </a:p>
                  </a:txBody>
                  <a:tcPr/>
                </a:tc>
              </a:tr>
            </a:tbl>
          </a:graphicData>
        </a:graphic>
      </p:graphicFrame>
      <p:sp>
        <p:nvSpPr>
          <p:cNvPr id="4" name="TextBox 3"/>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Comparison Across Recommended Products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48640"/>
          </a:xfrm>
          <a:prstGeom prst="rect">
            <a:avLst/>
          </a:prstGeom>
          <a:noFill/>
        </p:spPr>
        <p:txBody>
          <a:bodyPr wrap="none">
            <a:spAutoFit/>
          </a:bodyPr>
          <a:lstStyle/>
          <a:p>
            <a:pPr>
              <a:defRPr sz="2800" b="1"/>
            </a:pPr>
            <a:r>
              <a:t>Upsell Recommendations — Page 1</a:t>
            </a:r>
          </a:p>
        </p:txBody>
      </p:sp>
      <p:sp>
        <p:nvSpPr>
          <p:cNvPr id="3" name="TextBox 2"/>
          <p:cNvSpPr txBox="1"/>
          <p:nvPr/>
        </p:nvSpPr>
        <p:spPr>
          <a:xfrm>
            <a:off x="457200" y="1097280"/>
            <a:ext cx="2743200" cy="365760"/>
          </a:xfrm>
          <a:prstGeom prst="rect">
            <a:avLst/>
          </a:prstGeom>
          <a:noFill/>
        </p:spPr>
        <p:txBody>
          <a:bodyPr wrap="square">
            <a:spAutoFit/>
          </a:bodyPr>
          <a:lstStyle/>
          <a:p>
            <a:pPr algn="ctr">
              <a:defRPr sz="2200" b="1">
                <a:solidFill>
                  <a:srgbClr val="000000"/>
                </a:solidFill>
              </a:defRPr>
            </a:pPr>
            <a:r>
              <a:t>Bag</a:t>
            </a:r>
          </a:p>
        </p:txBody>
      </p:sp>
      <p:pic>
        <p:nvPicPr>
          <p:cNvPr id="4" name="Picture 3" descr="page_28_img_11.png"/>
          <p:cNvPicPr>
            <a:picLocks noChangeAspect="1"/>
          </p:cNvPicPr>
          <p:nvPr/>
        </p:nvPicPr>
        <p:blipFill>
          <a:blip r:embed="rId2"/>
          <a:stretch>
            <a:fillRect/>
          </a:stretch>
        </p:blipFill>
        <p:spPr>
          <a:xfrm>
            <a:off x="1427356" y="1463040"/>
            <a:ext cx="802887" cy="914400"/>
          </a:xfrm>
          <a:prstGeom prst="rect">
            <a:avLst/>
          </a:prstGeom>
        </p:spPr>
      </p:pic>
      <p:sp>
        <p:nvSpPr>
          <p:cNvPr id="5" name="TextBox 4"/>
          <p:cNvSpPr txBox="1"/>
          <p:nvPr/>
        </p:nvSpPr>
        <p:spPr>
          <a:xfrm>
            <a:off x="457200" y="2377440"/>
            <a:ext cx="2743200" cy="329184"/>
          </a:xfrm>
          <a:prstGeom prst="rect">
            <a:avLst/>
          </a:prstGeom>
          <a:noFill/>
        </p:spPr>
        <p:txBody>
          <a:bodyPr wrap="square">
            <a:spAutoFit/>
          </a:bodyPr>
          <a:lstStyle/>
          <a:p>
            <a:pPr algn="ctr">
              <a:defRPr sz="1400" b="1">
                <a:solidFill>
                  <a:srgbClr val="000000"/>
                </a:solidFill>
              </a:defRPr>
            </a:pPr>
            <a:r>
              <a:t>HP Business Top Load Case</a:t>
            </a:r>
          </a:p>
        </p:txBody>
      </p:sp>
      <p:sp>
        <p:nvSpPr>
          <p:cNvPr id="6" name="TextBox 5"/>
          <p:cNvSpPr txBox="1"/>
          <p:nvPr/>
        </p:nvSpPr>
        <p:spPr>
          <a:xfrm>
            <a:off x="457200" y="2706624"/>
            <a:ext cx="2743200" cy="585216"/>
          </a:xfrm>
          <a:prstGeom prst="rect">
            <a:avLst/>
          </a:prstGeom>
          <a:noFill/>
        </p:spPr>
        <p:txBody>
          <a:bodyPr wrap="square">
            <a:spAutoFit/>
          </a:bodyPr>
          <a:lstStyle/>
          <a:p>
            <a:pPr algn="l">
              <a:defRPr sz="1100" b="0">
                <a:solidFill>
                  <a:srgbClr val="000000"/>
                </a:solidFill>
              </a:defRPr>
            </a:pPr>
            <a:r>
              <a:t>Comfortably carry your notebook and everyday accessories in the stylis</a:t>
            </a:r>
          </a:p>
        </p:txBody>
      </p:sp>
      <p:pic>
        <p:nvPicPr>
          <p:cNvPr id="7" name="Picture 6" descr="page_10_img_6.png"/>
          <p:cNvPicPr>
            <a:picLocks noChangeAspect="1"/>
          </p:cNvPicPr>
          <p:nvPr/>
        </p:nvPicPr>
        <p:blipFill>
          <a:blip r:embed="rId3"/>
          <a:stretch>
            <a:fillRect/>
          </a:stretch>
        </p:blipFill>
        <p:spPr>
          <a:xfrm>
            <a:off x="1219200" y="3291840"/>
            <a:ext cx="1219200" cy="914400"/>
          </a:xfrm>
          <a:prstGeom prst="rect">
            <a:avLst/>
          </a:prstGeom>
        </p:spPr>
      </p:pic>
      <p:sp>
        <p:nvSpPr>
          <p:cNvPr id="8" name="TextBox 7"/>
          <p:cNvSpPr txBox="1"/>
          <p:nvPr/>
        </p:nvSpPr>
        <p:spPr>
          <a:xfrm>
            <a:off x="457200" y="4206240"/>
            <a:ext cx="2743200" cy="329184"/>
          </a:xfrm>
          <a:prstGeom prst="rect">
            <a:avLst/>
          </a:prstGeom>
          <a:noFill/>
        </p:spPr>
        <p:txBody>
          <a:bodyPr wrap="square">
            <a:spAutoFit/>
          </a:bodyPr>
          <a:lstStyle/>
          <a:p>
            <a:pPr algn="ctr">
              <a:defRPr sz="1400" b="1">
                <a:solidFill>
                  <a:srgbClr val="000000"/>
                </a:solidFill>
              </a:defRPr>
            </a:pPr>
            <a:r>
              <a:t>HP Business 4 Wheel Roller Case</a:t>
            </a:r>
          </a:p>
        </p:txBody>
      </p:sp>
      <p:sp>
        <p:nvSpPr>
          <p:cNvPr id="9" name="TextBox 8"/>
          <p:cNvSpPr txBox="1"/>
          <p:nvPr/>
        </p:nvSpPr>
        <p:spPr>
          <a:xfrm>
            <a:off x="457200" y="4535424"/>
            <a:ext cx="2743200" cy="585216"/>
          </a:xfrm>
          <a:prstGeom prst="rect">
            <a:avLst/>
          </a:prstGeom>
          <a:noFill/>
        </p:spPr>
        <p:txBody>
          <a:bodyPr wrap="square">
            <a:spAutoFit/>
          </a:bodyPr>
          <a:lstStyle/>
          <a:p>
            <a:pPr algn="l">
              <a:defRPr sz="1100" b="0">
                <a:solidFill>
                  <a:srgbClr val="000000"/>
                </a:solidFill>
              </a:defRPr>
            </a:pPr>
            <a:r>
              <a:t>Carry your notebook and all the essentials you need for a day at the o</a:t>
            </a:r>
          </a:p>
        </p:txBody>
      </p:sp>
      <p:pic>
        <p:nvPicPr>
          <p:cNvPr id="10" name="Picture 9" descr="page_28_img_5.png"/>
          <p:cNvPicPr>
            <a:picLocks noChangeAspect="1"/>
          </p:cNvPicPr>
          <p:nvPr/>
        </p:nvPicPr>
        <p:blipFill>
          <a:blip r:embed="rId4"/>
          <a:stretch>
            <a:fillRect/>
          </a:stretch>
        </p:blipFill>
        <p:spPr>
          <a:xfrm>
            <a:off x="1316477" y="5120640"/>
            <a:ext cx="1024646" cy="914400"/>
          </a:xfrm>
          <a:prstGeom prst="rect">
            <a:avLst/>
          </a:prstGeom>
        </p:spPr>
      </p:pic>
      <p:sp>
        <p:nvSpPr>
          <p:cNvPr id="11" name="TextBox 10"/>
          <p:cNvSpPr txBox="1"/>
          <p:nvPr/>
        </p:nvSpPr>
        <p:spPr>
          <a:xfrm>
            <a:off x="457200" y="6035040"/>
            <a:ext cx="2743200" cy="329184"/>
          </a:xfrm>
          <a:prstGeom prst="rect">
            <a:avLst/>
          </a:prstGeom>
          <a:noFill/>
        </p:spPr>
        <p:txBody>
          <a:bodyPr wrap="square">
            <a:spAutoFit/>
          </a:bodyPr>
          <a:lstStyle/>
          <a:p>
            <a:pPr algn="ctr">
              <a:defRPr sz="1400" b="1">
                <a:solidFill>
                  <a:srgbClr val="000000"/>
                </a:solidFill>
              </a:defRPr>
            </a:pPr>
            <a:r>
              <a:t>HP Essential Messenger Case</a:t>
            </a:r>
          </a:p>
        </p:txBody>
      </p:sp>
      <p:sp>
        <p:nvSpPr>
          <p:cNvPr id="12" name="TextBox 11"/>
          <p:cNvSpPr txBox="1"/>
          <p:nvPr/>
        </p:nvSpPr>
        <p:spPr>
          <a:xfrm>
            <a:off x="457200" y="6364224"/>
            <a:ext cx="2743200" cy="585216"/>
          </a:xfrm>
          <a:prstGeom prst="rect">
            <a:avLst/>
          </a:prstGeom>
          <a:noFill/>
        </p:spPr>
        <p:txBody>
          <a:bodyPr wrap="square">
            <a:spAutoFit/>
          </a:bodyPr>
          <a:lstStyle/>
          <a:p>
            <a:pPr algn="l">
              <a:defRPr sz="1100" b="0">
                <a:solidFill>
                  <a:srgbClr val="000000"/>
                </a:solidFill>
              </a:defRPr>
            </a:pPr>
            <a:r>
              <a:t>The HP Essential Messenger Case is a messenger style carrying case des</a:t>
            </a:r>
          </a:p>
        </p:txBody>
      </p:sp>
      <p:sp>
        <p:nvSpPr>
          <p:cNvPr id="13" name="TextBox 12"/>
          <p:cNvSpPr txBox="1"/>
          <p:nvPr/>
        </p:nvSpPr>
        <p:spPr>
          <a:xfrm>
            <a:off x="3200400" y="1097280"/>
            <a:ext cx="2743200" cy="365760"/>
          </a:xfrm>
          <a:prstGeom prst="rect">
            <a:avLst/>
          </a:prstGeom>
          <a:noFill/>
        </p:spPr>
        <p:txBody>
          <a:bodyPr wrap="square">
            <a:spAutoFit/>
          </a:bodyPr>
          <a:lstStyle/>
          <a:p>
            <a:pPr algn="ctr">
              <a:defRPr sz="2200" b="1">
                <a:solidFill>
                  <a:srgbClr val="000000"/>
                </a:solidFill>
              </a:defRPr>
            </a:pPr>
            <a:r>
              <a:t>Backpack</a:t>
            </a:r>
          </a:p>
        </p:txBody>
      </p:sp>
      <p:pic>
        <p:nvPicPr>
          <p:cNvPr id="14" name="Picture 13" descr="page_28_img_6.png"/>
          <p:cNvPicPr>
            <a:picLocks noChangeAspect="1"/>
          </p:cNvPicPr>
          <p:nvPr/>
        </p:nvPicPr>
        <p:blipFill>
          <a:blip r:embed="rId5"/>
          <a:stretch>
            <a:fillRect/>
          </a:stretch>
        </p:blipFill>
        <p:spPr>
          <a:xfrm>
            <a:off x="4225925" y="1463040"/>
            <a:ext cx="692150" cy="914400"/>
          </a:xfrm>
          <a:prstGeom prst="rect">
            <a:avLst/>
          </a:prstGeom>
        </p:spPr>
      </p:pic>
      <p:sp>
        <p:nvSpPr>
          <p:cNvPr id="15" name="TextBox 14"/>
          <p:cNvSpPr txBox="1"/>
          <p:nvPr/>
        </p:nvSpPr>
        <p:spPr>
          <a:xfrm>
            <a:off x="3200400" y="2377440"/>
            <a:ext cx="2743200" cy="329184"/>
          </a:xfrm>
          <a:prstGeom prst="rect">
            <a:avLst/>
          </a:prstGeom>
          <a:noFill/>
        </p:spPr>
        <p:txBody>
          <a:bodyPr wrap="square">
            <a:spAutoFit/>
          </a:bodyPr>
          <a:lstStyle/>
          <a:p>
            <a:pPr algn="ctr">
              <a:defRPr sz="1400" b="1">
                <a:solidFill>
                  <a:srgbClr val="000000"/>
                </a:solidFill>
              </a:defRPr>
            </a:pPr>
            <a:r>
              <a:t>HP Essential Backpack</a:t>
            </a:r>
          </a:p>
        </p:txBody>
      </p:sp>
      <p:sp>
        <p:nvSpPr>
          <p:cNvPr id="16" name="TextBox 15"/>
          <p:cNvSpPr txBox="1"/>
          <p:nvPr/>
        </p:nvSpPr>
        <p:spPr>
          <a:xfrm>
            <a:off x="3200400" y="2706624"/>
            <a:ext cx="2743200" cy="585216"/>
          </a:xfrm>
          <a:prstGeom prst="rect">
            <a:avLst/>
          </a:prstGeom>
          <a:noFill/>
        </p:spPr>
        <p:txBody>
          <a:bodyPr wrap="square">
            <a:spAutoFit/>
          </a:bodyPr>
          <a:lstStyle/>
          <a:p>
            <a:pPr algn="l">
              <a:defRPr sz="1100" b="0">
                <a:solidFill>
                  <a:srgbClr val="000000"/>
                </a:solidFill>
              </a:defRPr>
            </a:pPr>
            <a:r>
              <a:t>The HP Essential Backpack is a great notebook carrying solution for bo</a:t>
            </a:r>
          </a:p>
        </p:txBody>
      </p:sp>
      <p:pic>
        <p:nvPicPr>
          <p:cNvPr id="17" name="Picture 16" descr="page_28_img_12.png"/>
          <p:cNvPicPr>
            <a:picLocks noChangeAspect="1"/>
          </p:cNvPicPr>
          <p:nvPr/>
        </p:nvPicPr>
        <p:blipFill>
          <a:blip r:embed="rId6"/>
          <a:stretch>
            <a:fillRect/>
          </a:stretch>
        </p:blipFill>
        <p:spPr>
          <a:xfrm>
            <a:off x="4117953" y="3291840"/>
            <a:ext cx="908093" cy="914400"/>
          </a:xfrm>
          <a:prstGeom prst="rect">
            <a:avLst/>
          </a:prstGeom>
        </p:spPr>
      </p:pic>
      <p:sp>
        <p:nvSpPr>
          <p:cNvPr id="18" name="TextBox 17"/>
          <p:cNvSpPr txBox="1"/>
          <p:nvPr/>
        </p:nvSpPr>
        <p:spPr>
          <a:xfrm>
            <a:off x="3200400" y="4206240"/>
            <a:ext cx="2743200" cy="329184"/>
          </a:xfrm>
          <a:prstGeom prst="rect">
            <a:avLst/>
          </a:prstGeom>
          <a:noFill/>
        </p:spPr>
        <p:txBody>
          <a:bodyPr wrap="square">
            <a:spAutoFit/>
          </a:bodyPr>
          <a:lstStyle/>
          <a:p>
            <a:pPr algn="ctr">
              <a:defRPr sz="1400" b="1">
                <a:solidFill>
                  <a:srgbClr val="000000"/>
                </a:solidFill>
              </a:defRPr>
            </a:pPr>
            <a:r>
              <a:t>HP Professional Backpack Case</a:t>
            </a:r>
          </a:p>
        </p:txBody>
      </p:sp>
      <p:sp>
        <p:nvSpPr>
          <p:cNvPr id="19" name="TextBox 18"/>
          <p:cNvSpPr txBox="1"/>
          <p:nvPr/>
        </p:nvSpPr>
        <p:spPr>
          <a:xfrm>
            <a:off x="3200400" y="4535424"/>
            <a:ext cx="2743200" cy="585216"/>
          </a:xfrm>
          <a:prstGeom prst="rect">
            <a:avLst/>
          </a:prstGeom>
          <a:noFill/>
        </p:spPr>
        <p:txBody>
          <a:bodyPr wrap="square">
            <a:spAutoFit/>
          </a:bodyPr>
          <a:lstStyle/>
          <a:p>
            <a:pPr algn="l">
              <a:defRPr sz="1100" b="0">
                <a:solidFill>
                  <a:srgbClr val="000000"/>
                </a:solidFill>
              </a:defRPr>
            </a:pPr>
            <a:r>
              <a:t>Combining comfort and function, the HP Professional Backpack Case is d</a:t>
            </a:r>
          </a:p>
        </p:txBody>
      </p:sp>
      <p:pic>
        <p:nvPicPr>
          <p:cNvPr id="20" name="Picture 19" descr="page_28_img_15.png"/>
          <p:cNvPicPr>
            <a:picLocks noChangeAspect="1"/>
          </p:cNvPicPr>
          <p:nvPr/>
        </p:nvPicPr>
        <p:blipFill>
          <a:blip r:embed="rId7"/>
          <a:stretch>
            <a:fillRect/>
          </a:stretch>
        </p:blipFill>
        <p:spPr>
          <a:xfrm>
            <a:off x="4184440" y="5120640"/>
            <a:ext cx="775120" cy="914400"/>
          </a:xfrm>
          <a:prstGeom prst="rect">
            <a:avLst/>
          </a:prstGeom>
        </p:spPr>
      </p:pic>
      <p:sp>
        <p:nvSpPr>
          <p:cNvPr id="21" name="TextBox 20"/>
          <p:cNvSpPr txBox="1"/>
          <p:nvPr/>
        </p:nvSpPr>
        <p:spPr>
          <a:xfrm>
            <a:off x="3200400" y="6035040"/>
            <a:ext cx="2743200" cy="329184"/>
          </a:xfrm>
          <a:prstGeom prst="rect">
            <a:avLst/>
          </a:prstGeom>
          <a:noFill/>
        </p:spPr>
        <p:txBody>
          <a:bodyPr wrap="square">
            <a:spAutoFit/>
          </a:bodyPr>
          <a:lstStyle/>
          <a:p>
            <a:pPr algn="ctr">
              <a:defRPr sz="1400" b="1">
                <a:solidFill>
                  <a:srgbClr val="000000"/>
                </a:solidFill>
              </a:defRPr>
            </a:pPr>
            <a:r>
              <a:t>HP Business Nylon Backpack</a:t>
            </a:r>
          </a:p>
        </p:txBody>
      </p:sp>
      <p:sp>
        <p:nvSpPr>
          <p:cNvPr id="22" name="TextBox 21"/>
          <p:cNvSpPr txBox="1"/>
          <p:nvPr/>
        </p:nvSpPr>
        <p:spPr>
          <a:xfrm>
            <a:off x="3200400" y="6364224"/>
            <a:ext cx="2743200" cy="585216"/>
          </a:xfrm>
          <a:prstGeom prst="rect">
            <a:avLst/>
          </a:prstGeom>
          <a:noFill/>
        </p:spPr>
        <p:txBody>
          <a:bodyPr wrap="square">
            <a:spAutoFit/>
          </a:bodyPr>
          <a:lstStyle/>
          <a:p>
            <a:pPr algn="l">
              <a:defRPr sz="1100" b="0">
                <a:solidFill>
                  <a:srgbClr val="000000"/>
                </a:solidFill>
              </a:defRPr>
            </a:pPr>
            <a:r>
              <a:t>HP Business Nylon Backpack offers a sturdy, all-purpose backpack for m</a:t>
            </a:r>
          </a:p>
        </p:txBody>
      </p:sp>
      <p:sp>
        <p:nvSpPr>
          <p:cNvPr id="23" name="TextBox 22"/>
          <p:cNvSpPr txBox="1"/>
          <p:nvPr/>
        </p:nvSpPr>
        <p:spPr>
          <a:xfrm>
            <a:off x="5943600" y="1097280"/>
            <a:ext cx="2743200" cy="365760"/>
          </a:xfrm>
          <a:prstGeom prst="rect">
            <a:avLst/>
          </a:prstGeom>
          <a:noFill/>
        </p:spPr>
        <p:txBody>
          <a:bodyPr wrap="square">
            <a:spAutoFit/>
          </a:bodyPr>
          <a:lstStyle/>
          <a:p>
            <a:pPr algn="ctr">
              <a:defRPr sz="2200" b="1">
                <a:solidFill>
                  <a:srgbClr val="000000"/>
                </a:solidFill>
              </a:defRPr>
            </a:pPr>
            <a:r>
              <a:t>Sleeve</a:t>
            </a:r>
          </a:p>
        </p:txBody>
      </p:sp>
      <p:pic>
        <p:nvPicPr>
          <p:cNvPr id="24" name="Picture 23" descr="page_28_img_9.png"/>
          <p:cNvPicPr>
            <a:picLocks noChangeAspect="1"/>
          </p:cNvPicPr>
          <p:nvPr/>
        </p:nvPicPr>
        <p:blipFill>
          <a:blip r:embed="rId8"/>
          <a:stretch>
            <a:fillRect/>
          </a:stretch>
        </p:blipFill>
        <p:spPr>
          <a:xfrm>
            <a:off x="6758887" y="1463040"/>
            <a:ext cx="1112626" cy="914400"/>
          </a:xfrm>
          <a:prstGeom prst="rect">
            <a:avLst/>
          </a:prstGeom>
        </p:spPr>
      </p:pic>
      <p:sp>
        <p:nvSpPr>
          <p:cNvPr id="25" name="TextBox 24"/>
          <p:cNvSpPr txBox="1"/>
          <p:nvPr/>
        </p:nvSpPr>
        <p:spPr>
          <a:xfrm>
            <a:off x="5943600" y="2377440"/>
            <a:ext cx="2743200" cy="329184"/>
          </a:xfrm>
          <a:prstGeom prst="rect">
            <a:avLst/>
          </a:prstGeom>
          <a:noFill/>
        </p:spPr>
        <p:txBody>
          <a:bodyPr wrap="square">
            <a:spAutoFit/>
          </a:bodyPr>
          <a:lstStyle/>
          <a:p>
            <a:pPr algn="ctr">
              <a:defRPr sz="1400" b="1">
                <a:solidFill>
                  <a:srgbClr val="000000"/>
                </a:solidFill>
              </a:defRPr>
            </a:pPr>
            <a:r>
              <a:t>HP ElitePad Case</a:t>
            </a:r>
          </a:p>
        </p:txBody>
      </p:sp>
      <p:sp>
        <p:nvSpPr>
          <p:cNvPr id="26" name="TextBox 25"/>
          <p:cNvSpPr txBox="1"/>
          <p:nvPr/>
        </p:nvSpPr>
        <p:spPr>
          <a:xfrm>
            <a:off x="5943600" y="2706624"/>
            <a:ext cx="2743200" cy="585216"/>
          </a:xfrm>
          <a:prstGeom prst="rect">
            <a:avLst/>
          </a:prstGeom>
          <a:noFill/>
        </p:spPr>
        <p:txBody>
          <a:bodyPr wrap="square">
            <a:spAutoFit/>
          </a:bodyPr>
          <a:lstStyle/>
          <a:p>
            <a:pPr algn="l">
              <a:defRPr sz="1100" b="0">
                <a:solidFill>
                  <a:srgbClr val="000000"/>
                </a:solidFill>
              </a:defRPr>
            </a:pPr>
            <a:r>
              <a:t>Sophistication. Durability. We've got you covered. Carry your HP Elite</a:t>
            </a:r>
          </a:p>
        </p:txBody>
      </p:sp>
      <p:pic>
        <p:nvPicPr>
          <p:cNvPr id="27" name="Picture 26" descr="page_28_img_10.png"/>
          <p:cNvPicPr>
            <a:picLocks noChangeAspect="1"/>
          </p:cNvPicPr>
          <p:nvPr/>
        </p:nvPicPr>
        <p:blipFill>
          <a:blip r:embed="rId9"/>
          <a:stretch>
            <a:fillRect/>
          </a:stretch>
        </p:blipFill>
        <p:spPr>
          <a:xfrm>
            <a:off x="6599446" y="3291840"/>
            <a:ext cx="1431508" cy="914400"/>
          </a:xfrm>
          <a:prstGeom prst="rect">
            <a:avLst/>
          </a:prstGeom>
        </p:spPr>
      </p:pic>
      <p:sp>
        <p:nvSpPr>
          <p:cNvPr id="28" name="TextBox 27"/>
          <p:cNvSpPr txBox="1"/>
          <p:nvPr/>
        </p:nvSpPr>
        <p:spPr>
          <a:xfrm>
            <a:off x="5943600" y="4206240"/>
            <a:ext cx="2743200" cy="329184"/>
          </a:xfrm>
          <a:prstGeom prst="rect">
            <a:avLst/>
          </a:prstGeom>
          <a:noFill/>
        </p:spPr>
        <p:txBody>
          <a:bodyPr wrap="square">
            <a:spAutoFit/>
          </a:bodyPr>
          <a:lstStyle/>
          <a:p>
            <a:pPr algn="ctr">
              <a:defRPr sz="1400" b="1">
                <a:solidFill>
                  <a:srgbClr val="000000"/>
                </a:solidFill>
              </a:defRPr>
            </a:pPr>
            <a:r>
              <a:t>HP ElitePad Rugged Case</a:t>
            </a:r>
          </a:p>
        </p:txBody>
      </p:sp>
      <p:sp>
        <p:nvSpPr>
          <p:cNvPr id="29" name="TextBox 28"/>
          <p:cNvSpPr txBox="1"/>
          <p:nvPr/>
        </p:nvSpPr>
        <p:spPr>
          <a:xfrm>
            <a:off x="5943600" y="4535424"/>
            <a:ext cx="2743200" cy="585216"/>
          </a:xfrm>
          <a:prstGeom prst="rect">
            <a:avLst/>
          </a:prstGeom>
          <a:noFill/>
        </p:spPr>
        <p:txBody>
          <a:bodyPr wrap="square">
            <a:spAutoFit/>
          </a:bodyPr>
          <a:lstStyle/>
          <a:p>
            <a:pPr algn="l">
              <a:defRPr sz="1100" b="0">
                <a:solidFill>
                  <a:srgbClr val="000000"/>
                </a:solidFill>
              </a:defRPr>
            </a:pPr>
            <a:r>
              <a:t>Help protect your HP ElitePad from bumps and drops in busy, high-traff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48640"/>
          </a:xfrm>
          <a:prstGeom prst="rect">
            <a:avLst/>
          </a:prstGeom>
          <a:noFill/>
        </p:spPr>
        <p:txBody>
          <a:bodyPr wrap="none">
            <a:spAutoFit/>
          </a:bodyPr>
          <a:lstStyle/>
          <a:p>
            <a:pPr>
              <a:defRPr sz="2800" b="1"/>
            </a:pPr>
            <a:r>
              <a:t>Upsell Recommendations — Page 2</a:t>
            </a:r>
          </a:p>
        </p:txBody>
      </p:sp>
      <p:sp>
        <p:nvSpPr>
          <p:cNvPr id="3" name="TextBox 2"/>
          <p:cNvSpPr txBox="1"/>
          <p:nvPr/>
        </p:nvSpPr>
        <p:spPr>
          <a:xfrm>
            <a:off x="457200" y="1097280"/>
            <a:ext cx="2743200" cy="365760"/>
          </a:xfrm>
          <a:prstGeom prst="rect">
            <a:avLst/>
          </a:prstGeom>
          <a:noFill/>
        </p:spPr>
        <p:txBody>
          <a:bodyPr wrap="square">
            <a:spAutoFit/>
          </a:bodyPr>
          <a:lstStyle/>
          <a:p>
            <a:pPr algn="ctr">
              <a:defRPr sz="2200" b="1">
                <a:solidFill>
                  <a:srgbClr val="000000"/>
                </a:solidFill>
              </a:defRPr>
            </a:pPr>
            <a:r>
              <a:t>Charger</a:t>
            </a:r>
          </a:p>
        </p:txBody>
      </p:sp>
      <p:pic>
        <p:nvPicPr>
          <p:cNvPr id="4" name="Picture 3" descr="page_26_img_5.png"/>
          <p:cNvPicPr>
            <a:picLocks noChangeAspect="1"/>
          </p:cNvPicPr>
          <p:nvPr/>
        </p:nvPicPr>
        <p:blipFill>
          <a:blip r:embed="rId2"/>
          <a:stretch>
            <a:fillRect/>
          </a:stretch>
        </p:blipFill>
        <p:spPr>
          <a:xfrm>
            <a:off x="1117971" y="1463040"/>
            <a:ext cx="1421658" cy="914400"/>
          </a:xfrm>
          <a:prstGeom prst="rect">
            <a:avLst/>
          </a:prstGeom>
        </p:spPr>
      </p:pic>
      <p:sp>
        <p:nvSpPr>
          <p:cNvPr id="5" name="TextBox 4"/>
          <p:cNvSpPr txBox="1"/>
          <p:nvPr/>
        </p:nvSpPr>
        <p:spPr>
          <a:xfrm>
            <a:off x="457200" y="2377440"/>
            <a:ext cx="2743200" cy="329184"/>
          </a:xfrm>
          <a:prstGeom prst="rect">
            <a:avLst/>
          </a:prstGeom>
          <a:noFill/>
        </p:spPr>
        <p:txBody>
          <a:bodyPr wrap="square">
            <a:spAutoFit/>
          </a:bodyPr>
          <a:lstStyle/>
          <a:p>
            <a:pPr algn="ctr">
              <a:defRPr sz="1400" b="1">
                <a:solidFill>
                  <a:srgbClr val="000000"/>
                </a:solidFill>
              </a:defRPr>
            </a:pPr>
            <a:r>
              <a:t>HP 230W Slim Adapter</a:t>
            </a:r>
          </a:p>
        </p:txBody>
      </p:sp>
      <p:sp>
        <p:nvSpPr>
          <p:cNvPr id="6" name="TextBox 5"/>
          <p:cNvSpPr txBox="1"/>
          <p:nvPr/>
        </p:nvSpPr>
        <p:spPr>
          <a:xfrm>
            <a:off x="457200" y="2706624"/>
            <a:ext cx="2743200" cy="585216"/>
          </a:xfrm>
          <a:prstGeom prst="rect">
            <a:avLst/>
          </a:prstGeom>
          <a:noFill/>
        </p:spPr>
        <p:txBody>
          <a:bodyPr wrap="square">
            <a:spAutoFit/>
          </a:bodyPr>
          <a:lstStyle/>
          <a:p>
            <a:pPr algn="l">
              <a:defRPr sz="1100" b="0">
                <a:solidFill>
                  <a:srgbClr val="000000"/>
                </a:solidFill>
              </a:defRPr>
            </a:pPr>
            <a:r>
              <a:t>HP includes a high quality AC adapter with each HP Business Notebook, </a:t>
            </a:r>
          </a:p>
        </p:txBody>
      </p:sp>
      <p:pic>
        <p:nvPicPr>
          <p:cNvPr id="7" name="Picture 6" descr="page_26_img_4.png"/>
          <p:cNvPicPr>
            <a:picLocks noChangeAspect="1"/>
          </p:cNvPicPr>
          <p:nvPr/>
        </p:nvPicPr>
        <p:blipFill>
          <a:blip r:embed="rId3"/>
          <a:stretch>
            <a:fillRect/>
          </a:stretch>
        </p:blipFill>
        <p:spPr>
          <a:xfrm>
            <a:off x="999893" y="3291840"/>
            <a:ext cx="1657814" cy="914400"/>
          </a:xfrm>
          <a:prstGeom prst="rect">
            <a:avLst/>
          </a:prstGeom>
        </p:spPr>
      </p:pic>
      <p:sp>
        <p:nvSpPr>
          <p:cNvPr id="8" name="TextBox 7"/>
          <p:cNvSpPr txBox="1"/>
          <p:nvPr/>
        </p:nvSpPr>
        <p:spPr>
          <a:xfrm>
            <a:off x="457200" y="4206240"/>
            <a:ext cx="2743200" cy="329184"/>
          </a:xfrm>
          <a:prstGeom prst="rect">
            <a:avLst/>
          </a:prstGeom>
          <a:noFill/>
        </p:spPr>
        <p:txBody>
          <a:bodyPr wrap="square">
            <a:spAutoFit/>
          </a:bodyPr>
          <a:lstStyle/>
          <a:p>
            <a:pPr algn="ctr">
              <a:defRPr sz="1400" b="1">
                <a:solidFill>
                  <a:srgbClr val="000000"/>
                </a:solidFill>
              </a:defRPr>
            </a:pPr>
            <a:r>
              <a:t>HP 65W Smart Travel AC Adapter</a:t>
            </a:r>
          </a:p>
        </p:txBody>
      </p:sp>
      <p:sp>
        <p:nvSpPr>
          <p:cNvPr id="9" name="TextBox 8"/>
          <p:cNvSpPr txBox="1"/>
          <p:nvPr/>
        </p:nvSpPr>
        <p:spPr>
          <a:xfrm>
            <a:off x="457200" y="4535424"/>
            <a:ext cx="2743200" cy="585216"/>
          </a:xfrm>
          <a:prstGeom prst="rect">
            <a:avLst/>
          </a:prstGeom>
          <a:noFill/>
        </p:spPr>
        <p:txBody>
          <a:bodyPr wrap="square">
            <a:spAutoFit/>
          </a:bodyPr>
          <a:lstStyle/>
          <a:p>
            <a:pPr algn="l">
              <a:defRPr sz="1100" b="0">
                <a:solidFill>
                  <a:srgbClr val="000000"/>
                </a:solidFill>
              </a:defRPr>
            </a:pPr>
            <a:r>
              <a:t>Work smarter on the road and around the world with the HP Smart 65W Tr</a:t>
            </a:r>
          </a:p>
        </p:txBody>
      </p:sp>
      <p:pic>
        <p:nvPicPr>
          <p:cNvPr id="10" name="Picture 9" descr="page_26_img_3.png"/>
          <p:cNvPicPr>
            <a:picLocks noChangeAspect="1"/>
          </p:cNvPicPr>
          <p:nvPr/>
        </p:nvPicPr>
        <p:blipFill>
          <a:blip r:embed="rId4"/>
          <a:stretch>
            <a:fillRect/>
          </a:stretch>
        </p:blipFill>
        <p:spPr>
          <a:xfrm>
            <a:off x="1181378" y="5120640"/>
            <a:ext cx="1294843" cy="914400"/>
          </a:xfrm>
          <a:prstGeom prst="rect">
            <a:avLst/>
          </a:prstGeom>
        </p:spPr>
      </p:pic>
      <p:sp>
        <p:nvSpPr>
          <p:cNvPr id="11" name="TextBox 10"/>
          <p:cNvSpPr txBox="1"/>
          <p:nvPr/>
        </p:nvSpPr>
        <p:spPr>
          <a:xfrm>
            <a:off x="457200" y="6035040"/>
            <a:ext cx="2743200" cy="329184"/>
          </a:xfrm>
          <a:prstGeom prst="rect">
            <a:avLst/>
          </a:prstGeom>
          <a:noFill/>
        </p:spPr>
        <p:txBody>
          <a:bodyPr wrap="square">
            <a:spAutoFit/>
          </a:bodyPr>
          <a:lstStyle/>
          <a:p>
            <a:pPr algn="ctr">
              <a:defRPr sz="1400" b="1">
                <a:solidFill>
                  <a:srgbClr val="000000"/>
                </a:solidFill>
              </a:defRPr>
            </a:pPr>
            <a:r>
              <a:t>HP 90W Smart AC/Auto/Air Combo Adapter</a:t>
            </a:r>
          </a:p>
        </p:txBody>
      </p:sp>
      <p:sp>
        <p:nvSpPr>
          <p:cNvPr id="12" name="TextBox 11"/>
          <p:cNvSpPr txBox="1"/>
          <p:nvPr/>
        </p:nvSpPr>
        <p:spPr>
          <a:xfrm>
            <a:off x="457200" y="6364224"/>
            <a:ext cx="2743200" cy="585216"/>
          </a:xfrm>
          <a:prstGeom prst="rect">
            <a:avLst/>
          </a:prstGeom>
          <a:noFill/>
        </p:spPr>
        <p:txBody>
          <a:bodyPr wrap="square">
            <a:spAutoFit/>
          </a:bodyPr>
          <a:lstStyle/>
          <a:p>
            <a:pPr algn="l">
              <a:defRPr sz="1100" b="0">
                <a:solidFill>
                  <a:srgbClr val="000000"/>
                </a:solidFill>
              </a:defRPr>
            </a:pPr>
            <a:r>
              <a:t>With the HP 90W AC/Auto/Air Combo Smart Adapter you can experience tru</a:t>
            </a:r>
          </a:p>
        </p:txBody>
      </p:sp>
      <p:sp>
        <p:nvSpPr>
          <p:cNvPr id="13" name="TextBox 12"/>
          <p:cNvSpPr txBox="1"/>
          <p:nvPr/>
        </p:nvSpPr>
        <p:spPr>
          <a:xfrm>
            <a:off x="3200400" y="1097280"/>
            <a:ext cx="2743200" cy="365760"/>
          </a:xfrm>
          <a:prstGeom prst="rect">
            <a:avLst/>
          </a:prstGeom>
          <a:noFill/>
        </p:spPr>
        <p:txBody>
          <a:bodyPr wrap="square">
            <a:spAutoFit/>
          </a:bodyPr>
          <a:lstStyle/>
          <a:p>
            <a:pPr algn="ctr">
              <a:defRPr sz="2200" b="1">
                <a:solidFill>
                  <a:srgbClr val="000000"/>
                </a:solidFill>
              </a:defRPr>
            </a:pPr>
            <a:r>
              <a:t>Docking Station</a:t>
            </a:r>
          </a:p>
        </p:txBody>
      </p:sp>
      <p:pic>
        <p:nvPicPr>
          <p:cNvPr id="14" name="Picture 13" descr="page_28_img_4.png"/>
          <p:cNvPicPr>
            <a:picLocks noChangeAspect="1"/>
          </p:cNvPicPr>
          <p:nvPr/>
        </p:nvPicPr>
        <p:blipFill>
          <a:blip r:embed="rId5"/>
          <a:stretch>
            <a:fillRect/>
          </a:stretch>
        </p:blipFill>
        <p:spPr>
          <a:xfrm>
            <a:off x="3863009" y="1463040"/>
            <a:ext cx="1417982" cy="914400"/>
          </a:xfrm>
          <a:prstGeom prst="rect">
            <a:avLst/>
          </a:prstGeom>
        </p:spPr>
      </p:pic>
      <p:sp>
        <p:nvSpPr>
          <p:cNvPr id="15" name="TextBox 14"/>
          <p:cNvSpPr txBox="1"/>
          <p:nvPr/>
        </p:nvSpPr>
        <p:spPr>
          <a:xfrm>
            <a:off x="3200400" y="2377440"/>
            <a:ext cx="2743200" cy="329184"/>
          </a:xfrm>
          <a:prstGeom prst="rect">
            <a:avLst/>
          </a:prstGeom>
          <a:noFill/>
        </p:spPr>
        <p:txBody>
          <a:bodyPr wrap="square">
            <a:spAutoFit/>
          </a:bodyPr>
          <a:lstStyle/>
          <a:p>
            <a:pPr algn="ctr">
              <a:defRPr sz="1400" b="1">
                <a:solidFill>
                  <a:srgbClr val="000000"/>
                </a:solidFill>
              </a:defRPr>
            </a:pPr>
            <a:r>
              <a:t>HP 2012 120W Advanced Docking Station</a:t>
            </a:r>
          </a:p>
        </p:txBody>
      </p:sp>
      <p:sp>
        <p:nvSpPr>
          <p:cNvPr id="16" name="TextBox 15"/>
          <p:cNvSpPr txBox="1"/>
          <p:nvPr/>
        </p:nvSpPr>
        <p:spPr>
          <a:xfrm>
            <a:off x="3200400" y="2706624"/>
            <a:ext cx="2743200" cy="585216"/>
          </a:xfrm>
          <a:prstGeom prst="rect">
            <a:avLst/>
          </a:prstGeom>
          <a:noFill/>
        </p:spPr>
        <p:txBody>
          <a:bodyPr wrap="square">
            <a:spAutoFit/>
          </a:bodyPr>
          <a:lstStyle/>
          <a:p>
            <a:pPr algn="l">
              <a:defRPr sz="1100" b="0">
                <a:solidFill>
                  <a:srgbClr val="000000"/>
                </a:solidFill>
              </a:defRPr>
            </a:pPr>
            <a:r>
              <a:t>HP offers a full line of docking stations designed exclusively for sel</a:t>
            </a:r>
          </a:p>
        </p:txBody>
      </p:sp>
      <p:pic>
        <p:nvPicPr>
          <p:cNvPr id="17" name="Picture 16" descr="page_28_img_18.png"/>
          <p:cNvPicPr>
            <a:picLocks noChangeAspect="1"/>
          </p:cNvPicPr>
          <p:nvPr/>
        </p:nvPicPr>
        <p:blipFill>
          <a:blip r:embed="rId6"/>
          <a:stretch>
            <a:fillRect/>
          </a:stretch>
        </p:blipFill>
        <p:spPr>
          <a:xfrm>
            <a:off x="3709639" y="3291840"/>
            <a:ext cx="1724721" cy="914400"/>
          </a:xfrm>
          <a:prstGeom prst="rect">
            <a:avLst/>
          </a:prstGeom>
        </p:spPr>
      </p:pic>
      <p:sp>
        <p:nvSpPr>
          <p:cNvPr id="18" name="TextBox 17"/>
          <p:cNvSpPr txBox="1"/>
          <p:nvPr/>
        </p:nvSpPr>
        <p:spPr>
          <a:xfrm>
            <a:off x="3200400" y="4206240"/>
            <a:ext cx="2743200" cy="329184"/>
          </a:xfrm>
          <a:prstGeom prst="rect">
            <a:avLst/>
          </a:prstGeom>
          <a:noFill/>
        </p:spPr>
        <p:txBody>
          <a:bodyPr wrap="square">
            <a:spAutoFit/>
          </a:bodyPr>
          <a:lstStyle/>
          <a:p>
            <a:pPr algn="ctr">
              <a:defRPr sz="1400" b="1">
                <a:solidFill>
                  <a:srgbClr val="000000"/>
                </a:solidFill>
              </a:defRPr>
            </a:pPr>
            <a:r>
              <a:t>HP 2012 230W Advanced Docking Station</a:t>
            </a:r>
          </a:p>
        </p:txBody>
      </p:sp>
      <p:sp>
        <p:nvSpPr>
          <p:cNvPr id="19" name="TextBox 18"/>
          <p:cNvSpPr txBox="1"/>
          <p:nvPr/>
        </p:nvSpPr>
        <p:spPr>
          <a:xfrm>
            <a:off x="3200400" y="4535424"/>
            <a:ext cx="2743200" cy="585216"/>
          </a:xfrm>
          <a:prstGeom prst="rect">
            <a:avLst/>
          </a:prstGeom>
          <a:noFill/>
        </p:spPr>
        <p:txBody>
          <a:bodyPr wrap="square">
            <a:spAutoFit/>
          </a:bodyPr>
          <a:lstStyle/>
          <a:p>
            <a:pPr algn="l">
              <a:defRPr sz="1100" b="0">
                <a:solidFill>
                  <a:srgbClr val="000000"/>
                </a:solidFill>
              </a:defRPr>
            </a:pPr>
            <a:r>
              <a:t>HP offers a full line of docking stations designed exclusively for sel</a:t>
            </a:r>
          </a:p>
        </p:txBody>
      </p:sp>
      <p:pic>
        <p:nvPicPr>
          <p:cNvPr id="20" name="Picture 19" descr="page_29_img_11.png"/>
          <p:cNvPicPr>
            <a:picLocks noChangeAspect="1"/>
          </p:cNvPicPr>
          <p:nvPr/>
        </p:nvPicPr>
        <p:blipFill>
          <a:blip r:embed="rId7"/>
          <a:stretch>
            <a:fillRect/>
          </a:stretch>
        </p:blipFill>
        <p:spPr>
          <a:xfrm>
            <a:off x="3718056" y="5120640"/>
            <a:ext cx="1707887" cy="914400"/>
          </a:xfrm>
          <a:prstGeom prst="rect">
            <a:avLst/>
          </a:prstGeom>
        </p:spPr>
      </p:pic>
      <p:sp>
        <p:nvSpPr>
          <p:cNvPr id="21" name="TextBox 20"/>
          <p:cNvSpPr txBox="1"/>
          <p:nvPr/>
        </p:nvSpPr>
        <p:spPr>
          <a:xfrm>
            <a:off x="3200400" y="6035040"/>
            <a:ext cx="2743200" cy="329184"/>
          </a:xfrm>
          <a:prstGeom prst="rect">
            <a:avLst/>
          </a:prstGeom>
          <a:noFill/>
        </p:spPr>
        <p:txBody>
          <a:bodyPr wrap="square">
            <a:spAutoFit/>
          </a:bodyPr>
          <a:lstStyle/>
          <a:p>
            <a:pPr algn="ctr">
              <a:defRPr sz="1400" b="1">
                <a:solidFill>
                  <a:srgbClr val="000000"/>
                </a:solidFill>
              </a:defRPr>
            </a:pPr>
            <a:r>
              <a:t>HP 2012 90W Docking Station</a:t>
            </a:r>
          </a:p>
        </p:txBody>
      </p:sp>
      <p:sp>
        <p:nvSpPr>
          <p:cNvPr id="22" name="TextBox 21"/>
          <p:cNvSpPr txBox="1"/>
          <p:nvPr/>
        </p:nvSpPr>
        <p:spPr>
          <a:xfrm>
            <a:off x="3200400" y="6364224"/>
            <a:ext cx="2743200" cy="585216"/>
          </a:xfrm>
          <a:prstGeom prst="rect">
            <a:avLst/>
          </a:prstGeom>
          <a:noFill/>
        </p:spPr>
        <p:txBody>
          <a:bodyPr wrap="square">
            <a:spAutoFit/>
          </a:bodyPr>
          <a:lstStyle/>
          <a:p>
            <a:pPr algn="l">
              <a:defRPr sz="1100" b="0">
                <a:solidFill>
                  <a:srgbClr val="000000"/>
                </a:solidFill>
              </a:defRPr>
            </a:pPr>
            <a:r>
              <a:t>HP offers a full line of docking stations designed exclusively for 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80160"/>
            <a:ext cx="8229600" cy="3200400"/>
          </a:xfrm>
          <a:prstGeom prst="rect">
            <a:avLst/>
          </a:prstGeom>
          <a:noFill/>
        </p:spPr>
        <p:txBody>
          <a:bodyPr wrap="none">
            <a:spAutoFit/>
          </a:bodyPr>
          <a:lstStyle/>
          <a:p>
            <a:r>
              <a:rPr sz="1800" b="0">
                <a:solidFill>
                  <a:srgbClr val="222222"/>
                </a:solidFill>
                <a:latin typeface="Calibri"/>
              </a:rPr>
              <a:t>Recommended next steps</a:t>
            </a:r>
          </a:p>
        </p:txBody>
      </p:sp>
      <p:sp>
        <p:nvSpPr>
          <p:cNvPr id="3" name="TextBox 2"/>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Thank You — HP Sales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