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828800"/>
            <a:ext cx="7315200" cy="1828800"/>
          </a:xfrm>
          <a:prstGeom prst="rect">
            <a:avLst/>
          </a:prstGeom>
          <a:noFill/>
        </p:spPr>
        <p:txBody>
          <a:bodyPr wrap="square">
            <a:spAutoFit/>
          </a:bodyPr>
          <a:lstStyle/>
          <a:p>
            <a:pPr algn="ctr">
              <a:defRPr b="1" sz="3400">
                <a:solidFill>
                  <a:srgbClr val="004279"/>
                </a:solidFill>
              </a:defRPr>
            </a:pPr>
            <a:r>
              <a:t>Introducing the HP ProBook and EliteBook series, combining sleek, lightweight designs with robust performance tailored for professionals. Experience upgradeable RAM and powerful Intel® or AMD technology, ensuring seamless multitasking and reliable performance. With impressive displays and extensive connectivity options, these laptops are perfect for enhancing productivity in any work environment. Elevate your business capabilities with the security and reliability your team deserves.</a:t>
            </a:r>
          </a:p>
        </p:txBody>
      </p:sp>
      <p:sp>
        <p:nvSpPr>
          <p:cNvPr id="3" name="TextBox 2"/>
          <p:cNvSpPr txBox="1"/>
          <p:nvPr/>
        </p:nvSpPr>
        <p:spPr>
          <a:xfrm>
            <a:off x="548640" y="6400800"/>
            <a:ext cx="8229600" cy="365760"/>
          </a:xfrm>
          <a:prstGeom prst="rect">
            <a:avLst/>
          </a:prstGeom>
          <a:noFill/>
        </p:spPr>
        <p:txBody>
          <a:bodyPr wrap="none">
            <a:spAutoFit/>
          </a:bodyPr>
          <a:lstStyle/>
          <a:p>
            <a:pPr algn="l"/>
            <a:r>
              <a:rPr sz="900" b="0">
                <a:solidFill>
                  <a:srgbClr val="787878"/>
                </a:solidFill>
                <a:latin typeface="Calibri"/>
              </a:rPr>
              <a:t>Generated by HP AI Sales Assistant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229600" cy="640080"/>
          </a:xfrm>
          <a:prstGeom prst="rect">
            <a:avLst/>
          </a:prstGeom>
          <a:noFill/>
        </p:spPr>
        <p:txBody>
          <a:bodyPr wrap="none">
            <a:spAutoFit/>
          </a:bodyPr>
          <a:lstStyle/>
          <a:p>
            <a:r>
              <a:rPr sz="2200" b="1">
                <a:solidFill>
                  <a:srgbClr val="004279"/>
                </a:solidFill>
                <a:latin typeface="Calibri"/>
              </a:rPr>
              <a:t>Customer Requirements</a:t>
            </a:r>
          </a:p>
        </p:txBody>
      </p:sp>
      <p:sp>
        <p:nvSpPr>
          <p:cNvPr id="3" name="TextBox 2"/>
          <p:cNvSpPr txBox="1"/>
          <p:nvPr/>
        </p:nvSpPr>
        <p:spPr>
          <a:xfrm>
            <a:off x="548640" y="1188720"/>
            <a:ext cx="7772400" cy="1097280"/>
          </a:xfrm>
          <a:prstGeom prst="rect">
            <a:avLst/>
          </a:prstGeom>
          <a:noFill/>
        </p:spPr>
        <p:txBody>
          <a:bodyPr wrap="none">
            <a:spAutoFit/>
          </a:bodyPr>
          <a:lstStyle/>
          <a:p>
            <a:r>
              <a:rPr sz="1600" b="1">
                <a:solidFill>
                  <a:srgbClr val="222222"/>
                </a:solidFill>
                <a:latin typeface="Calibri"/>
              </a:rPr>
              <a:t>User Query:</a:t>
            </a:r>
          </a:p>
          <a:p>
            <a:r>
              <a:rPr sz="1400" b="0">
                <a:solidFill>
                  <a:srgbClr val="222222"/>
                </a:solidFill>
                <a:latin typeface="Calibri"/>
              </a:rPr>
              <a:t>We need 10 laptops for a design team, around ₹1 lakh each, lightweight, 8GB RAM, and good graphics.</a:t>
            </a:r>
          </a:p>
        </p:txBody>
      </p:sp>
      <p:sp>
        <p:nvSpPr>
          <p:cNvPr id="4" name="TextBox 3"/>
          <p:cNvSpPr txBox="1"/>
          <p:nvPr/>
        </p:nvSpPr>
        <p:spPr>
          <a:xfrm>
            <a:off x="548640" y="2560320"/>
            <a:ext cx="7772400" cy="4389120"/>
          </a:xfrm>
          <a:prstGeom prst="rect">
            <a:avLst/>
          </a:prstGeom>
          <a:noFill/>
        </p:spPr>
        <p:txBody>
          <a:bodyPr wrap="none">
            <a:spAutoFit/>
          </a:bodyPr>
          <a:lstStyle/>
          <a:p>
            <a:r>
              <a:rPr sz="1600" b="1">
                <a:solidFill>
                  <a:srgbClr val="0084B4"/>
                </a:solidFill>
                <a:latin typeface="Calibri"/>
              </a:rPr>
              <a:t>Extracted Requirements:</a:t>
            </a:r>
          </a:p>
        </p:txBody>
      </p:sp>
      <p:sp>
        <p:nvSpPr>
          <p:cNvPr id="5" name="TextBox 4"/>
          <p:cNvSpPr txBox="1"/>
          <p:nvPr/>
        </p:nvSpPr>
        <p:spPr>
          <a:xfrm>
            <a:off x="548640" y="6400800"/>
            <a:ext cx="8229600" cy="365760"/>
          </a:xfrm>
          <a:prstGeom prst="rect">
            <a:avLst/>
          </a:prstGeom>
          <a:noFill/>
        </p:spPr>
        <p:txBody>
          <a:bodyPr wrap="none">
            <a:spAutoFit/>
          </a:bodyPr>
          <a:lstStyle/>
          <a:p>
            <a:pPr algn="l"/>
            <a:r>
              <a:rPr sz="900" b="0">
                <a:solidFill>
                  <a:srgbClr val="787878"/>
                </a:solidFill>
                <a:latin typeface="Calibri"/>
              </a:rPr>
              <a:t>Customer Requirement Analysis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229600" cy="640080"/>
          </a:xfrm>
          <a:prstGeom prst="rect">
            <a:avLst/>
          </a:prstGeom>
          <a:noFill/>
        </p:spPr>
        <p:txBody>
          <a:bodyPr wrap="none">
            <a:spAutoFit/>
          </a:bodyPr>
          <a:lstStyle/>
          <a:p>
            <a:r>
              <a:rPr sz="2200" b="1">
                <a:solidFill>
                  <a:srgbClr val="004279"/>
                </a:solidFill>
                <a:latin typeface="Calibri"/>
              </a:rPr>
              <a:t>HP ProBook 640 G1</a:t>
            </a:r>
          </a:p>
        </p:txBody>
      </p:sp>
      <p:pic>
        <p:nvPicPr>
          <p:cNvPr id="3" name="Picture 2" descr="page_5_img_11.png"/>
          <p:cNvPicPr>
            <a:picLocks noChangeAspect="1"/>
          </p:cNvPicPr>
          <p:nvPr/>
        </p:nvPicPr>
        <p:blipFill>
          <a:blip r:embed="rId2"/>
          <a:stretch>
            <a:fillRect/>
          </a:stretch>
        </p:blipFill>
        <p:spPr>
          <a:xfrm>
            <a:off x="548640" y="1280160"/>
            <a:ext cx="2743200" cy="3108960"/>
          </a:xfrm>
          <a:prstGeom prst="rect">
            <a:avLst/>
          </a:prstGeom>
        </p:spPr>
      </p:pic>
      <p:sp>
        <p:nvSpPr>
          <p:cNvPr id="4" name="TextBox 3"/>
          <p:cNvSpPr txBox="1"/>
          <p:nvPr/>
        </p:nvSpPr>
        <p:spPr>
          <a:xfrm>
            <a:off x="548640" y="4206240"/>
            <a:ext cx="2743200" cy="2286000"/>
          </a:xfrm>
          <a:prstGeom prst="rect">
            <a:avLst/>
          </a:prstGeom>
          <a:noFill/>
        </p:spPr>
        <p:txBody>
          <a:bodyPr wrap="square">
            <a:spAutoFit/>
          </a:bodyPr>
          <a:lstStyle/>
          <a:p>
            <a:r>
              <a:rPr sz="1400" b="1">
                <a:solidFill>
                  <a:srgbClr val="0084B4"/>
                </a:solidFill>
                <a:latin typeface="Calibri"/>
              </a:rPr>
              <a:t>Description:</a:t>
            </a:r>
          </a:p>
          <a:p>
            <a:pPr lvl="1"/>
            <a:r>
              <a:rPr sz="1200" b="0">
                <a:solidFill>
                  <a:srgbClr val="222222"/>
                </a:solidFill>
                <a:latin typeface="Calibri"/>
              </a:rPr>
              <a:t>Tailored for business. Optimised for Windows 8 Pro. 2 this configurable notebook features a 35.6 cm diagonal display and UMA or discrete graphics. From the professional design to Intel® technology, you're ready for business.</a:t>
            </a:r>
          </a:p>
        </p:txBody>
      </p:sp>
      <p:graphicFrame>
        <p:nvGraphicFramePr>
          <p:cNvPr id="5" name="Table 4"/>
          <p:cNvGraphicFramePr>
            <a:graphicFrameLocks noGrp="1"/>
          </p:cNvGraphicFramePr>
          <p:nvPr/>
        </p:nvGraphicFramePr>
        <p:xfrm>
          <a:off x="3657600" y="1188720"/>
          <a:ext cx="4937760" cy="5029200"/>
        </p:xfrm>
        <a:graphic>
          <a:graphicData uri="http://schemas.openxmlformats.org/drawingml/2006/table">
            <a:tbl>
              <a:tblPr firstRow="1" bandRow="1">
                <a:tableStyleId>{5C22544A-7EE6-4342-B048-85BDC9FD1C3A}</a:tableStyleId>
              </a:tblPr>
              <a:tblGrid>
                <a:gridCol w="2468880"/>
                <a:gridCol w="2468880"/>
              </a:tblGrid>
              <a:tr h="558800">
                <a:tc>
                  <a:txBody>
                    <a:bodyPr/>
                    <a:lstStyle/>
                    <a:p>
                      <a:r>
                        <a:rPr sz="1200" b="1">
                          <a:solidFill>
                            <a:srgbClr val="222222"/>
                          </a:solidFill>
                          <a:latin typeface="Calibri"/>
                        </a:rPr>
                        <a:t>Specification</a:t>
                      </a:r>
                    </a:p>
                  </a:txBody>
                  <a:tcPr/>
                </a:tc>
                <a:tc>
                  <a:txBody>
                    <a:bodyPr/>
                    <a:lstStyle/>
                    <a:p>
                      <a:r>
                        <a:rPr sz="1200" b="1">
                          <a:solidFill>
                            <a:srgbClr val="222222"/>
                          </a:solidFill>
                          <a:latin typeface="Calibri"/>
                        </a:rPr>
                        <a:t>Details</a:t>
                      </a:r>
                    </a:p>
                  </a:txBody>
                  <a:tcPr/>
                </a:tc>
              </a:tr>
              <a:tr h="558800">
                <a:tc>
                  <a:txBody>
                    <a:bodyPr/>
                    <a:lstStyle/>
                    <a:p>
                      <a:r>
                        <a:rPr sz="1000" b="0">
                          <a:solidFill>
                            <a:srgbClr val="222222"/>
                          </a:solidFill>
                          <a:latin typeface="Calibri"/>
                        </a:rPr>
                        <a:t>Ram</a:t>
                      </a:r>
                    </a:p>
                  </a:txBody>
                  <a:tcPr/>
                </a:tc>
                <a:tc>
                  <a:txBody>
                    <a:bodyPr/>
                    <a:lstStyle/>
                    <a:p>
                      <a:r>
                        <a:rPr sz="1000" b="0">
                          <a:solidFill>
                            <a:srgbClr val="222222"/>
                          </a:solidFill>
                          <a:latin typeface="Calibri"/>
                        </a:rPr>
                        <a:t>Upgradeable to 16 GB</a:t>
                      </a:r>
                    </a:p>
                  </a:txBody>
                  <a:tcPr/>
                </a:tc>
              </a:tr>
              <a:tr h="558800">
                <a:tc>
                  <a:txBody>
                    <a:bodyPr/>
                    <a:lstStyle/>
                    <a:p>
                      <a:r>
                        <a:rPr sz="1000" b="0">
                          <a:solidFill>
                            <a:srgbClr val="222222"/>
                          </a:solidFill>
                          <a:latin typeface="Calibri"/>
                        </a:rPr>
                        <a:t>Cpu</a:t>
                      </a:r>
                    </a:p>
                  </a:txBody>
                  <a:tcPr/>
                </a:tc>
                <a:tc>
                  <a:txBody>
                    <a:bodyPr/>
                    <a:lstStyle/>
                    <a:p>
                      <a:r>
                        <a:rPr sz="1000" b="0">
                          <a:solidFill>
                            <a:srgbClr val="222222"/>
                          </a:solidFill>
                          <a:latin typeface="Calibri"/>
                        </a:rPr>
                        <a:t>Intel® technology</a:t>
                      </a:r>
                    </a:p>
                  </a:txBody>
                  <a:tcPr/>
                </a:tc>
              </a:tr>
              <a:tr h="558800">
                <a:tc>
                  <a:txBody>
                    <a:bodyPr/>
                    <a:lstStyle/>
                    <a:p>
                      <a:r>
                        <a:rPr sz="1000" b="0">
                          <a:solidFill>
                            <a:srgbClr val="222222"/>
                          </a:solidFill>
                          <a:latin typeface="Calibri"/>
                        </a:rPr>
                        <a:t>Gpu</a:t>
                      </a:r>
                    </a:p>
                  </a:txBody>
                  <a:tcPr/>
                </a:tc>
                <a:tc>
                  <a:txBody>
                    <a:bodyPr/>
                    <a:lstStyle/>
                    <a:p>
                      <a:r>
                        <a:rPr sz="1000" b="0">
                          <a:solidFill>
                            <a:srgbClr val="222222"/>
                          </a:solidFill>
                          <a:latin typeface="Calibri"/>
                        </a:rPr>
                        <a:t>UMA or discrete graphics</a:t>
                      </a:r>
                    </a:p>
                  </a:txBody>
                  <a:tcPr/>
                </a:tc>
              </a:tr>
              <a:tr h="558800">
                <a:tc>
                  <a:txBody>
                    <a:bodyPr/>
                    <a:lstStyle/>
                    <a:p>
                      <a:r>
                        <a:rPr sz="1000" b="0">
                          <a:solidFill>
                            <a:srgbClr val="222222"/>
                          </a:solidFill>
                          <a:latin typeface="Calibri"/>
                        </a:rPr>
                        <a:t>Display</a:t>
                      </a:r>
                    </a:p>
                  </a:txBody>
                  <a:tcPr/>
                </a:tc>
                <a:tc>
                  <a:txBody>
                    <a:bodyPr/>
                    <a:lstStyle/>
                    <a:p>
                      <a:r>
                        <a:rPr sz="1000" b="0">
                          <a:solidFill>
                            <a:srgbClr val="222222"/>
                          </a:solidFill>
                          <a:latin typeface="Calibri"/>
                        </a:rPr>
                        <a:t>35.6 cm diagonal</a:t>
                      </a:r>
                    </a:p>
                  </a:txBody>
                  <a:tcPr/>
                </a:tc>
              </a:tr>
              <a:tr h="558800">
                <a:tc>
                  <a:txBody>
                    <a:bodyPr/>
                    <a:lstStyle/>
                    <a:p>
                      <a:r>
                        <a:rPr sz="1000" b="0">
                          <a:solidFill>
                            <a:srgbClr val="222222"/>
                          </a:solidFill>
                          <a:latin typeface="Calibri"/>
                        </a:rPr>
                        <a:t>Battery</a:t>
                      </a:r>
                    </a:p>
                  </a:txBody>
                  <a:tcPr/>
                </a:tc>
                <a:tc>
                  <a:txBody>
                    <a:bodyPr/>
                    <a:lstStyle/>
                    <a:p>
                      <a:r>
                        <a:rPr sz="1000" b="0">
                          <a:solidFill>
                            <a:srgbClr val="222222"/>
                          </a:solidFill>
                          <a:latin typeface="Calibri"/>
                        </a:rPr>
                        <a:t>90W Smart AC Adapter (discrete); 65W Smart AC Adapter (integrated); HP Fast Charge (not supported on 9-cell primary or secondary batteries)</a:t>
                      </a:r>
                    </a:p>
                  </a:txBody>
                  <a:tcPr/>
                </a:tc>
              </a:tr>
              <a:tr h="558800">
                <a:tc>
                  <a:txBody>
                    <a:bodyPr/>
                    <a:lstStyle/>
                    <a:p>
                      <a:r>
                        <a:rPr sz="1000" b="0">
                          <a:solidFill>
                            <a:srgbClr val="222222"/>
                          </a:solidFill>
                          <a:latin typeface="Calibri"/>
                        </a:rPr>
                        <a:t>Weight</a:t>
                      </a:r>
                    </a:p>
                  </a:txBody>
                  <a:tcPr/>
                </a:tc>
                <a:tc>
                  <a:txBody>
                    <a:bodyPr/>
                    <a:lstStyle/>
                    <a:p>
                      <a:r>
                        <a:rPr sz="1000" b="0">
                          <a:solidFill>
                            <a:srgbClr val="222222"/>
                          </a:solidFill>
                          <a:latin typeface="Calibri"/>
                        </a:rPr>
                        <a:t>Starting at 2.0 kg</a:t>
                      </a:r>
                    </a:p>
                  </a:txBody>
                  <a:tcPr/>
                </a:tc>
              </a:tr>
              <a:tr h="558800">
                <a:tc>
                  <a:txBody>
                    <a:bodyPr/>
                    <a:lstStyle/>
                    <a:p>
                      <a:r>
                        <a:rPr sz="1000" b="0">
                          <a:solidFill>
                            <a:srgbClr val="222222"/>
                          </a:solidFill>
                          <a:latin typeface="Calibri"/>
                        </a:rPr>
                        <a:t>Ports</a:t>
                      </a:r>
                    </a:p>
                  </a:txBody>
                  <a:tcPr/>
                </a:tc>
                <a:tc>
                  <a:txBody>
                    <a:bodyPr/>
                    <a:lstStyle/>
                    <a:p>
                      <a:r>
                        <a:rPr sz="1000" b="0">
                          <a:solidFill>
                            <a:srgbClr val="222222"/>
                          </a:solidFill>
                          <a:latin typeface="Calibri"/>
                        </a:rPr>
                        <a:t>1 ExpressCard/54; 1 Secure Digital; 2 USB 3.0; 2 USB 2.0; 1 stereo microphone in; 1 stereo headphone/line-out; 1 1394a; 1 AC power; 1 RJ-45; 1 docking connector; 1 secondary battery connector; 1 VGA; 1 serial; 1 RJ-11 (optional)</a:t>
                      </a:r>
                    </a:p>
                  </a:txBody>
                  <a:tcPr/>
                </a:tc>
              </a:tr>
              <a:tr h="558800">
                <a:tc>
                  <a:txBody>
                    <a:bodyPr/>
                    <a:lstStyle/>
                    <a:p>
                      <a:r>
                        <a:rPr sz="1000" b="0">
                          <a:solidFill>
                            <a:srgbClr val="222222"/>
                          </a:solidFill>
                          <a:latin typeface="Calibri"/>
                        </a:rPr>
                        <a:t>Os</a:t>
                      </a:r>
                    </a:p>
                  </a:txBody>
                  <a:tcPr/>
                </a:tc>
                <a:tc>
                  <a:txBody>
                    <a:bodyPr/>
                    <a:lstStyle/>
                    <a:p>
                      <a:r>
                        <a:rPr sz="1000" b="0">
                          <a:solidFill>
                            <a:srgbClr val="222222"/>
                          </a:solidFill>
                          <a:latin typeface="Calibri"/>
                        </a:rPr>
                        <a:t>Windows 8 Pro</a:t>
                      </a:r>
                    </a:p>
                  </a:txBody>
                  <a:tcPr/>
                </a:tc>
              </a:tr>
            </a:tbl>
          </a:graphicData>
        </a:graphic>
      </p:graphicFrame>
      <p:sp>
        <p:nvSpPr>
          <p:cNvPr id="6" name="TextBox 5"/>
          <p:cNvSpPr txBox="1"/>
          <p:nvPr/>
        </p:nvSpPr>
        <p:spPr>
          <a:xfrm>
            <a:off x="548640" y="6400800"/>
            <a:ext cx="8229600" cy="365760"/>
          </a:xfrm>
          <a:prstGeom prst="rect">
            <a:avLst/>
          </a:prstGeom>
          <a:noFill/>
        </p:spPr>
        <p:txBody>
          <a:bodyPr wrap="none">
            <a:spAutoFit/>
          </a:bodyPr>
          <a:lstStyle/>
          <a:p>
            <a:pPr algn="l"/>
            <a:r>
              <a:rPr sz="900" b="0">
                <a:solidFill>
                  <a:srgbClr val="787878"/>
                </a:solidFill>
                <a:latin typeface="Calibri"/>
              </a:rPr>
              <a:t>HP ProBook 640 G1 — Product Details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229600" cy="640080"/>
          </a:xfrm>
          <a:prstGeom prst="rect">
            <a:avLst/>
          </a:prstGeom>
          <a:noFill/>
        </p:spPr>
        <p:txBody>
          <a:bodyPr wrap="none">
            <a:spAutoFit/>
          </a:bodyPr>
          <a:lstStyle/>
          <a:p>
            <a:r>
              <a:rPr sz="2200" b="1">
                <a:solidFill>
                  <a:srgbClr val="004279"/>
                </a:solidFill>
                <a:latin typeface="Calibri"/>
              </a:rPr>
              <a:t>HP ProBook 650 G1</a:t>
            </a:r>
          </a:p>
        </p:txBody>
      </p:sp>
      <p:pic>
        <p:nvPicPr>
          <p:cNvPr id="3" name="Picture 2" descr="page_5_img_12.png"/>
          <p:cNvPicPr>
            <a:picLocks noChangeAspect="1"/>
          </p:cNvPicPr>
          <p:nvPr/>
        </p:nvPicPr>
        <p:blipFill>
          <a:blip r:embed="rId2"/>
          <a:stretch>
            <a:fillRect/>
          </a:stretch>
        </p:blipFill>
        <p:spPr>
          <a:xfrm>
            <a:off x="548640" y="1280160"/>
            <a:ext cx="2743200" cy="3108960"/>
          </a:xfrm>
          <a:prstGeom prst="rect">
            <a:avLst/>
          </a:prstGeom>
        </p:spPr>
      </p:pic>
      <p:sp>
        <p:nvSpPr>
          <p:cNvPr id="4" name="TextBox 3"/>
          <p:cNvSpPr txBox="1"/>
          <p:nvPr/>
        </p:nvSpPr>
        <p:spPr>
          <a:xfrm>
            <a:off x="548640" y="4206240"/>
            <a:ext cx="2743200" cy="2286000"/>
          </a:xfrm>
          <a:prstGeom prst="rect">
            <a:avLst/>
          </a:prstGeom>
          <a:noFill/>
        </p:spPr>
        <p:txBody>
          <a:bodyPr wrap="square">
            <a:spAutoFit/>
          </a:bodyPr>
          <a:lstStyle/>
          <a:p>
            <a:r>
              <a:rPr sz="1400" b="1">
                <a:solidFill>
                  <a:srgbClr val="0084B4"/>
                </a:solidFill>
                <a:latin typeface="Calibri"/>
              </a:rPr>
              <a:t>Description:</a:t>
            </a:r>
          </a:p>
          <a:p>
            <a:pPr lvl="1"/>
            <a:r>
              <a:rPr sz="1200" b="0">
                <a:solidFill>
                  <a:srgbClr val="222222"/>
                </a:solidFill>
                <a:latin typeface="Calibri"/>
              </a:rPr>
              <a:t>Tailored for business. Optimised for Windows 8 Pro. 2 this configurable notebook features a 39.6 cm diagonal display and UMA or discrete graphics. From the professional design to Intel® technology, you're ready for business.</a:t>
            </a:r>
          </a:p>
        </p:txBody>
      </p:sp>
      <p:graphicFrame>
        <p:nvGraphicFramePr>
          <p:cNvPr id="5" name="Table 4"/>
          <p:cNvGraphicFramePr>
            <a:graphicFrameLocks noGrp="1"/>
          </p:cNvGraphicFramePr>
          <p:nvPr/>
        </p:nvGraphicFramePr>
        <p:xfrm>
          <a:off x="3657600" y="1188720"/>
          <a:ext cx="4937760" cy="5029200"/>
        </p:xfrm>
        <a:graphic>
          <a:graphicData uri="http://schemas.openxmlformats.org/drawingml/2006/table">
            <a:tbl>
              <a:tblPr firstRow="1" bandRow="1">
                <a:tableStyleId>{5C22544A-7EE6-4342-B048-85BDC9FD1C3A}</a:tableStyleId>
              </a:tblPr>
              <a:tblGrid>
                <a:gridCol w="2468880"/>
                <a:gridCol w="2468880"/>
              </a:tblGrid>
              <a:tr h="558800">
                <a:tc>
                  <a:txBody>
                    <a:bodyPr/>
                    <a:lstStyle/>
                    <a:p>
                      <a:r>
                        <a:rPr sz="1200" b="1">
                          <a:solidFill>
                            <a:srgbClr val="222222"/>
                          </a:solidFill>
                          <a:latin typeface="Calibri"/>
                        </a:rPr>
                        <a:t>Specification</a:t>
                      </a:r>
                    </a:p>
                  </a:txBody>
                  <a:tcPr/>
                </a:tc>
                <a:tc>
                  <a:txBody>
                    <a:bodyPr/>
                    <a:lstStyle/>
                    <a:p>
                      <a:r>
                        <a:rPr sz="1200" b="1">
                          <a:solidFill>
                            <a:srgbClr val="222222"/>
                          </a:solidFill>
                          <a:latin typeface="Calibri"/>
                        </a:rPr>
                        <a:t>Details</a:t>
                      </a:r>
                    </a:p>
                  </a:txBody>
                  <a:tcPr/>
                </a:tc>
              </a:tr>
              <a:tr h="558800">
                <a:tc>
                  <a:txBody>
                    <a:bodyPr/>
                    <a:lstStyle/>
                    <a:p>
                      <a:r>
                        <a:rPr sz="1000" b="0">
                          <a:solidFill>
                            <a:srgbClr val="222222"/>
                          </a:solidFill>
                          <a:latin typeface="Calibri"/>
                        </a:rPr>
                        <a:t>Ram</a:t>
                      </a:r>
                    </a:p>
                  </a:txBody>
                  <a:tcPr/>
                </a:tc>
                <a:tc>
                  <a:txBody>
                    <a:bodyPr/>
                    <a:lstStyle/>
                    <a:p>
                      <a:r>
                        <a:rPr sz="1000" b="0">
                          <a:solidFill>
                            <a:srgbClr val="222222"/>
                          </a:solidFill>
                          <a:latin typeface="Calibri"/>
                        </a:rPr>
                        <a:t>Upgradeable to 16 GB</a:t>
                      </a:r>
                    </a:p>
                  </a:txBody>
                  <a:tcPr/>
                </a:tc>
              </a:tr>
              <a:tr h="558800">
                <a:tc>
                  <a:txBody>
                    <a:bodyPr/>
                    <a:lstStyle/>
                    <a:p>
                      <a:r>
                        <a:rPr sz="1000" b="0">
                          <a:solidFill>
                            <a:srgbClr val="222222"/>
                          </a:solidFill>
                          <a:latin typeface="Calibri"/>
                        </a:rPr>
                        <a:t>Cpu</a:t>
                      </a:r>
                    </a:p>
                  </a:txBody>
                  <a:tcPr/>
                </a:tc>
                <a:tc>
                  <a:txBody>
                    <a:bodyPr/>
                    <a:lstStyle/>
                    <a:p>
                      <a:r>
                        <a:rPr sz="1000" b="0">
                          <a:solidFill>
                            <a:srgbClr val="222222"/>
                          </a:solidFill>
                          <a:latin typeface="Calibri"/>
                        </a:rPr>
                        <a:t>Intel® technology</a:t>
                      </a:r>
                    </a:p>
                  </a:txBody>
                  <a:tcPr/>
                </a:tc>
              </a:tr>
              <a:tr h="558800">
                <a:tc>
                  <a:txBody>
                    <a:bodyPr/>
                    <a:lstStyle/>
                    <a:p>
                      <a:r>
                        <a:rPr sz="1000" b="0">
                          <a:solidFill>
                            <a:srgbClr val="222222"/>
                          </a:solidFill>
                          <a:latin typeface="Calibri"/>
                        </a:rPr>
                        <a:t>Gpu</a:t>
                      </a:r>
                    </a:p>
                  </a:txBody>
                  <a:tcPr/>
                </a:tc>
                <a:tc>
                  <a:txBody>
                    <a:bodyPr/>
                    <a:lstStyle/>
                    <a:p>
                      <a:r>
                        <a:rPr sz="1000" b="0">
                          <a:solidFill>
                            <a:srgbClr val="222222"/>
                          </a:solidFill>
                          <a:latin typeface="Calibri"/>
                        </a:rPr>
                        <a:t>UMA or discrete graphics</a:t>
                      </a:r>
                    </a:p>
                  </a:txBody>
                  <a:tcPr/>
                </a:tc>
              </a:tr>
              <a:tr h="558800">
                <a:tc>
                  <a:txBody>
                    <a:bodyPr/>
                    <a:lstStyle/>
                    <a:p>
                      <a:r>
                        <a:rPr sz="1000" b="0">
                          <a:solidFill>
                            <a:srgbClr val="222222"/>
                          </a:solidFill>
                          <a:latin typeface="Calibri"/>
                        </a:rPr>
                        <a:t>Display</a:t>
                      </a:r>
                    </a:p>
                  </a:txBody>
                  <a:tcPr/>
                </a:tc>
                <a:tc>
                  <a:txBody>
                    <a:bodyPr/>
                    <a:lstStyle/>
                    <a:p>
                      <a:r>
                        <a:rPr sz="1000" b="0">
                          <a:solidFill>
                            <a:srgbClr val="222222"/>
                          </a:solidFill>
                          <a:latin typeface="Calibri"/>
                        </a:rPr>
                        <a:t>39.6 cm diagonal</a:t>
                      </a:r>
                    </a:p>
                  </a:txBody>
                  <a:tcPr/>
                </a:tc>
              </a:tr>
              <a:tr h="558800">
                <a:tc>
                  <a:txBody>
                    <a:bodyPr/>
                    <a:lstStyle/>
                    <a:p>
                      <a:r>
                        <a:rPr sz="1000" b="0">
                          <a:solidFill>
                            <a:srgbClr val="222222"/>
                          </a:solidFill>
                          <a:latin typeface="Calibri"/>
                        </a:rPr>
                        <a:t>Battery</a:t>
                      </a:r>
                    </a:p>
                  </a:txBody>
                  <a:tcPr/>
                </a:tc>
                <a:tc>
                  <a:txBody>
                    <a:bodyPr/>
                    <a:lstStyle/>
                    <a:p>
                      <a:r>
                        <a:rPr sz="1000" b="0">
                          <a:solidFill>
                            <a:srgbClr val="222222"/>
                          </a:solidFill>
                          <a:latin typeface="Calibri"/>
                        </a:rPr>
                        <a:t>90W Smart AC Adapter (discrete); 65W Smart AC Adapter (integrated); HP Fast Charge (not supported on 9-cell primary or secondary batteries)</a:t>
                      </a:r>
                    </a:p>
                  </a:txBody>
                  <a:tcPr/>
                </a:tc>
              </a:tr>
              <a:tr h="558800">
                <a:tc>
                  <a:txBody>
                    <a:bodyPr/>
                    <a:lstStyle/>
                    <a:p>
                      <a:r>
                        <a:rPr sz="1000" b="0">
                          <a:solidFill>
                            <a:srgbClr val="222222"/>
                          </a:solidFill>
                          <a:latin typeface="Calibri"/>
                        </a:rPr>
                        <a:t>Weight</a:t>
                      </a:r>
                    </a:p>
                  </a:txBody>
                  <a:tcPr/>
                </a:tc>
                <a:tc>
                  <a:txBody>
                    <a:bodyPr/>
                    <a:lstStyle/>
                    <a:p>
                      <a:r>
                        <a:rPr sz="1000" b="0">
                          <a:solidFill>
                            <a:srgbClr val="222222"/>
                          </a:solidFill>
                          <a:latin typeface="Calibri"/>
                        </a:rPr>
                        <a:t>Starting at 2.32 kg</a:t>
                      </a:r>
                    </a:p>
                  </a:txBody>
                  <a:tcPr/>
                </a:tc>
              </a:tr>
              <a:tr h="558800">
                <a:tc>
                  <a:txBody>
                    <a:bodyPr/>
                    <a:lstStyle/>
                    <a:p>
                      <a:r>
                        <a:rPr sz="1000" b="0">
                          <a:solidFill>
                            <a:srgbClr val="222222"/>
                          </a:solidFill>
                          <a:latin typeface="Calibri"/>
                        </a:rPr>
                        <a:t>Ports</a:t>
                      </a:r>
                    </a:p>
                  </a:txBody>
                  <a:tcPr/>
                </a:tc>
                <a:tc>
                  <a:txBody>
                    <a:bodyPr/>
                    <a:lstStyle/>
                    <a:p>
                      <a:r>
                        <a:rPr sz="1000" b="0">
                          <a:solidFill>
                            <a:srgbClr val="222222"/>
                          </a:solidFill>
                          <a:latin typeface="Calibri"/>
                        </a:rPr>
                        <a:t>1 ExpressCard/54; 1 Secure Digital; 2 USB 3.0; 2 USB 2.0; 1 stereo microphone in; 1 stereo headphone/line-out; 1 1394a; 1 AC power; 1 RJ-45; 1 docking connector; 1 secondary battery connector; 1 VGA; 1 serial; 1 RJ-11 (optional)</a:t>
                      </a:r>
                    </a:p>
                  </a:txBody>
                  <a:tcPr/>
                </a:tc>
              </a:tr>
              <a:tr h="558800">
                <a:tc>
                  <a:txBody>
                    <a:bodyPr/>
                    <a:lstStyle/>
                    <a:p>
                      <a:r>
                        <a:rPr sz="1000" b="0">
                          <a:solidFill>
                            <a:srgbClr val="222222"/>
                          </a:solidFill>
                          <a:latin typeface="Calibri"/>
                        </a:rPr>
                        <a:t>Os</a:t>
                      </a:r>
                    </a:p>
                  </a:txBody>
                  <a:tcPr/>
                </a:tc>
                <a:tc>
                  <a:txBody>
                    <a:bodyPr/>
                    <a:lstStyle/>
                    <a:p>
                      <a:r>
                        <a:rPr sz="1000" b="0">
                          <a:solidFill>
                            <a:srgbClr val="222222"/>
                          </a:solidFill>
                          <a:latin typeface="Calibri"/>
                        </a:rPr>
                        <a:t>Windows 8 Pro</a:t>
                      </a:r>
                    </a:p>
                  </a:txBody>
                  <a:tcPr/>
                </a:tc>
              </a:tr>
            </a:tbl>
          </a:graphicData>
        </a:graphic>
      </p:graphicFrame>
      <p:sp>
        <p:nvSpPr>
          <p:cNvPr id="6" name="TextBox 5"/>
          <p:cNvSpPr txBox="1"/>
          <p:nvPr/>
        </p:nvSpPr>
        <p:spPr>
          <a:xfrm>
            <a:off x="548640" y="6400800"/>
            <a:ext cx="8229600" cy="365760"/>
          </a:xfrm>
          <a:prstGeom prst="rect">
            <a:avLst/>
          </a:prstGeom>
          <a:noFill/>
        </p:spPr>
        <p:txBody>
          <a:bodyPr wrap="none">
            <a:spAutoFit/>
          </a:bodyPr>
          <a:lstStyle/>
          <a:p>
            <a:pPr algn="l"/>
            <a:r>
              <a:rPr sz="900" b="0">
                <a:solidFill>
                  <a:srgbClr val="787878"/>
                </a:solidFill>
                <a:latin typeface="Calibri"/>
              </a:rPr>
              <a:t>HP ProBook 650 G1 — Product Details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229600" cy="640080"/>
          </a:xfrm>
          <a:prstGeom prst="rect">
            <a:avLst/>
          </a:prstGeom>
          <a:noFill/>
        </p:spPr>
        <p:txBody>
          <a:bodyPr wrap="none">
            <a:spAutoFit/>
          </a:bodyPr>
          <a:lstStyle/>
          <a:p>
            <a:r>
              <a:rPr sz="2200" b="1">
                <a:solidFill>
                  <a:srgbClr val="004279"/>
                </a:solidFill>
                <a:latin typeface="Calibri"/>
              </a:rPr>
              <a:t>HP EliteBook 850 G1</a:t>
            </a:r>
          </a:p>
        </p:txBody>
      </p:sp>
      <p:pic>
        <p:nvPicPr>
          <p:cNvPr id="3" name="Picture 2" descr="page_5_img_5.png"/>
          <p:cNvPicPr>
            <a:picLocks noChangeAspect="1"/>
          </p:cNvPicPr>
          <p:nvPr/>
        </p:nvPicPr>
        <p:blipFill>
          <a:blip r:embed="rId2"/>
          <a:stretch>
            <a:fillRect/>
          </a:stretch>
        </p:blipFill>
        <p:spPr>
          <a:xfrm>
            <a:off x="548640" y="1280160"/>
            <a:ext cx="2743200" cy="3108960"/>
          </a:xfrm>
          <a:prstGeom prst="rect">
            <a:avLst/>
          </a:prstGeom>
        </p:spPr>
      </p:pic>
      <p:sp>
        <p:nvSpPr>
          <p:cNvPr id="4" name="TextBox 3"/>
          <p:cNvSpPr txBox="1"/>
          <p:nvPr/>
        </p:nvSpPr>
        <p:spPr>
          <a:xfrm>
            <a:off x="548640" y="4206240"/>
            <a:ext cx="2743200" cy="2286000"/>
          </a:xfrm>
          <a:prstGeom prst="rect">
            <a:avLst/>
          </a:prstGeom>
          <a:noFill/>
        </p:spPr>
        <p:txBody>
          <a:bodyPr wrap="square">
            <a:spAutoFit/>
          </a:bodyPr>
          <a:lstStyle/>
          <a:p>
            <a:r>
              <a:rPr sz="1400" b="1">
                <a:solidFill>
                  <a:srgbClr val="0084B4"/>
                </a:solidFill>
                <a:latin typeface="Calibri"/>
              </a:rPr>
              <a:t>Description:</a:t>
            </a:r>
          </a:p>
          <a:p>
            <a:pPr lvl="1"/>
            <a:r>
              <a:rPr sz="1200" b="0">
                <a:solidFill>
                  <a:srgbClr val="222222"/>
                </a:solidFill>
                <a:latin typeface="Calibri"/>
              </a:rPr>
              <a:t>Now employees can hit the road with a travel pro. The HP EliteBook 850 industry leading Ultrabook™ 21 is ultra-productive in and out of the office. Work with confidence thanks to proven enterprise technologies and enterprise security, performance and management features.</a:t>
            </a:r>
          </a:p>
        </p:txBody>
      </p:sp>
      <p:graphicFrame>
        <p:nvGraphicFramePr>
          <p:cNvPr id="5" name="Table 4"/>
          <p:cNvGraphicFramePr>
            <a:graphicFrameLocks noGrp="1"/>
          </p:cNvGraphicFramePr>
          <p:nvPr/>
        </p:nvGraphicFramePr>
        <p:xfrm>
          <a:off x="3657600" y="1188720"/>
          <a:ext cx="4937760" cy="5029200"/>
        </p:xfrm>
        <a:graphic>
          <a:graphicData uri="http://schemas.openxmlformats.org/drawingml/2006/table">
            <a:tbl>
              <a:tblPr firstRow="1" bandRow="1">
                <a:tableStyleId>{5C22544A-7EE6-4342-B048-85BDC9FD1C3A}</a:tableStyleId>
              </a:tblPr>
              <a:tblGrid>
                <a:gridCol w="2468880"/>
                <a:gridCol w="2468880"/>
              </a:tblGrid>
              <a:tr h="718457">
                <a:tc>
                  <a:txBody>
                    <a:bodyPr/>
                    <a:lstStyle/>
                    <a:p>
                      <a:r>
                        <a:rPr sz="1200" b="1">
                          <a:solidFill>
                            <a:srgbClr val="222222"/>
                          </a:solidFill>
                          <a:latin typeface="Calibri"/>
                        </a:rPr>
                        <a:t>Specification</a:t>
                      </a:r>
                    </a:p>
                  </a:txBody>
                  <a:tcPr/>
                </a:tc>
                <a:tc>
                  <a:txBody>
                    <a:bodyPr/>
                    <a:lstStyle/>
                    <a:p>
                      <a:r>
                        <a:rPr sz="1200" b="1">
                          <a:solidFill>
                            <a:srgbClr val="222222"/>
                          </a:solidFill>
                          <a:latin typeface="Calibri"/>
                        </a:rPr>
                        <a:t>Details</a:t>
                      </a:r>
                    </a:p>
                  </a:txBody>
                  <a:tcPr/>
                </a:tc>
              </a:tr>
              <a:tr h="718457">
                <a:tc>
                  <a:txBody>
                    <a:bodyPr/>
                    <a:lstStyle/>
                    <a:p>
                      <a:r>
                        <a:rPr sz="1000" b="0">
                          <a:solidFill>
                            <a:srgbClr val="222222"/>
                          </a:solidFill>
                          <a:latin typeface="Calibri"/>
                        </a:rPr>
                        <a:t>Ram</a:t>
                      </a:r>
                    </a:p>
                  </a:txBody>
                  <a:tcPr/>
                </a:tc>
                <a:tc>
                  <a:txBody>
                    <a:bodyPr/>
                    <a:lstStyle/>
                    <a:p>
                      <a:r>
                        <a:rPr sz="1000" b="0">
                          <a:solidFill>
                            <a:srgbClr val="222222"/>
                          </a:solidFill>
                          <a:latin typeface="Calibri"/>
                        </a:rPr>
                        <a:t>Upgradeable to 16 GB</a:t>
                      </a:r>
                    </a:p>
                  </a:txBody>
                  <a:tcPr/>
                </a:tc>
              </a:tr>
              <a:tr h="718457">
                <a:tc>
                  <a:txBody>
                    <a:bodyPr/>
                    <a:lstStyle/>
                    <a:p>
                      <a:r>
                        <a:rPr sz="1000" b="0">
                          <a:solidFill>
                            <a:srgbClr val="222222"/>
                          </a:solidFill>
                          <a:latin typeface="Calibri"/>
                        </a:rPr>
                        <a:t>Display</a:t>
                      </a:r>
                    </a:p>
                  </a:txBody>
                  <a:tcPr/>
                </a:tc>
                <a:tc>
                  <a:txBody>
                    <a:bodyPr/>
                    <a:lstStyle/>
                    <a:p>
                      <a:r>
                        <a:rPr sz="1000" b="0">
                          <a:solidFill>
                            <a:srgbClr val="222222"/>
                          </a:solidFill>
                          <a:latin typeface="Calibri"/>
                        </a:rPr>
                        <a:t>39.6 cm (15.6")</a:t>
                      </a:r>
                    </a:p>
                  </a:txBody>
                  <a:tcPr/>
                </a:tc>
              </a:tr>
              <a:tr h="718457">
                <a:tc>
                  <a:txBody>
                    <a:bodyPr/>
                    <a:lstStyle/>
                    <a:p>
                      <a:r>
                        <a:rPr sz="1000" b="0">
                          <a:solidFill>
                            <a:srgbClr val="222222"/>
                          </a:solidFill>
                          <a:latin typeface="Calibri"/>
                        </a:rPr>
                        <a:t>Battery</a:t>
                      </a:r>
                    </a:p>
                  </a:txBody>
                  <a:tcPr/>
                </a:tc>
                <a:tc>
                  <a:txBody>
                    <a:bodyPr/>
                    <a:lstStyle/>
                    <a:p>
                      <a:r>
                        <a:rPr sz="1000" b="0">
                          <a:solidFill>
                            <a:srgbClr val="222222"/>
                          </a:solidFill>
                          <a:latin typeface="Calibri"/>
                        </a:rPr>
                        <a:t>Primary Battery: 3-cell (24 WHr) HP Long Life; 3-cell (50 WHr) HP Long Life; 6-cell (60 WHr) HP Long Life; Secondary battery life slice; 45W Smart AC adapter; 65W Smart AC adapter; 65W Smart AC adapter; Discrete: 65W Smart AC adapter</a:t>
                      </a:r>
                    </a:p>
                  </a:txBody>
                  <a:tcPr/>
                </a:tc>
              </a:tr>
              <a:tr h="718457">
                <a:tc>
                  <a:txBody>
                    <a:bodyPr/>
                    <a:lstStyle/>
                    <a:p>
                      <a:r>
                        <a:rPr sz="1000" b="0">
                          <a:solidFill>
                            <a:srgbClr val="222222"/>
                          </a:solidFill>
                          <a:latin typeface="Calibri"/>
                        </a:rPr>
                        <a:t>Weight</a:t>
                      </a:r>
                    </a:p>
                  </a:txBody>
                  <a:tcPr/>
                </a:tc>
                <a:tc>
                  <a:txBody>
                    <a:bodyPr/>
                    <a:lstStyle/>
                    <a:p>
                      <a:r>
                        <a:rPr sz="1000" b="0">
                          <a:solidFill>
                            <a:srgbClr val="222222"/>
                          </a:solidFill>
                          <a:latin typeface="Calibri"/>
                        </a:rPr>
                        <a:t>Starting at 1.88 kg</a:t>
                      </a:r>
                    </a:p>
                  </a:txBody>
                  <a:tcPr/>
                </a:tc>
              </a:tr>
              <a:tr h="718457">
                <a:tc>
                  <a:txBody>
                    <a:bodyPr/>
                    <a:lstStyle/>
                    <a:p>
                      <a:r>
                        <a:rPr sz="1000" b="0">
                          <a:solidFill>
                            <a:srgbClr val="222222"/>
                          </a:solidFill>
                          <a:latin typeface="Calibri"/>
                        </a:rPr>
                        <a:t>Ports</a:t>
                      </a:r>
                    </a:p>
                  </a:txBody>
                  <a:tcPr/>
                </a:tc>
                <a:tc>
                  <a:txBody>
                    <a:bodyPr/>
                    <a:lstStyle/>
                    <a:p>
                      <a:r>
                        <a:rPr sz="1000" b="0">
                          <a:solidFill>
                            <a:srgbClr val="222222"/>
                          </a:solidFill>
                          <a:latin typeface="Calibri"/>
                        </a:rPr>
                        <a:t>1 Media Card Reader; 3 USB 3.0; 1 USB 3.0 charging; 1 DisplayPort 1.2; 1 VGA; 1 combo stereo headphone/mic jack; 1 AC power; 1 RJ-45; 1 docking connector; 1 secondary battery connector</a:t>
                      </a:r>
                    </a:p>
                  </a:txBody>
                  <a:tcPr/>
                </a:tc>
              </a:tr>
              <a:tr h="718458">
                <a:tc>
                  <a:txBody>
                    <a:bodyPr/>
                    <a:lstStyle/>
                    <a:p>
                      <a:r>
                        <a:rPr sz="1000" b="0">
                          <a:solidFill>
                            <a:srgbClr val="222222"/>
                          </a:solidFill>
                          <a:latin typeface="Calibri"/>
                        </a:rPr>
                        <a:t>Os</a:t>
                      </a:r>
                    </a:p>
                  </a:txBody>
                  <a:tcPr/>
                </a:tc>
                <a:tc>
                  <a:txBody>
                    <a:bodyPr/>
                    <a:lstStyle/>
                    <a:p>
                      <a:r>
                        <a:rPr sz="1000" b="0">
                          <a:solidFill>
                            <a:srgbClr val="222222"/>
                          </a:solidFill>
                          <a:latin typeface="Calibri"/>
                        </a:rPr>
                        <a:t>Windows 8 Pro or other operating systems available</a:t>
                      </a:r>
                    </a:p>
                  </a:txBody>
                  <a:tcPr/>
                </a:tc>
              </a:tr>
            </a:tbl>
          </a:graphicData>
        </a:graphic>
      </p:graphicFrame>
      <p:sp>
        <p:nvSpPr>
          <p:cNvPr id="6" name="TextBox 5"/>
          <p:cNvSpPr txBox="1"/>
          <p:nvPr/>
        </p:nvSpPr>
        <p:spPr>
          <a:xfrm>
            <a:off x="548640" y="6400800"/>
            <a:ext cx="8229600" cy="365760"/>
          </a:xfrm>
          <a:prstGeom prst="rect">
            <a:avLst/>
          </a:prstGeom>
          <a:noFill/>
        </p:spPr>
        <p:txBody>
          <a:bodyPr wrap="none">
            <a:spAutoFit/>
          </a:bodyPr>
          <a:lstStyle/>
          <a:p>
            <a:pPr algn="l"/>
            <a:r>
              <a:rPr sz="900" b="0">
                <a:solidFill>
                  <a:srgbClr val="787878"/>
                </a:solidFill>
                <a:latin typeface="Calibri"/>
              </a:rPr>
              <a:t>HP EliteBook 850 G1 — Product Details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229600" cy="640080"/>
          </a:xfrm>
          <a:prstGeom prst="rect">
            <a:avLst/>
          </a:prstGeom>
          <a:noFill/>
        </p:spPr>
        <p:txBody>
          <a:bodyPr wrap="none">
            <a:spAutoFit/>
          </a:bodyPr>
          <a:lstStyle/>
          <a:p>
            <a:r>
              <a:rPr sz="2200" b="1">
                <a:solidFill>
                  <a:srgbClr val="004279"/>
                </a:solidFill>
                <a:latin typeface="Calibri"/>
              </a:rPr>
              <a:t>HP EliteBook 840 G1</a:t>
            </a:r>
          </a:p>
        </p:txBody>
      </p:sp>
      <p:pic>
        <p:nvPicPr>
          <p:cNvPr id="3" name="Picture 2" descr="page_5_img_15.png"/>
          <p:cNvPicPr>
            <a:picLocks noChangeAspect="1"/>
          </p:cNvPicPr>
          <p:nvPr/>
        </p:nvPicPr>
        <p:blipFill>
          <a:blip r:embed="rId2"/>
          <a:stretch>
            <a:fillRect/>
          </a:stretch>
        </p:blipFill>
        <p:spPr>
          <a:xfrm>
            <a:off x="548640" y="1280160"/>
            <a:ext cx="2743200" cy="3108960"/>
          </a:xfrm>
          <a:prstGeom prst="rect">
            <a:avLst/>
          </a:prstGeom>
        </p:spPr>
      </p:pic>
      <p:sp>
        <p:nvSpPr>
          <p:cNvPr id="4" name="TextBox 3"/>
          <p:cNvSpPr txBox="1"/>
          <p:nvPr/>
        </p:nvSpPr>
        <p:spPr>
          <a:xfrm>
            <a:off x="548640" y="4206240"/>
            <a:ext cx="2743200" cy="2286000"/>
          </a:xfrm>
          <a:prstGeom prst="rect">
            <a:avLst/>
          </a:prstGeom>
          <a:noFill/>
        </p:spPr>
        <p:txBody>
          <a:bodyPr wrap="square">
            <a:spAutoFit/>
          </a:bodyPr>
          <a:lstStyle/>
          <a:p>
            <a:r>
              <a:rPr sz="1400" b="1">
                <a:solidFill>
                  <a:srgbClr val="0084B4"/>
                </a:solidFill>
                <a:latin typeface="Calibri"/>
              </a:rPr>
              <a:t>Description:</a:t>
            </a:r>
          </a:p>
          <a:p>
            <a:pPr lvl="1"/>
            <a:r>
              <a:rPr sz="1200" b="0">
                <a:solidFill>
                  <a:srgbClr val="222222"/>
                </a:solidFill>
                <a:latin typeface="Calibri"/>
              </a:rPr>
              <a:t>Now employees can hit the road with a travel pro. The HP EliteBook 840 industry leading Ultrabook™ 21 is ultra-productive in and out of the office. Work with confidence thanks to proven enterprise technologies and enterprise security, performance and management features.</a:t>
            </a:r>
          </a:p>
        </p:txBody>
      </p:sp>
      <p:graphicFrame>
        <p:nvGraphicFramePr>
          <p:cNvPr id="5" name="Table 4"/>
          <p:cNvGraphicFramePr>
            <a:graphicFrameLocks noGrp="1"/>
          </p:cNvGraphicFramePr>
          <p:nvPr/>
        </p:nvGraphicFramePr>
        <p:xfrm>
          <a:off x="3657600" y="1188720"/>
          <a:ext cx="4937760" cy="5029200"/>
        </p:xfrm>
        <a:graphic>
          <a:graphicData uri="http://schemas.openxmlformats.org/drawingml/2006/table">
            <a:tbl>
              <a:tblPr firstRow="1" bandRow="1">
                <a:tableStyleId>{5C22544A-7EE6-4342-B048-85BDC9FD1C3A}</a:tableStyleId>
              </a:tblPr>
              <a:tblGrid>
                <a:gridCol w="2468880"/>
                <a:gridCol w="2468880"/>
              </a:tblGrid>
              <a:tr h="718457">
                <a:tc>
                  <a:txBody>
                    <a:bodyPr/>
                    <a:lstStyle/>
                    <a:p>
                      <a:r>
                        <a:rPr sz="1200" b="1">
                          <a:solidFill>
                            <a:srgbClr val="222222"/>
                          </a:solidFill>
                          <a:latin typeface="Calibri"/>
                        </a:rPr>
                        <a:t>Specification</a:t>
                      </a:r>
                    </a:p>
                  </a:txBody>
                  <a:tcPr/>
                </a:tc>
                <a:tc>
                  <a:txBody>
                    <a:bodyPr/>
                    <a:lstStyle/>
                    <a:p>
                      <a:r>
                        <a:rPr sz="1200" b="1">
                          <a:solidFill>
                            <a:srgbClr val="222222"/>
                          </a:solidFill>
                          <a:latin typeface="Calibri"/>
                        </a:rPr>
                        <a:t>Details</a:t>
                      </a:r>
                    </a:p>
                  </a:txBody>
                  <a:tcPr/>
                </a:tc>
              </a:tr>
              <a:tr h="718457">
                <a:tc>
                  <a:txBody>
                    <a:bodyPr/>
                    <a:lstStyle/>
                    <a:p>
                      <a:r>
                        <a:rPr sz="1000" b="0">
                          <a:solidFill>
                            <a:srgbClr val="222222"/>
                          </a:solidFill>
                          <a:latin typeface="Calibri"/>
                        </a:rPr>
                        <a:t>Ram</a:t>
                      </a:r>
                    </a:p>
                  </a:txBody>
                  <a:tcPr/>
                </a:tc>
                <a:tc>
                  <a:txBody>
                    <a:bodyPr/>
                    <a:lstStyle/>
                    <a:p>
                      <a:r>
                        <a:rPr sz="1000" b="0">
                          <a:solidFill>
                            <a:srgbClr val="222222"/>
                          </a:solidFill>
                          <a:latin typeface="Calibri"/>
                        </a:rPr>
                        <a:t>Upgradeable to 16 GB</a:t>
                      </a:r>
                    </a:p>
                  </a:txBody>
                  <a:tcPr/>
                </a:tc>
              </a:tr>
              <a:tr h="718457">
                <a:tc>
                  <a:txBody>
                    <a:bodyPr/>
                    <a:lstStyle/>
                    <a:p>
                      <a:r>
                        <a:rPr sz="1000" b="0">
                          <a:solidFill>
                            <a:srgbClr val="222222"/>
                          </a:solidFill>
                          <a:latin typeface="Calibri"/>
                        </a:rPr>
                        <a:t>Display</a:t>
                      </a:r>
                    </a:p>
                  </a:txBody>
                  <a:tcPr/>
                </a:tc>
                <a:tc>
                  <a:txBody>
                    <a:bodyPr/>
                    <a:lstStyle/>
                    <a:p>
                      <a:r>
                        <a:rPr sz="1000" b="0">
                          <a:solidFill>
                            <a:srgbClr val="222222"/>
                          </a:solidFill>
                          <a:latin typeface="Calibri"/>
                        </a:rPr>
                        <a:t>35.6 cm (14")</a:t>
                      </a:r>
                    </a:p>
                  </a:txBody>
                  <a:tcPr/>
                </a:tc>
              </a:tr>
              <a:tr h="718457">
                <a:tc>
                  <a:txBody>
                    <a:bodyPr/>
                    <a:lstStyle/>
                    <a:p>
                      <a:r>
                        <a:rPr sz="1000" b="0">
                          <a:solidFill>
                            <a:srgbClr val="222222"/>
                          </a:solidFill>
                          <a:latin typeface="Calibri"/>
                        </a:rPr>
                        <a:t>Battery</a:t>
                      </a:r>
                    </a:p>
                  </a:txBody>
                  <a:tcPr/>
                </a:tc>
                <a:tc>
                  <a:txBody>
                    <a:bodyPr/>
                    <a:lstStyle/>
                    <a:p>
                      <a:r>
                        <a:rPr sz="1000" b="0">
                          <a:solidFill>
                            <a:srgbClr val="222222"/>
                          </a:solidFill>
                          <a:latin typeface="Calibri"/>
                        </a:rPr>
                        <a:t>Primary Battery: 3-cell (24 WHr) HP Long Life; 3-cell (50 WHr) HP Long Life; 6-cell (60 WHr) HP Long Life; Secondary battery life slice; 45W Smart AC adapter; 65W Smart AC adapter; 65W Smart AC adapter; Discrete: 65W Smart AC adapter</a:t>
                      </a:r>
                    </a:p>
                  </a:txBody>
                  <a:tcPr/>
                </a:tc>
              </a:tr>
              <a:tr h="718457">
                <a:tc>
                  <a:txBody>
                    <a:bodyPr/>
                    <a:lstStyle/>
                    <a:p>
                      <a:r>
                        <a:rPr sz="1000" b="0">
                          <a:solidFill>
                            <a:srgbClr val="222222"/>
                          </a:solidFill>
                          <a:latin typeface="Calibri"/>
                        </a:rPr>
                        <a:t>Weight</a:t>
                      </a:r>
                    </a:p>
                  </a:txBody>
                  <a:tcPr/>
                </a:tc>
                <a:tc>
                  <a:txBody>
                    <a:bodyPr/>
                    <a:lstStyle/>
                    <a:p>
                      <a:r>
                        <a:rPr sz="1000" b="0">
                          <a:solidFill>
                            <a:srgbClr val="222222"/>
                          </a:solidFill>
                          <a:latin typeface="Calibri"/>
                        </a:rPr>
                        <a:t>Starting at 1.58 kg</a:t>
                      </a:r>
                    </a:p>
                  </a:txBody>
                  <a:tcPr/>
                </a:tc>
              </a:tr>
              <a:tr h="718457">
                <a:tc>
                  <a:txBody>
                    <a:bodyPr/>
                    <a:lstStyle/>
                    <a:p>
                      <a:r>
                        <a:rPr sz="1000" b="0">
                          <a:solidFill>
                            <a:srgbClr val="222222"/>
                          </a:solidFill>
                          <a:latin typeface="Calibri"/>
                        </a:rPr>
                        <a:t>Ports</a:t>
                      </a:r>
                    </a:p>
                  </a:txBody>
                  <a:tcPr/>
                </a:tc>
                <a:tc>
                  <a:txBody>
                    <a:bodyPr/>
                    <a:lstStyle/>
                    <a:p>
                      <a:r>
                        <a:rPr sz="1000" b="0">
                          <a:solidFill>
                            <a:srgbClr val="222222"/>
                          </a:solidFill>
                          <a:latin typeface="Calibri"/>
                        </a:rPr>
                        <a:t>1 Media Card Reader; 3 USB 3.0; 1 USB 3.0 charging; 1 DisplayPort 1.2; 1 VGA; 1 combo stereo headphone/mic jack; 1 AC power; 1 RJ-45; 1 side docking connector</a:t>
                      </a:r>
                    </a:p>
                  </a:txBody>
                  <a:tcPr/>
                </a:tc>
              </a:tr>
              <a:tr h="718458">
                <a:tc>
                  <a:txBody>
                    <a:bodyPr/>
                    <a:lstStyle/>
                    <a:p>
                      <a:r>
                        <a:rPr sz="1000" b="0">
                          <a:solidFill>
                            <a:srgbClr val="222222"/>
                          </a:solidFill>
                          <a:latin typeface="Calibri"/>
                        </a:rPr>
                        <a:t>Os</a:t>
                      </a:r>
                    </a:p>
                  </a:txBody>
                  <a:tcPr/>
                </a:tc>
                <a:tc>
                  <a:txBody>
                    <a:bodyPr/>
                    <a:lstStyle/>
                    <a:p>
                      <a:r>
                        <a:rPr sz="1000" b="0">
                          <a:solidFill>
                            <a:srgbClr val="222222"/>
                          </a:solidFill>
                          <a:latin typeface="Calibri"/>
                        </a:rPr>
                        <a:t>Windows 8 Pro or other operating systems available</a:t>
                      </a:r>
                    </a:p>
                  </a:txBody>
                  <a:tcPr/>
                </a:tc>
              </a:tr>
            </a:tbl>
          </a:graphicData>
        </a:graphic>
      </p:graphicFrame>
      <p:sp>
        <p:nvSpPr>
          <p:cNvPr id="6" name="TextBox 5"/>
          <p:cNvSpPr txBox="1"/>
          <p:nvPr/>
        </p:nvSpPr>
        <p:spPr>
          <a:xfrm>
            <a:off x="548640" y="6400800"/>
            <a:ext cx="8229600" cy="365760"/>
          </a:xfrm>
          <a:prstGeom prst="rect">
            <a:avLst/>
          </a:prstGeom>
          <a:noFill/>
        </p:spPr>
        <p:txBody>
          <a:bodyPr wrap="none">
            <a:spAutoFit/>
          </a:bodyPr>
          <a:lstStyle/>
          <a:p>
            <a:pPr algn="l"/>
            <a:r>
              <a:rPr sz="900" b="0">
                <a:solidFill>
                  <a:srgbClr val="787878"/>
                </a:solidFill>
                <a:latin typeface="Calibri"/>
              </a:rPr>
              <a:t>HP EliteBook 840 G1 — Product Details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229600" cy="640080"/>
          </a:xfrm>
          <a:prstGeom prst="rect">
            <a:avLst/>
          </a:prstGeom>
          <a:noFill/>
        </p:spPr>
        <p:txBody>
          <a:bodyPr wrap="none">
            <a:spAutoFit/>
          </a:bodyPr>
          <a:lstStyle/>
          <a:p>
            <a:r>
              <a:rPr sz="2200" b="1">
                <a:solidFill>
                  <a:srgbClr val="004279"/>
                </a:solidFill>
                <a:latin typeface="Calibri"/>
              </a:rPr>
              <a:t>HP ProBook 645 G1</a:t>
            </a:r>
          </a:p>
        </p:txBody>
      </p:sp>
      <p:pic>
        <p:nvPicPr>
          <p:cNvPr id="3" name="Picture 2" descr="page_5_img_13.png"/>
          <p:cNvPicPr>
            <a:picLocks noChangeAspect="1"/>
          </p:cNvPicPr>
          <p:nvPr/>
        </p:nvPicPr>
        <p:blipFill>
          <a:blip r:embed="rId2"/>
          <a:stretch>
            <a:fillRect/>
          </a:stretch>
        </p:blipFill>
        <p:spPr>
          <a:xfrm>
            <a:off x="548640" y="1280160"/>
            <a:ext cx="2743200" cy="3108960"/>
          </a:xfrm>
          <a:prstGeom prst="rect">
            <a:avLst/>
          </a:prstGeom>
        </p:spPr>
      </p:pic>
      <p:sp>
        <p:nvSpPr>
          <p:cNvPr id="4" name="TextBox 3"/>
          <p:cNvSpPr txBox="1"/>
          <p:nvPr/>
        </p:nvSpPr>
        <p:spPr>
          <a:xfrm>
            <a:off x="548640" y="4206240"/>
            <a:ext cx="2743200" cy="2286000"/>
          </a:xfrm>
          <a:prstGeom prst="rect">
            <a:avLst/>
          </a:prstGeom>
          <a:noFill/>
        </p:spPr>
        <p:txBody>
          <a:bodyPr wrap="square">
            <a:spAutoFit/>
          </a:bodyPr>
          <a:lstStyle/>
          <a:p>
            <a:r>
              <a:rPr sz="1400" b="1">
                <a:solidFill>
                  <a:srgbClr val="0084B4"/>
                </a:solidFill>
                <a:latin typeface="Calibri"/>
              </a:rPr>
              <a:t>Description:</a:t>
            </a:r>
          </a:p>
          <a:p>
            <a:pPr lvl="1"/>
            <a:r>
              <a:rPr sz="1200" b="0">
                <a:solidFill>
                  <a:srgbClr val="222222"/>
                </a:solidFill>
                <a:latin typeface="Calibri"/>
              </a:rPr>
              <a:t>Challenge the Status Quo. Optimised for Windows 8 Pro. 2 this configurable laptop touts a 35.6 cm diagonal display, UMA graphics and AMD's latest technology. The professional design and HP 3D DriveGuard help protect your data from mobile use.</a:t>
            </a:r>
          </a:p>
        </p:txBody>
      </p:sp>
      <p:graphicFrame>
        <p:nvGraphicFramePr>
          <p:cNvPr id="5" name="Table 4"/>
          <p:cNvGraphicFramePr>
            <a:graphicFrameLocks noGrp="1"/>
          </p:cNvGraphicFramePr>
          <p:nvPr/>
        </p:nvGraphicFramePr>
        <p:xfrm>
          <a:off x="3657600" y="1188720"/>
          <a:ext cx="4937760" cy="5029200"/>
        </p:xfrm>
        <a:graphic>
          <a:graphicData uri="http://schemas.openxmlformats.org/drawingml/2006/table">
            <a:tbl>
              <a:tblPr firstRow="1" bandRow="1">
                <a:tableStyleId>{5C22544A-7EE6-4342-B048-85BDC9FD1C3A}</a:tableStyleId>
              </a:tblPr>
              <a:tblGrid>
                <a:gridCol w="2468880"/>
                <a:gridCol w="2468880"/>
              </a:tblGrid>
              <a:tr h="558800">
                <a:tc>
                  <a:txBody>
                    <a:bodyPr/>
                    <a:lstStyle/>
                    <a:p>
                      <a:r>
                        <a:rPr sz="1200" b="1">
                          <a:solidFill>
                            <a:srgbClr val="222222"/>
                          </a:solidFill>
                          <a:latin typeface="Calibri"/>
                        </a:rPr>
                        <a:t>Specification</a:t>
                      </a:r>
                    </a:p>
                  </a:txBody>
                  <a:tcPr/>
                </a:tc>
                <a:tc>
                  <a:txBody>
                    <a:bodyPr/>
                    <a:lstStyle/>
                    <a:p>
                      <a:r>
                        <a:rPr sz="1200" b="1">
                          <a:solidFill>
                            <a:srgbClr val="222222"/>
                          </a:solidFill>
                          <a:latin typeface="Calibri"/>
                        </a:rPr>
                        <a:t>Details</a:t>
                      </a:r>
                    </a:p>
                  </a:txBody>
                  <a:tcPr/>
                </a:tc>
              </a:tr>
              <a:tr h="558800">
                <a:tc>
                  <a:txBody>
                    <a:bodyPr/>
                    <a:lstStyle/>
                    <a:p>
                      <a:r>
                        <a:rPr sz="1000" b="0">
                          <a:solidFill>
                            <a:srgbClr val="222222"/>
                          </a:solidFill>
                          <a:latin typeface="Calibri"/>
                        </a:rPr>
                        <a:t>Ram</a:t>
                      </a:r>
                    </a:p>
                  </a:txBody>
                  <a:tcPr/>
                </a:tc>
                <a:tc>
                  <a:txBody>
                    <a:bodyPr/>
                    <a:lstStyle/>
                    <a:p>
                      <a:r>
                        <a:rPr sz="1000" b="0">
                          <a:solidFill>
                            <a:srgbClr val="222222"/>
                          </a:solidFill>
                          <a:latin typeface="Calibri"/>
                        </a:rPr>
                        <a:t>Upgradeable to 16 GB</a:t>
                      </a:r>
                    </a:p>
                  </a:txBody>
                  <a:tcPr/>
                </a:tc>
              </a:tr>
              <a:tr h="558800">
                <a:tc>
                  <a:txBody>
                    <a:bodyPr/>
                    <a:lstStyle/>
                    <a:p>
                      <a:r>
                        <a:rPr sz="1000" b="0">
                          <a:solidFill>
                            <a:srgbClr val="222222"/>
                          </a:solidFill>
                          <a:latin typeface="Calibri"/>
                        </a:rPr>
                        <a:t>Cpu</a:t>
                      </a:r>
                    </a:p>
                  </a:txBody>
                  <a:tcPr/>
                </a:tc>
                <a:tc>
                  <a:txBody>
                    <a:bodyPr/>
                    <a:lstStyle/>
                    <a:p>
                      <a:r>
                        <a:rPr sz="1000" b="0">
                          <a:solidFill>
                            <a:srgbClr val="222222"/>
                          </a:solidFill>
                          <a:latin typeface="Calibri"/>
                        </a:rPr>
                        <a:t>AMD's latest technology</a:t>
                      </a:r>
                    </a:p>
                  </a:txBody>
                  <a:tcPr/>
                </a:tc>
              </a:tr>
              <a:tr h="558800">
                <a:tc>
                  <a:txBody>
                    <a:bodyPr/>
                    <a:lstStyle/>
                    <a:p>
                      <a:r>
                        <a:rPr sz="1000" b="0">
                          <a:solidFill>
                            <a:srgbClr val="222222"/>
                          </a:solidFill>
                          <a:latin typeface="Calibri"/>
                        </a:rPr>
                        <a:t>Gpu</a:t>
                      </a:r>
                    </a:p>
                  </a:txBody>
                  <a:tcPr/>
                </a:tc>
                <a:tc>
                  <a:txBody>
                    <a:bodyPr/>
                    <a:lstStyle/>
                    <a:p>
                      <a:r>
                        <a:rPr sz="1000" b="0">
                          <a:solidFill>
                            <a:srgbClr val="222222"/>
                          </a:solidFill>
                          <a:latin typeface="Calibri"/>
                        </a:rPr>
                        <a:t>UMA graphics</a:t>
                      </a:r>
                    </a:p>
                  </a:txBody>
                  <a:tcPr/>
                </a:tc>
              </a:tr>
              <a:tr h="558800">
                <a:tc>
                  <a:txBody>
                    <a:bodyPr/>
                    <a:lstStyle/>
                    <a:p>
                      <a:r>
                        <a:rPr sz="1000" b="0">
                          <a:solidFill>
                            <a:srgbClr val="222222"/>
                          </a:solidFill>
                          <a:latin typeface="Calibri"/>
                        </a:rPr>
                        <a:t>Display</a:t>
                      </a:r>
                    </a:p>
                  </a:txBody>
                  <a:tcPr/>
                </a:tc>
                <a:tc>
                  <a:txBody>
                    <a:bodyPr/>
                    <a:lstStyle/>
                    <a:p>
                      <a:r>
                        <a:rPr sz="1000" b="0">
                          <a:solidFill>
                            <a:srgbClr val="222222"/>
                          </a:solidFill>
                          <a:latin typeface="Calibri"/>
                        </a:rPr>
                        <a:t>35.6 cm diagonal</a:t>
                      </a:r>
                    </a:p>
                  </a:txBody>
                  <a:tcPr/>
                </a:tc>
              </a:tr>
              <a:tr h="558800">
                <a:tc>
                  <a:txBody>
                    <a:bodyPr/>
                    <a:lstStyle/>
                    <a:p>
                      <a:r>
                        <a:rPr sz="1000" b="0">
                          <a:solidFill>
                            <a:srgbClr val="222222"/>
                          </a:solidFill>
                          <a:latin typeface="Calibri"/>
                        </a:rPr>
                        <a:t>Battery</a:t>
                      </a:r>
                    </a:p>
                  </a:txBody>
                  <a:tcPr/>
                </a:tc>
                <a:tc>
                  <a:txBody>
                    <a:bodyPr/>
                    <a:lstStyle/>
                    <a:p>
                      <a:r>
                        <a:rPr sz="1000" b="0">
                          <a:solidFill>
                            <a:srgbClr val="222222"/>
                          </a:solidFill>
                          <a:latin typeface="Calibri"/>
                        </a:rPr>
                        <a:t>90W Smart AC Adapter (discrete); 65W Smart AC Adapter (integrated); HP Fast Charge (not supported on 9-cell primary or secondary batteries)</a:t>
                      </a:r>
                    </a:p>
                  </a:txBody>
                  <a:tcPr/>
                </a:tc>
              </a:tr>
              <a:tr h="558800">
                <a:tc>
                  <a:txBody>
                    <a:bodyPr/>
                    <a:lstStyle/>
                    <a:p>
                      <a:r>
                        <a:rPr sz="1000" b="0">
                          <a:solidFill>
                            <a:srgbClr val="222222"/>
                          </a:solidFill>
                          <a:latin typeface="Calibri"/>
                        </a:rPr>
                        <a:t>Weight</a:t>
                      </a:r>
                    </a:p>
                  </a:txBody>
                  <a:tcPr/>
                </a:tc>
                <a:tc>
                  <a:txBody>
                    <a:bodyPr/>
                    <a:lstStyle/>
                    <a:p>
                      <a:r>
                        <a:rPr sz="1000" b="0">
                          <a:solidFill>
                            <a:srgbClr val="222222"/>
                          </a:solidFill>
                          <a:latin typeface="Calibri"/>
                        </a:rPr>
                        <a:t>Starting at 2.0 kg</a:t>
                      </a:r>
                    </a:p>
                  </a:txBody>
                  <a:tcPr/>
                </a:tc>
              </a:tr>
              <a:tr h="558800">
                <a:tc>
                  <a:txBody>
                    <a:bodyPr/>
                    <a:lstStyle/>
                    <a:p>
                      <a:r>
                        <a:rPr sz="1000" b="0">
                          <a:solidFill>
                            <a:srgbClr val="222222"/>
                          </a:solidFill>
                          <a:latin typeface="Calibri"/>
                        </a:rPr>
                        <a:t>Ports</a:t>
                      </a:r>
                    </a:p>
                  </a:txBody>
                  <a:tcPr/>
                </a:tc>
                <a:tc>
                  <a:txBody>
                    <a:bodyPr/>
                    <a:lstStyle/>
                    <a:p>
                      <a:r>
                        <a:rPr sz="1000" b="0">
                          <a:solidFill>
                            <a:srgbClr val="222222"/>
                          </a:solidFill>
                          <a:latin typeface="Calibri"/>
                        </a:rPr>
                        <a:t>1 ExpressCard/54; 1 Secure Digital; 2 USB 3.0; 2 USB 2.0; 1 stereo microphone in; 1 stereo headphone/line-out; 1 1394a; 1 AC power; 1 RJ-45; 1 docking connector; 1 secondary battery connector; 1 VGA; 1 serial; 1 RJ-11 (optional)</a:t>
                      </a:r>
                    </a:p>
                  </a:txBody>
                  <a:tcPr/>
                </a:tc>
              </a:tr>
              <a:tr h="558800">
                <a:tc>
                  <a:txBody>
                    <a:bodyPr/>
                    <a:lstStyle/>
                    <a:p>
                      <a:r>
                        <a:rPr sz="1000" b="0">
                          <a:solidFill>
                            <a:srgbClr val="222222"/>
                          </a:solidFill>
                          <a:latin typeface="Calibri"/>
                        </a:rPr>
                        <a:t>Os</a:t>
                      </a:r>
                    </a:p>
                  </a:txBody>
                  <a:tcPr/>
                </a:tc>
                <a:tc>
                  <a:txBody>
                    <a:bodyPr/>
                    <a:lstStyle/>
                    <a:p>
                      <a:r>
                        <a:rPr sz="1000" b="0">
                          <a:solidFill>
                            <a:srgbClr val="222222"/>
                          </a:solidFill>
                          <a:latin typeface="Calibri"/>
                        </a:rPr>
                        <a:t>Windows 8 Pro</a:t>
                      </a:r>
                    </a:p>
                  </a:txBody>
                  <a:tcPr/>
                </a:tc>
              </a:tr>
            </a:tbl>
          </a:graphicData>
        </a:graphic>
      </p:graphicFrame>
      <p:sp>
        <p:nvSpPr>
          <p:cNvPr id="6" name="TextBox 5"/>
          <p:cNvSpPr txBox="1"/>
          <p:nvPr/>
        </p:nvSpPr>
        <p:spPr>
          <a:xfrm>
            <a:off x="548640" y="6400800"/>
            <a:ext cx="8229600" cy="365760"/>
          </a:xfrm>
          <a:prstGeom prst="rect">
            <a:avLst/>
          </a:prstGeom>
          <a:noFill/>
        </p:spPr>
        <p:txBody>
          <a:bodyPr wrap="none">
            <a:spAutoFit/>
          </a:bodyPr>
          <a:lstStyle/>
          <a:p>
            <a:pPr algn="l"/>
            <a:r>
              <a:rPr sz="900" b="0">
                <a:solidFill>
                  <a:srgbClr val="787878"/>
                </a:solidFill>
                <a:latin typeface="Calibri"/>
              </a:rPr>
              <a:t>HP ProBook 645 G1 — Product Details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457200"/>
            <a:ext cx="8229600" cy="640080"/>
          </a:xfrm>
          <a:prstGeom prst="rect">
            <a:avLst/>
          </a:prstGeom>
          <a:noFill/>
        </p:spPr>
        <p:txBody>
          <a:bodyPr wrap="none">
            <a:spAutoFit/>
          </a:bodyPr>
          <a:lstStyle/>
          <a:p>
            <a:r>
              <a:rPr sz="2200" b="1">
                <a:solidFill>
                  <a:srgbClr val="004279"/>
                </a:solidFill>
                <a:latin typeface="Calibri"/>
              </a:rPr>
              <a:t>Product Comparison</a:t>
            </a:r>
          </a:p>
        </p:txBody>
      </p:sp>
      <p:graphicFrame>
        <p:nvGraphicFramePr>
          <p:cNvPr id="3" name="Table 2"/>
          <p:cNvGraphicFramePr>
            <a:graphicFrameLocks noGrp="1"/>
          </p:cNvGraphicFramePr>
          <p:nvPr/>
        </p:nvGraphicFramePr>
        <p:xfrm>
          <a:off x="274320" y="1188720"/>
          <a:ext cx="8595360" cy="4937760"/>
        </p:xfrm>
        <a:graphic>
          <a:graphicData uri="http://schemas.openxmlformats.org/drawingml/2006/table">
            <a:tbl>
              <a:tblPr firstRow="1" bandRow="1">
                <a:tableStyleId>{5C22544A-7EE6-4342-B048-85BDC9FD1C3A}</a:tableStyleId>
              </a:tblPr>
              <a:tblGrid>
                <a:gridCol w="1432560"/>
                <a:gridCol w="1432560"/>
                <a:gridCol w="1432560"/>
                <a:gridCol w="1432560"/>
                <a:gridCol w="1432560"/>
                <a:gridCol w="1432560"/>
              </a:tblGrid>
              <a:tr h="548640">
                <a:tc>
                  <a:txBody>
                    <a:bodyPr/>
                    <a:lstStyle/>
                    <a:p>
                      <a:r>
                        <a:rPr sz="1100" b="1">
                          <a:solidFill>
                            <a:srgbClr val="222222"/>
                          </a:solidFill>
                          <a:latin typeface="Calibri"/>
                        </a:rPr>
                        <a:t>Feature</a:t>
                      </a:r>
                    </a:p>
                  </a:txBody>
                  <a:tcPr/>
                </a:tc>
                <a:tc>
                  <a:txBody>
                    <a:bodyPr/>
                    <a:lstStyle/>
                    <a:p>
                      <a:r>
                        <a:rPr sz="1100" b="1">
                          <a:solidFill>
                            <a:srgbClr val="222222"/>
                          </a:solidFill>
                          <a:latin typeface="Calibri"/>
                        </a:rPr>
                        <a:t>HP ProBook 640 G1</a:t>
                      </a:r>
                    </a:p>
                  </a:txBody>
                  <a:tcPr/>
                </a:tc>
                <a:tc>
                  <a:txBody>
                    <a:bodyPr/>
                    <a:lstStyle/>
                    <a:p>
                      <a:r>
                        <a:rPr sz="1100" b="1">
                          <a:solidFill>
                            <a:srgbClr val="222222"/>
                          </a:solidFill>
                          <a:latin typeface="Calibri"/>
                        </a:rPr>
                        <a:t>HP ProBook 650 G1</a:t>
                      </a:r>
                    </a:p>
                  </a:txBody>
                  <a:tcPr/>
                </a:tc>
                <a:tc>
                  <a:txBody>
                    <a:bodyPr/>
                    <a:lstStyle/>
                    <a:p>
                      <a:r>
                        <a:rPr sz="1100" b="1">
                          <a:solidFill>
                            <a:srgbClr val="222222"/>
                          </a:solidFill>
                          <a:latin typeface="Calibri"/>
                        </a:rPr>
                        <a:t>HP EliteBook 850 G1</a:t>
                      </a:r>
                    </a:p>
                  </a:txBody>
                  <a:tcPr/>
                </a:tc>
                <a:tc>
                  <a:txBody>
                    <a:bodyPr/>
                    <a:lstStyle/>
                    <a:p>
                      <a:r>
                        <a:rPr sz="1100" b="1">
                          <a:solidFill>
                            <a:srgbClr val="222222"/>
                          </a:solidFill>
                          <a:latin typeface="Calibri"/>
                        </a:rPr>
                        <a:t>HP EliteBook 840 G1</a:t>
                      </a:r>
                    </a:p>
                  </a:txBody>
                  <a:tcPr/>
                </a:tc>
                <a:tc>
                  <a:txBody>
                    <a:bodyPr/>
                    <a:lstStyle/>
                    <a:p>
                      <a:r>
                        <a:rPr sz="1100" b="1">
                          <a:solidFill>
                            <a:srgbClr val="222222"/>
                          </a:solidFill>
                          <a:latin typeface="Calibri"/>
                        </a:rPr>
                        <a:t>HP ProBook 645 G1</a:t>
                      </a:r>
                    </a:p>
                  </a:txBody>
                  <a:tcPr/>
                </a:tc>
              </a:tr>
              <a:tr h="548640">
                <a:tc>
                  <a:txBody>
                    <a:bodyPr/>
                    <a:lstStyle/>
                    <a:p>
                      <a:r>
                        <a:rPr sz="1000" b="1">
                          <a:solidFill>
                            <a:srgbClr val="222222"/>
                          </a:solidFill>
                          <a:latin typeface="Calibri"/>
                        </a:rPr>
                        <a:t>Battery</a:t>
                      </a:r>
                    </a:p>
                  </a:txBody>
                  <a:tcPr/>
                </a:tc>
                <a:tc>
                  <a:txBody>
                    <a:bodyPr/>
                    <a:lstStyle/>
                    <a:p>
                      <a:r>
                        <a:rPr sz="900" b="0">
                          <a:solidFill>
                            <a:srgbClr val="222222"/>
                          </a:solidFill>
                          <a:latin typeface="Calibri"/>
                        </a:rPr>
                        <a:t>90W Smart AC Adapter (discrete); 65W Smart AC Adapter (integrated); HP Fast Charge (not supported on 9-cell primary or secondary batteries)</a:t>
                      </a:r>
                    </a:p>
                  </a:txBody>
                  <a:tcPr/>
                </a:tc>
                <a:tc>
                  <a:txBody>
                    <a:bodyPr/>
                    <a:lstStyle/>
                    <a:p>
                      <a:r>
                        <a:rPr sz="900" b="0">
                          <a:solidFill>
                            <a:srgbClr val="222222"/>
                          </a:solidFill>
                          <a:latin typeface="Calibri"/>
                        </a:rPr>
                        <a:t>90W Smart AC Adapter (discrete); 65W Smart AC Adapter (integrated); HP Fast Charge (not supported on 9-cell primary or secondary batteries)</a:t>
                      </a:r>
                    </a:p>
                  </a:txBody>
                  <a:tcPr/>
                </a:tc>
                <a:tc>
                  <a:txBody>
                    <a:bodyPr/>
                    <a:lstStyle/>
                    <a:p>
                      <a:r>
                        <a:rPr sz="900" b="0">
                          <a:solidFill>
                            <a:srgbClr val="222222"/>
                          </a:solidFill>
                          <a:latin typeface="Calibri"/>
                        </a:rPr>
                        <a:t>Primary Battery: 3-cell (24 WHr) HP Long Life; 3-cell (50 WHr) HP Long Life; 6-cell (60 WHr) HP Long Life; Secondary battery life slice; 45W Smart AC adapter; 65W Smart AC adapter; 65W Smart AC adapter; Discrete: 65W Smart AC adapter</a:t>
                      </a:r>
                    </a:p>
                  </a:txBody>
                  <a:tcPr/>
                </a:tc>
                <a:tc>
                  <a:txBody>
                    <a:bodyPr/>
                    <a:lstStyle/>
                    <a:p>
                      <a:r>
                        <a:rPr sz="900" b="0">
                          <a:solidFill>
                            <a:srgbClr val="222222"/>
                          </a:solidFill>
                          <a:latin typeface="Calibri"/>
                        </a:rPr>
                        <a:t>Primary Battery: 3-cell (24 WHr) HP Long Life; 3-cell (50 WHr) HP Long Life; 6-cell (60 WHr) HP Long Life; Secondary battery life slice; 45W Smart AC adapter; 65W Smart AC adapter; 65W Smart AC adapter; Discrete: 65W Smart AC adapter</a:t>
                      </a:r>
                    </a:p>
                  </a:txBody>
                  <a:tcPr/>
                </a:tc>
                <a:tc>
                  <a:txBody>
                    <a:bodyPr/>
                    <a:lstStyle/>
                    <a:p>
                      <a:r>
                        <a:rPr sz="900" b="0">
                          <a:solidFill>
                            <a:srgbClr val="222222"/>
                          </a:solidFill>
                          <a:latin typeface="Calibri"/>
                        </a:rPr>
                        <a:t>90W Smart AC Adapter (discrete); 65W Smart AC Adapter (integrated); HP Fast Charge (not supported on 9-cell primary or secondary batteries)</a:t>
                      </a:r>
                    </a:p>
                  </a:txBody>
                  <a:tcPr/>
                </a:tc>
              </a:tr>
              <a:tr h="548640">
                <a:tc>
                  <a:txBody>
                    <a:bodyPr/>
                    <a:lstStyle/>
                    <a:p>
                      <a:r>
                        <a:rPr sz="1000" b="1">
                          <a:solidFill>
                            <a:srgbClr val="222222"/>
                          </a:solidFill>
                          <a:latin typeface="Calibri"/>
                        </a:rPr>
                        <a:t>Cpu</a:t>
                      </a:r>
                    </a:p>
                  </a:txBody>
                  <a:tcPr/>
                </a:tc>
                <a:tc>
                  <a:txBody>
                    <a:bodyPr/>
                    <a:lstStyle/>
                    <a:p>
                      <a:r>
                        <a:rPr sz="900" b="0">
                          <a:solidFill>
                            <a:srgbClr val="222222"/>
                          </a:solidFill>
                          <a:latin typeface="Calibri"/>
                        </a:rPr>
                        <a:t>Intel® technology</a:t>
                      </a:r>
                    </a:p>
                  </a:txBody>
                  <a:tcPr/>
                </a:tc>
                <a:tc>
                  <a:txBody>
                    <a:bodyPr/>
                    <a:lstStyle/>
                    <a:p>
                      <a:r>
                        <a:rPr sz="900" b="0">
                          <a:solidFill>
                            <a:srgbClr val="222222"/>
                          </a:solidFill>
                          <a:latin typeface="Calibri"/>
                        </a:rPr>
                        <a:t>Intel® technology</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AMD's latest technology</a:t>
                      </a:r>
                    </a:p>
                  </a:txBody>
                  <a:tcPr/>
                </a:tc>
              </a:tr>
              <a:tr h="548640">
                <a:tc>
                  <a:txBody>
                    <a:bodyPr/>
                    <a:lstStyle/>
                    <a:p>
                      <a:r>
                        <a:rPr sz="1000" b="1">
                          <a:solidFill>
                            <a:srgbClr val="222222"/>
                          </a:solidFill>
                          <a:latin typeface="Calibri"/>
                        </a:rPr>
                        <a:t>Display</a:t>
                      </a:r>
                    </a:p>
                  </a:txBody>
                  <a:tcPr/>
                </a:tc>
                <a:tc>
                  <a:txBody>
                    <a:bodyPr/>
                    <a:lstStyle/>
                    <a:p>
                      <a:r>
                        <a:rPr sz="900" b="0">
                          <a:solidFill>
                            <a:srgbClr val="222222"/>
                          </a:solidFill>
                          <a:latin typeface="Calibri"/>
                        </a:rPr>
                        <a:t>35.6 cm diagonal</a:t>
                      </a:r>
                    </a:p>
                  </a:txBody>
                  <a:tcPr/>
                </a:tc>
                <a:tc>
                  <a:txBody>
                    <a:bodyPr/>
                    <a:lstStyle/>
                    <a:p>
                      <a:r>
                        <a:rPr sz="900" b="0">
                          <a:solidFill>
                            <a:srgbClr val="222222"/>
                          </a:solidFill>
                          <a:latin typeface="Calibri"/>
                        </a:rPr>
                        <a:t>39.6 cm diagonal</a:t>
                      </a:r>
                    </a:p>
                  </a:txBody>
                  <a:tcPr/>
                </a:tc>
                <a:tc>
                  <a:txBody>
                    <a:bodyPr/>
                    <a:lstStyle/>
                    <a:p>
                      <a:r>
                        <a:rPr sz="900" b="0">
                          <a:solidFill>
                            <a:srgbClr val="222222"/>
                          </a:solidFill>
                          <a:latin typeface="Calibri"/>
                        </a:rPr>
                        <a:t>39.6 cm (15.6")</a:t>
                      </a:r>
                    </a:p>
                  </a:txBody>
                  <a:tcPr/>
                </a:tc>
                <a:tc>
                  <a:txBody>
                    <a:bodyPr/>
                    <a:lstStyle/>
                    <a:p>
                      <a:r>
                        <a:rPr sz="900" b="0">
                          <a:solidFill>
                            <a:srgbClr val="222222"/>
                          </a:solidFill>
                          <a:latin typeface="Calibri"/>
                        </a:rPr>
                        <a:t>35.6 cm (14")</a:t>
                      </a:r>
                    </a:p>
                  </a:txBody>
                  <a:tcPr/>
                </a:tc>
                <a:tc>
                  <a:txBody>
                    <a:bodyPr/>
                    <a:lstStyle/>
                    <a:p>
                      <a:r>
                        <a:rPr sz="900" b="0">
                          <a:solidFill>
                            <a:srgbClr val="222222"/>
                          </a:solidFill>
                          <a:latin typeface="Calibri"/>
                        </a:rPr>
                        <a:t>35.6 cm diagonal</a:t>
                      </a:r>
                    </a:p>
                  </a:txBody>
                  <a:tcPr/>
                </a:tc>
              </a:tr>
              <a:tr h="548640">
                <a:tc>
                  <a:txBody>
                    <a:bodyPr/>
                    <a:lstStyle/>
                    <a:p>
                      <a:r>
                        <a:rPr sz="1000" b="1">
                          <a:solidFill>
                            <a:srgbClr val="222222"/>
                          </a:solidFill>
                          <a:latin typeface="Calibri"/>
                        </a:rPr>
                        <a:t>Gpu</a:t>
                      </a:r>
                    </a:p>
                  </a:txBody>
                  <a:tcPr/>
                </a:tc>
                <a:tc>
                  <a:txBody>
                    <a:bodyPr/>
                    <a:lstStyle/>
                    <a:p>
                      <a:r>
                        <a:rPr sz="900" b="0">
                          <a:solidFill>
                            <a:srgbClr val="222222"/>
                          </a:solidFill>
                          <a:latin typeface="Calibri"/>
                        </a:rPr>
                        <a:t>UMA or discrete graphics</a:t>
                      </a:r>
                    </a:p>
                  </a:txBody>
                  <a:tcPr/>
                </a:tc>
                <a:tc>
                  <a:txBody>
                    <a:bodyPr/>
                    <a:lstStyle/>
                    <a:p>
                      <a:r>
                        <a:rPr sz="900" b="0">
                          <a:solidFill>
                            <a:srgbClr val="222222"/>
                          </a:solidFill>
                          <a:latin typeface="Calibri"/>
                        </a:rPr>
                        <a:t>UMA or discrete graphics</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UMA graphics</a:t>
                      </a:r>
                    </a:p>
                  </a:txBody>
                  <a:tcPr/>
                </a:tc>
              </a:tr>
              <a:tr h="548640">
                <a:tc>
                  <a:txBody>
                    <a:bodyPr/>
                    <a:lstStyle/>
                    <a:p>
                      <a:r>
                        <a:rPr sz="1000" b="1">
                          <a:solidFill>
                            <a:srgbClr val="222222"/>
                          </a:solidFill>
                          <a:latin typeface="Calibri"/>
                        </a:rPr>
                        <a:t>Os</a:t>
                      </a:r>
                    </a:p>
                  </a:txBody>
                  <a:tcPr/>
                </a:tc>
                <a:tc>
                  <a:txBody>
                    <a:bodyPr/>
                    <a:lstStyle/>
                    <a:p>
                      <a:r>
                        <a:rPr sz="900" b="0">
                          <a:solidFill>
                            <a:srgbClr val="222222"/>
                          </a:solidFill>
                          <a:latin typeface="Calibri"/>
                        </a:rPr>
                        <a:t>Windows 8 Pro</a:t>
                      </a:r>
                    </a:p>
                  </a:txBody>
                  <a:tcPr/>
                </a:tc>
                <a:tc>
                  <a:txBody>
                    <a:bodyPr/>
                    <a:lstStyle/>
                    <a:p>
                      <a:r>
                        <a:rPr sz="900" b="0">
                          <a:solidFill>
                            <a:srgbClr val="222222"/>
                          </a:solidFill>
                          <a:latin typeface="Calibri"/>
                        </a:rPr>
                        <a:t>Windows 8 Pro</a:t>
                      </a:r>
                    </a:p>
                  </a:txBody>
                  <a:tcPr/>
                </a:tc>
                <a:tc>
                  <a:txBody>
                    <a:bodyPr/>
                    <a:lstStyle/>
                    <a:p>
                      <a:r>
                        <a:rPr sz="900" b="0">
                          <a:solidFill>
                            <a:srgbClr val="222222"/>
                          </a:solidFill>
                          <a:latin typeface="Calibri"/>
                        </a:rPr>
                        <a:t>Windows 8 Pro or other operating systems available</a:t>
                      </a:r>
                    </a:p>
                  </a:txBody>
                  <a:tcPr/>
                </a:tc>
                <a:tc>
                  <a:txBody>
                    <a:bodyPr/>
                    <a:lstStyle/>
                    <a:p>
                      <a:r>
                        <a:rPr sz="900" b="0">
                          <a:solidFill>
                            <a:srgbClr val="222222"/>
                          </a:solidFill>
                          <a:latin typeface="Calibri"/>
                        </a:rPr>
                        <a:t>Windows 8 Pro or other operating systems available</a:t>
                      </a:r>
                    </a:p>
                  </a:txBody>
                  <a:tcPr/>
                </a:tc>
                <a:tc>
                  <a:txBody>
                    <a:bodyPr/>
                    <a:lstStyle/>
                    <a:p>
                      <a:r>
                        <a:rPr sz="900" b="0">
                          <a:solidFill>
                            <a:srgbClr val="222222"/>
                          </a:solidFill>
                          <a:latin typeface="Calibri"/>
                        </a:rPr>
                        <a:t>Windows 8 Pro</a:t>
                      </a:r>
                    </a:p>
                  </a:txBody>
                  <a:tcPr/>
                </a:tc>
              </a:tr>
              <a:tr h="548640">
                <a:tc>
                  <a:txBody>
                    <a:bodyPr/>
                    <a:lstStyle/>
                    <a:p>
                      <a:r>
                        <a:rPr sz="1000" b="1">
                          <a:solidFill>
                            <a:srgbClr val="222222"/>
                          </a:solidFill>
                          <a:latin typeface="Calibri"/>
                        </a:rPr>
                        <a:t>Ports</a:t>
                      </a:r>
                    </a:p>
                  </a:txBody>
                  <a:tcPr/>
                </a:tc>
                <a:tc>
                  <a:txBody>
                    <a:bodyPr/>
                    <a:lstStyle/>
                    <a:p>
                      <a:r>
                        <a:rPr sz="900" b="0">
                          <a:solidFill>
                            <a:srgbClr val="222222"/>
                          </a:solidFill>
                          <a:latin typeface="Calibri"/>
                        </a:rPr>
                        <a:t>1 ExpressCard/54; 1 Secure Digital; 2 USB 3.0; 2 USB 2.0; 1 stereo microphone in; 1 stereo headphone/line-out; 1 1394a; 1 AC power; 1 RJ-45; 1 docking connector; 1 secondary battery connector; 1 VGA; 1 serial; 1 RJ-11 (optional)</a:t>
                      </a:r>
                    </a:p>
                  </a:txBody>
                  <a:tcPr/>
                </a:tc>
                <a:tc>
                  <a:txBody>
                    <a:bodyPr/>
                    <a:lstStyle/>
                    <a:p>
                      <a:r>
                        <a:rPr sz="900" b="0">
                          <a:solidFill>
                            <a:srgbClr val="222222"/>
                          </a:solidFill>
                          <a:latin typeface="Calibri"/>
                        </a:rPr>
                        <a:t>1 ExpressCard/54; 1 Secure Digital; 2 USB 3.0; 2 USB 2.0; 1 stereo microphone in; 1 stereo headphone/line-out; 1 1394a; 1 AC power; 1 RJ-45; 1 docking connector; 1 secondary battery connector; 1 VGA; 1 serial; 1 RJ-11 (optional)</a:t>
                      </a:r>
                    </a:p>
                  </a:txBody>
                  <a:tcPr/>
                </a:tc>
                <a:tc>
                  <a:txBody>
                    <a:bodyPr/>
                    <a:lstStyle/>
                    <a:p>
                      <a:r>
                        <a:rPr sz="900" b="0">
                          <a:solidFill>
                            <a:srgbClr val="222222"/>
                          </a:solidFill>
                          <a:latin typeface="Calibri"/>
                        </a:rPr>
                        <a:t>1 Media Card Reader; 3 USB 3.0; 1 USB 3.0 charging; 1 DisplayPort 1.2; 1 VGA; 1 combo stereo headphone/mic jack; 1 AC power; 1 RJ-45; 1 docking connector; 1 secondary battery connector</a:t>
                      </a:r>
                    </a:p>
                  </a:txBody>
                  <a:tcPr/>
                </a:tc>
                <a:tc>
                  <a:txBody>
                    <a:bodyPr/>
                    <a:lstStyle/>
                    <a:p>
                      <a:r>
                        <a:rPr sz="900" b="0">
                          <a:solidFill>
                            <a:srgbClr val="222222"/>
                          </a:solidFill>
                          <a:latin typeface="Calibri"/>
                        </a:rPr>
                        <a:t>1 Media Card Reader; 3 USB 3.0; 1 USB 3.0 charging; 1 DisplayPort 1.2; 1 VGA; 1 combo stereo headphone/mic jack; 1 AC power; 1 RJ-45; 1 side docking connector</a:t>
                      </a:r>
                    </a:p>
                  </a:txBody>
                  <a:tcPr/>
                </a:tc>
                <a:tc>
                  <a:txBody>
                    <a:bodyPr/>
                    <a:lstStyle/>
                    <a:p>
                      <a:r>
                        <a:rPr sz="900" b="0">
                          <a:solidFill>
                            <a:srgbClr val="222222"/>
                          </a:solidFill>
                          <a:latin typeface="Calibri"/>
                        </a:rPr>
                        <a:t>1 ExpressCard/54; 1 Secure Digital; 2 USB 3.0; 2 USB 2.0; 1 stereo microphone in; 1 stereo headphone/line-out; 1 1394a; 1 AC power; 1 RJ-45; 1 docking connector; 1 secondary battery connector; 1 VGA; 1 serial; 1 RJ-11 (optional)</a:t>
                      </a:r>
                    </a:p>
                  </a:txBody>
                  <a:tcPr/>
                </a:tc>
              </a:tr>
              <a:tr h="548640">
                <a:tc>
                  <a:txBody>
                    <a:bodyPr/>
                    <a:lstStyle/>
                    <a:p>
                      <a:r>
                        <a:rPr sz="1000" b="1">
                          <a:solidFill>
                            <a:srgbClr val="222222"/>
                          </a:solidFill>
                          <a:latin typeface="Calibri"/>
                        </a:rPr>
                        <a:t>Ram</a:t>
                      </a:r>
                    </a:p>
                  </a:txBody>
                  <a:tcPr/>
                </a:tc>
                <a:tc>
                  <a:txBody>
                    <a:bodyPr/>
                    <a:lstStyle/>
                    <a:p>
                      <a:r>
                        <a:rPr sz="900" b="0">
                          <a:solidFill>
                            <a:srgbClr val="222222"/>
                          </a:solidFill>
                          <a:latin typeface="Calibri"/>
                        </a:rPr>
                        <a:t>Upgradeable to 16 GB</a:t>
                      </a:r>
                    </a:p>
                  </a:txBody>
                  <a:tcPr/>
                </a:tc>
                <a:tc>
                  <a:txBody>
                    <a:bodyPr/>
                    <a:lstStyle/>
                    <a:p>
                      <a:r>
                        <a:rPr sz="900" b="0">
                          <a:solidFill>
                            <a:srgbClr val="222222"/>
                          </a:solidFill>
                          <a:latin typeface="Calibri"/>
                        </a:rPr>
                        <a:t>Upgradeable to 16 GB</a:t>
                      </a:r>
                    </a:p>
                  </a:txBody>
                  <a:tcPr/>
                </a:tc>
                <a:tc>
                  <a:txBody>
                    <a:bodyPr/>
                    <a:lstStyle/>
                    <a:p>
                      <a:r>
                        <a:rPr sz="900" b="0">
                          <a:solidFill>
                            <a:srgbClr val="222222"/>
                          </a:solidFill>
                          <a:latin typeface="Calibri"/>
                        </a:rPr>
                        <a:t>Upgradeable to 16 GB</a:t>
                      </a:r>
                    </a:p>
                  </a:txBody>
                  <a:tcPr/>
                </a:tc>
                <a:tc>
                  <a:txBody>
                    <a:bodyPr/>
                    <a:lstStyle/>
                    <a:p>
                      <a:r>
                        <a:rPr sz="900" b="0">
                          <a:solidFill>
                            <a:srgbClr val="222222"/>
                          </a:solidFill>
                          <a:latin typeface="Calibri"/>
                        </a:rPr>
                        <a:t>Upgradeable to 16 GB</a:t>
                      </a:r>
                    </a:p>
                  </a:txBody>
                  <a:tcPr/>
                </a:tc>
                <a:tc>
                  <a:txBody>
                    <a:bodyPr/>
                    <a:lstStyle/>
                    <a:p>
                      <a:r>
                        <a:rPr sz="900" b="0">
                          <a:solidFill>
                            <a:srgbClr val="222222"/>
                          </a:solidFill>
                          <a:latin typeface="Calibri"/>
                        </a:rPr>
                        <a:t>Upgradeable to 16 GB</a:t>
                      </a:r>
                    </a:p>
                  </a:txBody>
                  <a:tcPr/>
                </a:tc>
              </a:tr>
              <a:tr h="548640">
                <a:tc>
                  <a:txBody>
                    <a:bodyPr/>
                    <a:lstStyle/>
                    <a:p>
                      <a:r>
                        <a:rPr sz="1000" b="1">
                          <a:solidFill>
                            <a:srgbClr val="222222"/>
                          </a:solidFill>
                          <a:latin typeface="Calibri"/>
                        </a:rPr>
                        <a:t>Weight</a:t>
                      </a:r>
                    </a:p>
                  </a:txBody>
                  <a:tcPr/>
                </a:tc>
                <a:tc>
                  <a:txBody>
                    <a:bodyPr/>
                    <a:lstStyle/>
                    <a:p>
                      <a:r>
                        <a:rPr sz="900" b="0">
                          <a:solidFill>
                            <a:srgbClr val="222222"/>
                          </a:solidFill>
                          <a:latin typeface="Calibri"/>
                        </a:rPr>
                        <a:t>Starting at 2.0 kg</a:t>
                      </a:r>
                    </a:p>
                  </a:txBody>
                  <a:tcPr/>
                </a:tc>
                <a:tc>
                  <a:txBody>
                    <a:bodyPr/>
                    <a:lstStyle/>
                    <a:p>
                      <a:r>
                        <a:rPr sz="900" b="0">
                          <a:solidFill>
                            <a:srgbClr val="222222"/>
                          </a:solidFill>
                          <a:latin typeface="Calibri"/>
                        </a:rPr>
                        <a:t>Starting at 2.32 kg</a:t>
                      </a:r>
                    </a:p>
                  </a:txBody>
                  <a:tcPr/>
                </a:tc>
                <a:tc>
                  <a:txBody>
                    <a:bodyPr/>
                    <a:lstStyle/>
                    <a:p>
                      <a:r>
                        <a:rPr sz="900" b="0">
                          <a:solidFill>
                            <a:srgbClr val="222222"/>
                          </a:solidFill>
                          <a:latin typeface="Calibri"/>
                        </a:rPr>
                        <a:t>Starting at 1.88 kg</a:t>
                      </a:r>
                    </a:p>
                  </a:txBody>
                  <a:tcPr/>
                </a:tc>
                <a:tc>
                  <a:txBody>
                    <a:bodyPr/>
                    <a:lstStyle/>
                    <a:p>
                      <a:r>
                        <a:rPr sz="900" b="0">
                          <a:solidFill>
                            <a:srgbClr val="222222"/>
                          </a:solidFill>
                          <a:latin typeface="Calibri"/>
                        </a:rPr>
                        <a:t>Starting at 1.58 kg</a:t>
                      </a:r>
                    </a:p>
                  </a:txBody>
                  <a:tcPr/>
                </a:tc>
                <a:tc>
                  <a:txBody>
                    <a:bodyPr/>
                    <a:lstStyle/>
                    <a:p>
                      <a:r>
                        <a:rPr sz="900" b="0">
                          <a:solidFill>
                            <a:srgbClr val="222222"/>
                          </a:solidFill>
                          <a:latin typeface="Calibri"/>
                        </a:rPr>
                        <a:t>Starting at 2.0 kg</a:t>
                      </a:r>
                    </a:p>
                  </a:txBody>
                  <a:tcPr/>
                </a:tc>
              </a:tr>
            </a:tbl>
          </a:graphicData>
        </a:graphic>
      </p:graphicFrame>
      <p:sp>
        <p:nvSpPr>
          <p:cNvPr id="4" name="TextBox 3"/>
          <p:cNvSpPr txBox="1"/>
          <p:nvPr/>
        </p:nvSpPr>
        <p:spPr>
          <a:xfrm>
            <a:off x="548640" y="6400800"/>
            <a:ext cx="8229600" cy="365760"/>
          </a:xfrm>
          <a:prstGeom prst="rect">
            <a:avLst/>
          </a:prstGeom>
          <a:noFill/>
        </p:spPr>
        <p:txBody>
          <a:bodyPr wrap="none">
            <a:spAutoFit/>
          </a:bodyPr>
          <a:lstStyle/>
          <a:p>
            <a:pPr algn="l"/>
            <a:r>
              <a:rPr sz="900" b="0">
                <a:solidFill>
                  <a:srgbClr val="787878"/>
                </a:solidFill>
                <a:latin typeface="Calibri"/>
              </a:rPr>
              <a:t>Comparison Across Recommended Products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229600" cy="640080"/>
          </a:xfrm>
          <a:prstGeom prst="rect">
            <a:avLst/>
          </a:prstGeom>
          <a:noFill/>
        </p:spPr>
        <p:txBody>
          <a:bodyPr wrap="none">
            <a:spAutoFit/>
          </a:bodyPr>
          <a:lstStyle/>
          <a:p>
            <a:r>
              <a:rPr sz="2200" b="1">
                <a:solidFill>
                  <a:srgbClr val="004279"/>
                </a:solidFill>
                <a:latin typeface="Calibri"/>
              </a:rPr>
              <a:t>Upsell Options</a:t>
            </a:r>
          </a:p>
        </p:txBody>
      </p:sp>
      <p:sp>
        <p:nvSpPr>
          <p:cNvPr id="3" name="TextBox 2"/>
          <p:cNvSpPr txBox="1"/>
          <p:nvPr/>
        </p:nvSpPr>
        <p:spPr>
          <a:xfrm>
            <a:off x="548640" y="1188720"/>
            <a:ext cx="7772400" cy="4937760"/>
          </a:xfrm>
          <a:prstGeom prst="rect">
            <a:avLst/>
          </a:prstGeom>
          <a:noFill/>
        </p:spPr>
        <p:txBody>
          <a:bodyPr wrap="none">
            <a:spAutoFit/>
          </a:bodyPr>
          <a:lstStyle/>
          <a:p/>
          <a:p>
            <a:r>
              <a:rPr sz="1400" b="0">
                <a:solidFill>
                  <a:srgbClr val="222222"/>
                </a:solidFill>
                <a:latin typeface="Calibri"/>
              </a:rPr>
              <a:t>• G — N/A</a:t>
            </a:r>
          </a:p>
          <a:p>
            <a:r>
              <a:rPr sz="1400" b="0">
                <a:solidFill>
                  <a:srgbClr val="222222"/>
                </a:solidFill>
                <a:latin typeface="Calibri"/>
              </a:rPr>
              <a:t>• i — N/A</a:t>
            </a:r>
          </a:p>
          <a:p>
            <a:r>
              <a:rPr sz="1400" b="0">
                <a:solidFill>
                  <a:srgbClr val="222222"/>
                </a:solidFill>
                <a:latin typeface="Calibri"/>
              </a:rPr>
              <a:t>• v — N/A</a:t>
            </a:r>
          </a:p>
          <a:p>
            <a:r>
              <a:rPr sz="1400" b="0">
                <a:solidFill>
                  <a:srgbClr val="222222"/>
                </a:solidFill>
                <a:latin typeface="Calibri"/>
              </a:rPr>
              <a:t>• e — N/A</a:t>
            </a:r>
          </a:p>
          <a:p>
            <a:r>
              <a:rPr sz="1400" b="0">
                <a:solidFill>
                  <a:srgbClr val="222222"/>
                </a:solidFill>
                <a:latin typeface="Calibri"/>
              </a:rPr>
              <a:t>• n — N/A</a:t>
            </a:r>
          </a:p>
          <a:p>
            <a:r>
              <a:rPr sz="1400" b="0">
                <a:solidFill>
                  <a:srgbClr val="222222"/>
                </a:solidFill>
                <a:latin typeface="Calibri"/>
              </a:rPr>
              <a:t>•   — N/A</a:t>
            </a:r>
          </a:p>
        </p:txBody>
      </p:sp>
      <p:sp>
        <p:nvSpPr>
          <p:cNvPr id="4" name="TextBox 3"/>
          <p:cNvSpPr txBox="1"/>
          <p:nvPr/>
        </p:nvSpPr>
        <p:spPr>
          <a:xfrm>
            <a:off x="548640" y="6400800"/>
            <a:ext cx="8229600" cy="365760"/>
          </a:xfrm>
          <a:prstGeom prst="rect">
            <a:avLst/>
          </a:prstGeom>
          <a:noFill/>
        </p:spPr>
        <p:txBody>
          <a:bodyPr wrap="none">
            <a:spAutoFit/>
          </a:bodyPr>
          <a:lstStyle/>
          <a:p>
            <a:pPr algn="l"/>
            <a:r>
              <a:rPr sz="900" b="0">
                <a:solidFill>
                  <a:srgbClr val="787878"/>
                </a:solidFill>
                <a:latin typeface="Calibri"/>
              </a:rPr>
              <a:t>Upsell Suggestions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280160"/>
            <a:ext cx="8229600" cy="3200400"/>
          </a:xfrm>
          <a:prstGeom prst="rect">
            <a:avLst/>
          </a:prstGeom>
          <a:noFill/>
        </p:spPr>
        <p:txBody>
          <a:bodyPr wrap="none">
            <a:spAutoFit/>
          </a:bodyPr>
          <a:lstStyle/>
          <a:p>
            <a:r>
              <a:rPr sz="1800" b="0">
                <a:solidFill>
                  <a:srgbClr val="222222"/>
                </a:solidFill>
                <a:latin typeface="Calibri"/>
              </a:rPr>
              <a:t>Recommended next steps</a:t>
            </a:r>
          </a:p>
        </p:txBody>
      </p:sp>
      <p:sp>
        <p:nvSpPr>
          <p:cNvPr id="3" name="TextBox 2"/>
          <p:cNvSpPr txBox="1"/>
          <p:nvPr/>
        </p:nvSpPr>
        <p:spPr>
          <a:xfrm>
            <a:off x="548640" y="6400800"/>
            <a:ext cx="8229600" cy="365760"/>
          </a:xfrm>
          <a:prstGeom prst="rect">
            <a:avLst/>
          </a:prstGeom>
          <a:noFill/>
        </p:spPr>
        <p:txBody>
          <a:bodyPr wrap="none">
            <a:spAutoFit/>
          </a:bodyPr>
          <a:lstStyle/>
          <a:p>
            <a:pPr algn="l"/>
            <a:r>
              <a:rPr sz="900" b="0">
                <a:solidFill>
                  <a:srgbClr val="787878"/>
                </a:solidFill>
                <a:latin typeface="Calibri"/>
              </a:rPr>
              <a:t>Thank You — HP Sales Team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