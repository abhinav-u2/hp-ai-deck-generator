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7315200" cy="5486400"/>
          </a:xfrm>
          <a:prstGeom prst="rect">
            <a:avLst/>
          </a:prstGeom>
          <a:noFill/>
        </p:spPr>
        <p:txBody>
          <a:bodyPr wrap="square">
            <a:spAutoFit/>
          </a:bodyPr>
          <a:lstStyle/>
          <a:p>
            <a:pPr algn="ctr">
              <a:defRPr b="1" sz="3000">
                <a:solidFill>
                  <a:srgbClr val="004279"/>
                </a:solidFill>
              </a:defRPr>
            </a:pPr>
            <a:r>
              <a:t>Introducing the HP ProBook and EliteBook series, designed for the modern business professional. With lightweight designs and upgradeable RAM up to 16 GB, these laptops provide exceptional performance and portability. Optimize your productivity with tailored configurations, including discrete graphics and robust security features. Elevate your work experience with reliable performance on Windows 8 Pro, empowering you to tackle any task with confidence.</a:t>
            </a:r>
          </a:p>
        </p:txBody>
      </p:sp>
      <p:sp>
        <p:nvSpPr>
          <p:cNvPr id="3" name="TextBox 2"/>
          <p:cNvSpPr txBox="1"/>
          <p:nvPr/>
        </p:nvSpPr>
        <p:spPr>
          <a:xfrm>
            <a:off x="548640" y="6400800"/>
            <a:ext cx="8229600" cy="365760"/>
          </a:xfrm>
          <a:prstGeom prst="rect">
            <a:avLst/>
          </a:prstGeom>
          <a:noFill/>
        </p:spPr>
        <p:txBody>
          <a:bodyPr wrap="none">
            <a:spAutoFit/>
          </a:bodyPr>
          <a:lstStyle/>
          <a:p>
            <a:pPr algn="l"/>
            <a:r>
              <a:rPr sz="900" b="0">
                <a:solidFill>
                  <a:srgbClr val="787878"/>
                </a:solidFill>
                <a:latin typeface="Calibri"/>
              </a:rPr>
              <a:t>Generated by HP AI Sales Assistant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229600" cy="640080"/>
          </a:xfrm>
          <a:prstGeom prst="rect">
            <a:avLst/>
          </a:prstGeom>
          <a:noFill/>
        </p:spPr>
        <p:txBody>
          <a:bodyPr wrap="none">
            <a:spAutoFit/>
          </a:bodyPr>
          <a:lstStyle/>
          <a:p>
            <a:r>
              <a:rPr sz="2200" b="1">
                <a:solidFill>
                  <a:srgbClr val="004279"/>
                </a:solidFill>
                <a:latin typeface="Calibri"/>
              </a:rPr>
              <a:t>Customer Requirements</a:t>
            </a:r>
          </a:p>
        </p:txBody>
      </p:sp>
      <p:sp>
        <p:nvSpPr>
          <p:cNvPr id="3" name="TextBox 2"/>
          <p:cNvSpPr txBox="1"/>
          <p:nvPr/>
        </p:nvSpPr>
        <p:spPr>
          <a:xfrm>
            <a:off x="548640" y="1188720"/>
            <a:ext cx="7772400" cy="1097280"/>
          </a:xfrm>
          <a:prstGeom prst="rect">
            <a:avLst/>
          </a:prstGeom>
          <a:noFill/>
        </p:spPr>
        <p:txBody>
          <a:bodyPr wrap="none">
            <a:spAutoFit/>
          </a:bodyPr>
          <a:lstStyle/>
          <a:p>
            <a:r>
              <a:rPr sz="1600" b="1">
                <a:solidFill>
                  <a:srgbClr val="222222"/>
                </a:solidFill>
                <a:latin typeface="Calibri"/>
              </a:rPr>
              <a:t>User Query:</a:t>
            </a:r>
          </a:p>
          <a:p>
            <a:r>
              <a:rPr sz="1400" b="0">
                <a:solidFill>
                  <a:srgbClr val="222222"/>
                </a:solidFill>
                <a:latin typeface="Calibri"/>
              </a:rPr>
              <a:t>We need 10 laptops for a design team, around ₹1 lakh each, lightweight, 8GB RAM, and good graphics.</a:t>
            </a:r>
          </a:p>
        </p:txBody>
      </p:sp>
      <p:sp>
        <p:nvSpPr>
          <p:cNvPr id="4" name="TextBox 3"/>
          <p:cNvSpPr txBox="1"/>
          <p:nvPr/>
        </p:nvSpPr>
        <p:spPr>
          <a:xfrm>
            <a:off x="548640" y="2560320"/>
            <a:ext cx="7772400" cy="4389120"/>
          </a:xfrm>
          <a:prstGeom prst="rect">
            <a:avLst/>
          </a:prstGeom>
          <a:noFill/>
        </p:spPr>
        <p:txBody>
          <a:bodyPr wrap="none">
            <a:spAutoFit/>
          </a:bodyPr>
          <a:lstStyle/>
          <a:p>
            <a:r>
              <a:rPr sz="1600" b="1">
                <a:solidFill>
                  <a:srgbClr val="0084B4"/>
                </a:solidFill>
                <a:latin typeface="Calibri"/>
              </a:rPr>
              <a:t>Extracted Requirements:</a:t>
            </a:r>
          </a:p>
          <a:p>
            <a:r>
              <a:rPr sz="1400" b="0">
                <a:solidFill>
                  <a:srgbClr val="222222"/>
                </a:solidFill>
                <a:latin typeface="Calibri"/>
              </a:rPr>
              <a:t>• product_category</a:t>
            </a:r>
          </a:p>
          <a:p>
            <a:r>
              <a:rPr sz="1400" b="0">
                <a:solidFill>
                  <a:srgbClr val="222222"/>
                </a:solidFill>
                <a:latin typeface="Calibri"/>
              </a:rPr>
              <a:t>• quantity</a:t>
            </a:r>
          </a:p>
          <a:p>
            <a:r>
              <a:rPr sz="1400" b="0">
                <a:solidFill>
                  <a:srgbClr val="222222"/>
                </a:solidFill>
                <a:latin typeface="Calibri"/>
              </a:rPr>
              <a:t>• budget_per_unit</a:t>
            </a:r>
          </a:p>
          <a:p>
            <a:r>
              <a:rPr sz="1400" b="0">
                <a:solidFill>
                  <a:srgbClr val="222222"/>
                </a:solidFill>
                <a:latin typeface="Calibri"/>
              </a:rPr>
              <a:t>• specific_requirements</a:t>
            </a:r>
          </a:p>
        </p:txBody>
      </p:sp>
      <p:sp>
        <p:nvSpPr>
          <p:cNvPr id="5" name="TextBox 4"/>
          <p:cNvSpPr txBox="1"/>
          <p:nvPr/>
        </p:nvSpPr>
        <p:spPr>
          <a:xfrm>
            <a:off x="548640" y="6400800"/>
            <a:ext cx="8229600" cy="365760"/>
          </a:xfrm>
          <a:prstGeom prst="rect">
            <a:avLst/>
          </a:prstGeom>
          <a:noFill/>
        </p:spPr>
        <p:txBody>
          <a:bodyPr wrap="none">
            <a:spAutoFit/>
          </a:bodyPr>
          <a:lstStyle/>
          <a:p>
            <a:pPr algn="l"/>
            <a:r>
              <a:rPr sz="900" b="0">
                <a:solidFill>
                  <a:srgbClr val="787878"/>
                </a:solidFill>
                <a:latin typeface="Calibri"/>
              </a:rPr>
              <a:t>Customer Requirement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229600" cy="640080"/>
          </a:xfrm>
          <a:prstGeom prst="rect">
            <a:avLst/>
          </a:prstGeom>
          <a:noFill/>
        </p:spPr>
        <p:txBody>
          <a:bodyPr wrap="none">
            <a:spAutoFit/>
          </a:bodyPr>
          <a:lstStyle/>
          <a:p>
            <a:r>
              <a:rPr sz="2200" b="1">
                <a:solidFill>
                  <a:srgbClr val="004279"/>
                </a:solidFill>
                <a:latin typeface="Calibri"/>
              </a:rPr>
              <a:t>HP ProBook 640 G1</a:t>
            </a:r>
          </a:p>
        </p:txBody>
      </p:sp>
      <p:pic>
        <p:nvPicPr>
          <p:cNvPr id="3" name="Picture 2" descr="page_5_img_11.png"/>
          <p:cNvPicPr>
            <a:picLocks noChangeAspect="1"/>
          </p:cNvPicPr>
          <p:nvPr/>
        </p:nvPicPr>
        <p:blipFill>
          <a:blip r:embed="rId2"/>
          <a:stretch>
            <a:fillRect/>
          </a:stretch>
        </p:blipFill>
        <p:spPr>
          <a:xfrm>
            <a:off x="548640" y="1280160"/>
            <a:ext cx="2743200" cy="3108960"/>
          </a:xfrm>
          <a:prstGeom prst="rect">
            <a:avLst/>
          </a:prstGeom>
        </p:spPr>
      </p:pic>
      <p:sp>
        <p:nvSpPr>
          <p:cNvPr id="4" name="TextBox 3"/>
          <p:cNvSpPr txBox="1"/>
          <p:nvPr/>
        </p:nvSpPr>
        <p:spPr>
          <a:xfrm>
            <a:off x="548640" y="4206240"/>
            <a:ext cx="2743200" cy="2286000"/>
          </a:xfrm>
          <a:prstGeom prst="rect">
            <a:avLst/>
          </a:prstGeom>
          <a:noFill/>
        </p:spPr>
        <p:txBody>
          <a:bodyPr wrap="square">
            <a:spAutoFit/>
          </a:bodyPr>
          <a:lstStyle/>
          <a:p>
            <a:r>
              <a:rPr sz="1400" b="1">
                <a:solidFill>
                  <a:srgbClr val="0084B4"/>
                </a:solidFill>
                <a:latin typeface="Calibri"/>
              </a:rPr>
              <a:t>Description:</a:t>
            </a:r>
          </a:p>
          <a:p>
            <a:pPr lvl="1"/>
            <a:r>
              <a:rPr sz="1200" b="0">
                <a:solidFill>
                  <a:srgbClr val="222222"/>
                </a:solidFill>
                <a:latin typeface="Calibri"/>
              </a:rPr>
              <a:t>Tailored for business. Optimised for Windows 8 Pro. 2 this configurable notebook features a 35.6 cm diagonal display and UMA or discrete graphics. From the professional design to Intel® technology, you're ready for business.</a:t>
            </a:r>
          </a:p>
        </p:txBody>
      </p:sp>
      <p:graphicFrame>
        <p:nvGraphicFramePr>
          <p:cNvPr id="5" name="Table 4"/>
          <p:cNvGraphicFramePr>
            <a:graphicFrameLocks noGrp="1"/>
          </p:cNvGraphicFramePr>
          <p:nvPr/>
        </p:nvGraphicFramePr>
        <p:xfrm>
          <a:off x="3657600" y="1188720"/>
          <a:ext cx="4937760" cy="5029200"/>
        </p:xfrm>
        <a:graphic>
          <a:graphicData uri="http://schemas.openxmlformats.org/drawingml/2006/table">
            <a:tbl>
              <a:tblPr firstRow="1" bandRow="1">
                <a:tableStyleId>{5C22544A-7EE6-4342-B048-85BDC9FD1C3A}</a:tableStyleId>
              </a:tblPr>
              <a:tblGrid>
                <a:gridCol w="2468880"/>
                <a:gridCol w="2468880"/>
              </a:tblGrid>
              <a:tr h="558800">
                <a:tc>
                  <a:txBody>
                    <a:bodyPr/>
                    <a:lstStyle/>
                    <a:p>
                      <a:r>
                        <a:rPr sz="1200" b="1">
                          <a:solidFill>
                            <a:srgbClr val="222222"/>
                          </a:solidFill>
                          <a:latin typeface="Calibri"/>
                        </a:rPr>
                        <a:t>Specification</a:t>
                      </a:r>
                    </a:p>
                  </a:txBody>
                  <a:tcPr/>
                </a:tc>
                <a:tc>
                  <a:txBody>
                    <a:bodyPr/>
                    <a:lstStyle/>
                    <a:p>
                      <a:r>
                        <a:rPr sz="1200" b="1">
                          <a:solidFill>
                            <a:srgbClr val="222222"/>
                          </a:solidFill>
                          <a:latin typeface="Calibri"/>
                        </a:rPr>
                        <a:t>Details</a:t>
                      </a:r>
                    </a:p>
                  </a:txBody>
                  <a:tcPr/>
                </a:tc>
              </a:tr>
              <a:tr h="558800">
                <a:tc>
                  <a:txBody>
                    <a:bodyPr/>
                    <a:lstStyle/>
                    <a:p>
                      <a:r>
                        <a:rPr sz="1000" b="0">
                          <a:solidFill>
                            <a:srgbClr val="222222"/>
                          </a:solidFill>
                          <a:latin typeface="Calibri"/>
                        </a:rPr>
                        <a:t>Ram</a:t>
                      </a:r>
                    </a:p>
                  </a:txBody>
                  <a:tcPr/>
                </a:tc>
                <a:tc>
                  <a:txBody>
                    <a:bodyPr/>
                    <a:lstStyle/>
                    <a:p>
                      <a:r>
                        <a:rPr sz="1000" b="0">
                          <a:solidFill>
                            <a:srgbClr val="222222"/>
                          </a:solidFill>
                          <a:latin typeface="Calibri"/>
                        </a:rPr>
                        <a:t>Upgradeable to 16 GB</a:t>
                      </a:r>
                    </a:p>
                  </a:txBody>
                  <a:tcPr/>
                </a:tc>
              </a:tr>
              <a:tr h="558800">
                <a:tc>
                  <a:txBody>
                    <a:bodyPr/>
                    <a:lstStyle/>
                    <a:p>
                      <a:r>
                        <a:rPr sz="1000" b="0">
                          <a:solidFill>
                            <a:srgbClr val="222222"/>
                          </a:solidFill>
                          <a:latin typeface="Calibri"/>
                        </a:rPr>
                        <a:t>Cpu</a:t>
                      </a:r>
                    </a:p>
                  </a:txBody>
                  <a:tcPr/>
                </a:tc>
                <a:tc>
                  <a:txBody>
                    <a:bodyPr/>
                    <a:lstStyle/>
                    <a:p>
                      <a:r>
                        <a:rPr sz="1000" b="0">
                          <a:solidFill>
                            <a:srgbClr val="222222"/>
                          </a:solidFill>
                          <a:latin typeface="Calibri"/>
                        </a:rPr>
                        <a:t>Intel® technology</a:t>
                      </a:r>
                    </a:p>
                  </a:txBody>
                  <a:tcPr/>
                </a:tc>
              </a:tr>
              <a:tr h="558800">
                <a:tc>
                  <a:txBody>
                    <a:bodyPr/>
                    <a:lstStyle/>
                    <a:p>
                      <a:r>
                        <a:rPr sz="1000" b="0">
                          <a:solidFill>
                            <a:srgbClr val="222222"/>
                          </a:solidFill>
                          <a:latin typeface="Calibri"/>
                        </a:rPr>
                        <a:t>Gpu</a:t>
                      </a:r>
                    </a:p>
                  </a:txBody>
                  <a:tcPr/>
                </a:tc>
                <a:tc>
                  <a:txBody>
                    <a:bodyPr/>
                    <a:lstStyle/>
                    <a:p>
                      <a:r>
                        <a:rPr sz="1000" b="0">
                          <a:solidFill>
                            <a:srgbClr val="222222"/>
                          </a:solidFill>
                          <a:latin typeface="Calibri"/>
                        </a:rPr>
                        <a:t>UMA or discrete graphics</a:t>
                      </a:r>
                    </a:p>
                  </a:txBody>
                  <a:tcPr/>
                </a:tc>
              </a:tr>
              <a:tr h="558800">
                <a:tc>
                  <a:txBody>
                    <a:bodyPr/>
                    <a:lstStyle/>
                    <a:p>
                      <a:r>
                        <a:rPr sz="1000" b="0">
                          <a:solidFill>
                            <a:srgbClr val="222222"/>
                          </a:solidFill>
                          <a:latin typeface="Calibri"/>
                        </a:rPr>
                        <a:t>Display</a:t>
                      </a:r>
                    </a:p>
                  </a:txBody>
                  <a:tcPr/>
                </a:tc>
                <a:tc>
                  <a:txBody>
                    <a:bodyPr/>
                    <a:lstStyle/>
                    <a:p>
                      <a:r>
                        <a:rPr sz="1000" b="0">
                          <a:solidFill>
                            <a:srgbClr val="222222"/>
                          </a:solidFill>
                          <a:latin typeface="Calibri"/>
                        </a:rPr>
                        <a:t>35.6 cm diagonal</a:t>
                      </a:r>
                    </a:p>
                  </a:txBody>
                  <a:tcPr/>
                </a:tc>
              </a:tr>
              <a:tr h="558800">
                <a:tc>
                  <a:txBody>
                    <a:bodyPr/>
                    <a:lstStyle/>
                    <a:p>
                      <a:r>
                        <a:rPr sz="1000" b="0">
                          <a:solidFill>
                            <a:srgbClr val="222222"/>
                          </a:solidFill>
                          <a:latin typeface="Calibri"/>
                        </a:rPr>
                        <a:t>Battery</a:t>
                      </a:r>
                    </a:p>
                  </a:txBody>
                  <a:tcPr/>
                </a:tc>
                <a:tc>
                  <a:txBody>
                    <a:bodyPr/>
                    <a:lstStyle/>
                    <a:p>
                      <a:r>
                        <a:rPr sz="1000" b="0">
                          <a:solidFill>
                            <a:srgbClr val="222222"/>
                          </a:solidFill>
                          <a:latin typeface="Calibri"/>
                        </a:rPr>
                        <a:t>90W Smart AC Adapter (discrete); 65W Smart AC Adapter (integrated); HP Fast Charge (not supported on 9-cell primary or secondary batteries)</a:t>
                      </a:r>
                    </a:p>
                  </a:txBody>
                  <a:tcPr/>
                </a:tc>
              </a:tr>
              <a:tr h="558800">
                <a:tc>
                  <a:txBody>
                    <a:bodyPr/>
                    <a:lstStyle/>
                    <a:p>
                      <a:r>
                        <a:rPr sz="1000" b="0">
                          <a:solidFill>
                            <a:srgbClr val="222222"/>
                          </a:solidFill>
                          <a:latin typeface="Calibri"/>
                        </a:rPr>
                        <a:t>Weight</a:t>
                      </a:r>
                    </a:p>
                  </a:txBody>
                  <a:tcPr/>
                </a:tc>
                <a:tc>
                  <a:txBody>
                    <a:bodyPr/>
                    <a:lstStyle/>
                    <a:p>
                      <a:r>
                        <a:rPr sz="1000" b="0">
                          <a:solidFill>
                            <a:srgbClr val="222222"/>
                          </a:solidFill>
                          <a:latin typeface="Calibri"/>
                        </a:rPr>
                        <a:t>Starting at 2.0 kg</a:t>
                      </a:r>
                    </a:p>
                  </a:txBody>
                  <a:tcPr/>
                </a:tc>
              </a:tr>
              <a:tr h="558800">
                <a:tc>
                  <a:txBody>
                    <a:bodyPr/>
                    <a:lstStyle/>
                    <a:p>
                      <a:r>
                        <a:rPr sz="1000" b="0">
                          <a:solidFill>
                            <a:srgbClr val="222222"/>
                          </a:solidFill>
                          <a:latin typeface="Calibri"/>
                        </a:rPr>
                        <a:t>Ports</a:t>
                      </a:r>
                    </a:p>
                  </a:txBody>
                  <a:tcPr/>
                </a:tc>
                <a:tc>
                  <a:txBody>
                    <a:bodyPr/>
                    <a:lstStyle/>
                    <a:p>
                      <a:r>
                        <a:rPr sz="1000" b="0">
                          <a:solidFill>
                            <a:srgbClr val="222222"/>
                          </a:solidFill>
                          <a:latin typeface="Calibri"/>
                        </a:rPr>
                        <a:t>1 ExpressCard/54; 1 Secure Digital; 2 USB 3.0; 2 USB 2.0; 1 stereo microphone in; 1 stereo headphone/line-out; 1 1394a; 1 AC power; 1 RJ-45; 1 docking connector; 1 secondary battery connector; 1 VGA; 1 serial; 1 RJ-11 (optional)</a:t>
                      </a:r>
                    </a:p>
                  </a:txBody>
                  <a:tcPr/>
                </a:tc>
              </a:tr>
              <a:tr h="558800">
                <a:tc>
                  <a:txBody>
                    <a:bodyPr/>
                    <a:lstStyle/>
                    <a:p>
                      <a:r>
                        <a:rPr sz="1000" b="0">
                          <a:solidFill>
                            <a:srgbClr val="222222"/>
                          </a:solidFill>
                          <a:latin typeface="Calibri"/>
                        </a:rPr>
                        <a:t>Os</a:t>
                      </a:r>
                    </a:p>
                  </a:txBody>
                  <a:tcPr/>
                </a:tc>
                <a:tc>
                  <a:txBody>
                    <a:bodyPr/>
                    <a:lstStyle/>
                    <a:p>
                      <a:r>
                        <a:rPr sz="1000" b="0">
                          <a:solidFill>
                            <a:srgbClr val="222222"/>
                          </a:solidFill>
                          <a:latin typeface="Calibri"/>
                        </a:rPr>
                        <a:t>Windows 8 Pro</a:t>
                      </a:r>
                    </a:p>
                  </a:txBody>
                  <a:tcPr/>
                </a:tc>
              </a:tr>
            </a:tbl>
          </a:graphicData>
        </a:graphic>
      </p:graphicFrame>
      <p:sp>
        <p:nvSpPr>
          <p:cNvPr id="6" name="TextBox 5"/>
          <p:cNvSpPr txBox="1"/>
          <p:nvPr/>
        </p:nvSpPr>
        <p:spPr>
          <a:xfrm>
            <a:off x="548640" y="6400800"/>
            <a:ext cx="8229600" cy="365760"/>
          </a:xfrm>
          <a:prstGeom prst="rect">
            <a:avLst/>
          </a:prstGeom>
          <a:noFill/>
        </p:spPr>
        <p:txBody>
          <a:bodyPr wrap="none">
            <a:spAutoFit/>
          </a:bodyPr>
          <a:lstStyle/>
          <a:p>
            <a:pPr algn="l"/>
            <a:r>
              <a:rPr sz="900" b="0">
                <a:solidFill>
                  <a:srgbClr val="787878"/>
                </a:solidFill>
                <a:latin typeface="Calibri"/>
              </a:rPr>
              <a:t>HP ProBook 640 G1 — Product Details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229600" cy="640080"/>
          </a:xfrm>
          <a:prstGeom prst="rect">
            <a:avLst/>
          </a:prstGeom>
          <a:noFill/>
        </p:spPr>
        <p:txBody>
          <a:bodyPr wrap="none">
            <a:spAutoFit/>
          </a:bodyPr>
          <a:lstStyle/>
          <a:p>
            <a:r>
              <a:rPr sz="2200" b="1">
                <a:solidFill>
                  <a:srgbClr val="004279"/>
                </a:solidFill>
                <a:latin typeface="Calibri"/>
              </a:rPr>
              <a:t>HP ProBook 650 G1</a:t>
            </a:r>
          </a:p>
        </p:txBody>
      </p:sp>
      <p:pic>
        <p:nvPicPr>
          <p:cNvPr id="3" name="Picture 2" descr="page_5_img_12.png"/>
          <p:cNvPicPr>
            <a:picLocks noChangeAspect="1"/>
          </p:cNvPicPr>
          <p:nvPr/>
        </p:nvPicPr>
        <p:blipFill>
          <a:blip r:embed="rId2"/>
          <a:stretch>
            <a:fillRect/>
          </a:stretch>
        </p:blipFill>
        <p:spPr>
          <a:xfrm>
            <a:off x="548640" y="1280160"/>
            <a:ext cx="2743200" cy="3108960"/>
          </a:xfrm>
          <a:prstGeom prst="rect">
            <a:avLst/>
          </a:prstGeom>
        </p:spPr>
      </p:pic>
      <p:sp>
        <p:nvSpPr>
          <p:cNvPr id="4" name="TextBox 3"/>
          <p:cNvSpPr txBox="1"/>
          <p:nvPr/>
        </p:nvSpPr>
        <p:spPr>
          <a:xfrm>
            <a:off x="548640" y="4206240"/>
            <a:ext cx="2743200" cy="2286000"/>
          </a:xfrm>
          <a:prstGeom prst="rect">
            <a:avLst/>
          </a:prstGeom>
          <a:noFill/>
        </p:spPr>
        <p:txBody>
          <a:bodyPr wrap="square">
            <a:spAutoFit/>
          </a:bodyPr>
          <a:lstStyle/>
          <a:p>
            <a:r>
              <a:rPr sz="1400" b="1">
                <a:solidFill>
                  <a:srgbClr val="0084B4"/>
                </a:solidFill>
                <a:latin typeface="Calibri"/>
              </a:rPr>
              <a:t>Description:</a:t>
            </a:r>
          </a:p>
          <a:p>
            <a:pPr lvl="1"/>
            <a:r>
              <a:rPr sz="1200" b="0">
                <a:solidFill>
                  <a:srgbClr val="222222"/>
                </a:solidFill>
                <a:latin typeface="Calibri"/>
              </a:rPr>
              <a:t>Tailored for business. Optimised for Windows 8 Pro. 2 this configurable notebook features a 39.6 cm diagonal display and UMA or discrete graphics. From the professional design to Intel® technology, you're ready for business.</a:t>
            </a:r>
          </a:p>
        </p:txBody>
      </p:sp>
      <p:graphicFrame>
        <p:nvGraphicFramePr>
          <p:cNvPr id="5" name="Table 4"/>
          <p:cNvGraphicFramePr>
            <a:graphicFrameLocks noGrp="1"/>
          </p:cNvGraphicFramePr>
          <p:nvPr/>
        </p:nvGraphicFramePr>
        <p:xfrm>
          <a:off x="3657600" y="1188720"/>
          <a:ext cx="4937760" cy="5029200"/>
        </p:xfrm>
        <a:graphic>
          <a:graphicData uri="http://schemas.openxmlformats.org/drawingml/2006/table">
            <a:tbl>
              <a:tblPr firstRow="1" bandRow="1">
                <a:tableStyleId>{5C22544A-7EE6-4342-B048-85BDC9FD1C3A}</a:tableStyleId>
              </a:tblPr>
              <a:tblGrid>
                <a:gridCol w="2468880"/>
                <a:gridCol w="2468880"/>
              </a:tblGrid>
              <a:tr h="558800">
                <a:tc>
                  <a:txBody>
                    <a:bodyPr/>
                    <a:lstStyle/>
                    <a:p>
                      <a:r>
                        <a:rPr sz="1200" b="1">
                          <a:solidFill>
                            <a:srgbClr val="222222"/>
                          </a:solidFill>
                          <a:latin typeface="Calibri"/>
                        </a:rPr>
                        <a:t>Specification</a:t>
                      </a:r>
                    </a:p>
                  </a:txBody>
                  <a:tcPr/>
                </a:tc>
                <a:tc>
                  <a:txBody>
                    <a:bodyPr/>
                    <a:lstStyle/>
                    <a:p>
                      <a:r>
                        <a:rPr sz="1200" b="1">
                          <a:solidFill>
                            <a:srgbClr val="222222"/>
                          </a:solidFill>
                          <a:latin typeface="Calibri"/>
                        </a:rPr>
                        <a:t>Details</a:t>
                      </a:r>
                    </a:p>
                  </a:txBody>
                  <a:tcPr/>
                </a:tc>
              </a:tr>
              <a:tr h="558800">
                <a:tc>
                  <a:txBody>
                    <a:bodyPr/>
                    <a:lstStyle/>
                    <a:p>
                      <a:r>
                        <a:rPr sz="1000" b="0">
                          <a:solidFill>
                            <a:srgbClr val="222222"/>
                          </a:solidFill>
                          <a:latin typeface="Calibri"/>
                        </a:rPr>
                        <a:t>Ram</a:t>
                      </a:r>
                    </a:p>
                  </a:txBody>
                  <a:tcPr/>
                </a:tc>
                <a:tc>
                  <a:txBody>
                    <a:bodyPr/>
                    <a:lstStyle/>
                    <a:p>
                      <a:r>
                        <a:rPr sz="1000" b="0">
                          <a:solidFill>
                            <a:srgbClr val="222222"/>
                          </a:solidFill>
                          <a:latin typeface="Calibri"/>
                        </a:rPr>
                        <a:t>Upgradeable to 16 GB</a:t>
                      </a:r>
                    </a:p>
                  </a:txBody>
                  <a:tcPr/>
                </a:tc>
              </a:tr>
              <a:tr h="558800">
                <a:tc>
                  <a:txBody>
                    <a:bodyPr/>
                    <a:lstStyle/>
                    <a:p>
                      <a:r>
                        <a:rPr sz="1000" b="0">
                          <a:solidFill>
                            <a:srgbClr val="222222"/>
                          </a:solidFill>
                          <a:latin typeface="Calibri"/>
                        </a:rPr>
                        <a:t>Cpu</a:t>
                      </a:r>
                    </a:p>
                  </a:txBody>
                  <a:tcPr/>
                </a:tc>
                <a:tc>
                  <a:txBody>
                    <a:bodyPr/>
                    <a:lstStyle/>
                    <a:p>
                      <a:r>
                        <a:rPr sz="1000" b="0">
                          <a:solidFill>
                            <a:srgbClr val="222222"/>
                          </a:solidFill>
                          <a:latin typeface="Calibri"/>
                        </a:rPr>
                        <a:t>Intel® technology</a:t>
                      </a:r>
                    </a:p>
                  </a:txBody>
                  <a:tcPr/>
                </a:tc>
              </a:tr>
              <a:tr h="558800">
                <a:tc>
                  <a:txBody>
                    <a:bodyPr/>
                    <a:lstStyle/>
                    <a:p>
                      <a:r>
                        <a:rPr sz="1000" b="0">
                          <a:solidFill>
                            <a:srgbClr val="222222"/>
                          </a:solidFill>
                          <a:latin typeface="Calibri"/>
                        </a:rPr>
                        <a:t>Gpu</a:t>
                      </a:r>
                    </a:p>
                  </a:txBody>
                  <a:tcPr/>
                </a:tc>
                <a:tc>
                  <a:txBody>
                    <a:bodyPr/>
                    <a:lstStyle/>
                    <a:p>
                      <a:r>
                        <a:rPr sz="1000" b="0">
                          <a:solidFill>
                            <a:srgbClr val="222222"/>
                          </a:solidFill>
                          <a:latin typeface="Calibri"/>
                        </a:rPr>
                        <a:t>UMA or discrete graphics</a:t>
                      </a:r>
                    </a:p>
                  </a:txBody>
                  <a:tcPr/>
                </a:tc>
              </a:tr>
              <a:tr h="558800">
                <a:tc>
                  <a:txBody>
                    <a:bodyPr/>
                    <a:lstStyle/>
                    <a:p>
                      <a:r>
                        <a:rPr sz="1000" b="0">
                          <a:solidFill>
                            <a:srgbClr val="222222"/>
                          </a:solidFill>
                          <a:latin typeface="Calibri"/>
                        </a:rPr>
                        <a:t>Display</a:t>
                      </a:r>
                    </a:p>
                  </a:txBody>
                  <a:tcPr/>
                </a:tc>
                <a:tc>
                  <a:txBody>
                    <a:bodyPr/>
                    <a:lstStyle/>
                    <a:p>
                      <a:r>
                        <a:rPr sz="1000" b="0">
                          <a:solidFill>
                            <a:srgbClr val="222222"/>
                          </a:solidFill>
                          <a:latin typeface="Calibri"/>
                        </a:rPr>
                        <a:t>39.6 cm diagonal</a:t>
                      </a:r>
                    </a:p>
                  </a:txBody>
                  <a:tcPr/>
                </a:tc>
              </a:tr>
              <a:tr h="558800">
                <a:tc>
                  <a:txBody>
                    <a:bodyPr/>
                    <a:lstStyle/>
                    <a:p>
                      <a:r>
                        <a:rPr sz="1000" b="0">
                          <a:solidFill>
                            <a:srgbClr val="222222"/>
                          </a:solidFill>
                          <a:latin typeface="Calibri"/>
                        </a:rPr>
                        <a:t>Battery</a:t>
                      </a:r>
                    </a:p>
                  </a:txBody>
                  <a:tcPr/>
                </a:tc>
                <a:tc>
                  <a:txBody>
                    <a:bodyPr/>
                    <a:lstStyle/>
                    <a:p>
                      <a:r>
                        <a:rPr sz="1000" b="0">
                          <a:solidFill>
                            <a:srgbClr val="222222"/>
                          </a:solidFill>
                          <a:latin typeface="Calibri"/>
                        </a:rPr>
                        <a:t>90W Smart AC Adapter (discrete); 65W Smart AC Adapter (integrated); HP Fast Charge (not supported on 9-cell primary or secondary batteries)</a:t>
                      </a:r>
                    </a:p>
                  </a:txBody>
                  <a:tcPr/>
                </a:tc>
              </a:tr>
              <a:tr h="558800">
                <a:tc>
                  <a:txBody>
                    <a:bodyPr/>
                    <a:lstStyle/>
                    <a:p>
                      <a:r>
                        <a:rPr sz="1000" b="0">
                          <a:solidFill>
                            <a:srgbClr val="222222"/>
                          </a:solidFill>
                          <a:latin typeface="Calibri"/>
                        </a:rPr>
                        <a:t>Weight</a:t>
                      </a:r>
                    </a:p>
                  </a:txBody>
                  <a:tcPr/>
                </a:tc>
                <a:tc>
                  <a:txBody>
                    <a:bodyPr/>
                    <a:lstStyle/>
                    <a:p>
                      <a:r>
                        <a:rPr sz="1000" b="0">
                          <a:solidFill>
                            <a:srgbClr val="222222"/>
                          </a:solidFill>
                          <a:latin typeface="Calibri"/>
                        </a:rPr>
                        <a:t>Starting at 2.32 kg</a:t>
                      </a:r>
                    </a:p>
                  </a:txBody>
                  <a:tcPr/>
                </a:tc>
              </a:tr>
              <a:tr h="558800">
                <a:tc>
                  <a:txBody>
                    <a:bodyPr/>
                    <a:lstStyle/>
                    <a:p>
                      <a:r>
                        <a:rPr sz="1000" b="0">
                          <a:solidFill>
                            <a:srgbClr val="222222"/>
                          </a:solidFill>
                          <a:latin typeface="Calibri"/>
                        </a:rPr>
                        <a:t>Ports</a:t>
                      </a:r>
                    </a:p>
                  </a:txBody>
                  <a:tcPr/>
                </a:tc>
                <a:tc>
                  <a:txBody>
                    <a:bodyPr/>
                    <a:lstStyle/>
                    <a:p>
                      <a:r>
                        <a:rPr sz="1000" b="0">
                          <a:solidFill>
                            <a:srgbClr val="222222"/>
                          </a:solidFill>
                          <a:latin typeface="Calibri"/>
                        </a:rPr>
                        <a:t>1 ExpressCard/54; 1 Secure Digital; 2 USB 3.0; 2 USB 2.0; 1 stereo microphone in; 1 stereo headphone/line-out; 1 1394a; 1 AC power; 1 RJ-45; 1 docking connector; 1 secondary battery connector; 1 VGA; 1 serial; 1 RJ-11 (optional)</a:t>
                      </a:r>
                    </a:p>
                  </a:txBody>
                  <a:tcPr/>
                </a:tc>
              </a:tr>
              <a:tr h="558800">
                <a:tc>
                  <a:txBody>
                    <a:bodyPr/>
                    <a:lstStyle/>
                    <a:p>
                      <a:r>
                        <a:rPr sz="1000" b="0">
                          <a:solidFill>
                            <a:srgbClr val="222222"/>
                          </a:solidFill>
                          <a:latin typeface="Calibri"/>
                        </a:rPr>
                        <a:t>Os</a:t>
                      </a:r>
                    </a:p>
                  </a:txBody>
                  <a:tcPr/>
                </a:tc>
                <a:tc>
                  <a:txBody>
                    <a:bodyPr/>
                    <a:lstStyle/>
                    <a:p>
                      <a:r>
                        <a:rPr sz="1000" b="0">
                          <a:solidFill>
                            <a:srgbClr val="222222"/>
                          </a:solidFill>
                          <a:latin typeface="Calibri"/>
                        </a:rPr>
                        <a:t>Windows 8 Pro</a:t>
                      </a:r>
                    </a:p>
                  </a:txBody>
                  <a:tcPr/>
                </a:tc>
              </a:tr>
            </a:tbl>
          </a:graphicData>
        </a:graphic>
      </p:graphicFrame>
      <p:sp>
        <p:nvSpPr>
          <p:cNvPr id="6" name="TextBox 5"/>
          <p:cNvSpPr txBox="1"/>
          <p:nvPr/>
        </p:nvSpPr>
        <p:spPr>
          <a:xfrm>
            <a:off x="548640" y="6400800"/>
            <a:ext cx="8229600" cy="365760"/>
          </a:xfrm>
          <a:prstGeom prst="rect">
            <a:avLst/>
          </a:prstGeom>
          <a:noFill/>
        </p:spPr>
        <p:txBody>
          <a:bodyPr wrap="none">
            <a:spAutoFit/>
          </a:bodyPr>
          <a:lstStyle/>
          <a:p>
            <a:pPr algn="l"/>
            <a:r>
              <a:rPr sz="900" b="0">
                <a:solidFill>
                  <a:srgbClr val="787878"/>
                </a:solidFill>
                <a:latin typeface="Calibri"/>
              </a:rPr>
              <a:t>HP ProBook 650 G1 — Product Details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229600" cy="640080"/>
          </a:xfrm>
          <a:prstGeom prst="rect">
            <a:avLst/>
          </a:prstGeom>
          <a:noFill/>
        </p:spPr>
        <p:txBody>
          <a:bodyPr wrap="none">
            <a:spAutoFit/>
          </a:bodyPr>
          <a:lstStyle/>
          <a:p>
            <a:r>
              <a:rPr sz="2200" b="1">
                <a:solidFill>
                  <a:srgbClr val="004279"/>
                </a:solidFill>
                <a:latin typeface="Calibri"/>
              </a:rPr>
              <a:t>HP EliteBook 850 G1</a:t>
            </a:r>
          </a:p>
        </p:txBody>
      </p:sp>
      <p:pic>
        <p:nvPicPr>
          <p:cNvPr id="3" name="Picture 2" descr="page_5_img_5.png"/>
          <p:cNvPicPr>
            <a:picLocks noChangeAspect="1"/>
          </p:cNvPicPr>
          <p:nvPr/>
        </p:nvPicPr>
        <p:blipFill>
          <a:blip r:embed="rId2"/>
          <a:stretch>
            <a:fillRect/>
          </a:stretch>
        </p:blipFill>
        <p:spPr>
          <a:xfrm>
            <a:off x="548640" y="1280160"/>
            <a:ext cx="2743200" cy="3108960"/>
          </a:xfrm>
          <a:prstGeom prst="rect">
            <a:avLst/>
          </a:prstGeom>
        </p:spPr>
      </p:pic>
      <p:sp>
        <p:nvSpPr>
          <p:cNvPr id="4" name="TextBox 3"/>
          <p:cNvSpPr txBox="1"/>
          <p:nvPr/>
        </p:nvSpPr>
        <p:spPr>
          <a:xfrm>
            <a:off x="548640" y="4206240"/>
            <a:ext cx="2743200" cy="2286000"/>
          </a:xfrm>
          <a:prstGeom prst="rect">
            <a:avLst/>
          </a:prstGeom>
          <a:noFill/>
        </p:spPr>
        <p:txBody>
          <a:bodyPr wrap="square">
            <a:spAutoFit/>
          </a:bodyPr>
          <a:lstStyle/>
          <a:p>
            <a:r>
              <a:rPr sz="1400" b="1">
                <a:solidFill>
                  <a:srgbClr val="0084B4"/>
                </a:solidFill>
                <a:latin typeface="Calibri"/>
              </a:rPr>
              <a:t>Description:</a:t>
            </a:r>
          </a:p>
          <a:p>
            <a:pPr lvl="1"/>
            <a:r>
              <a:rPr sz="1200" b="0">
                <a:solidFill>
                  <a:srgbClr val="222222"/>
                </a:solidFill>
                <a:latin typeface="Calibri"/>
              </a:rPr>
              <a:t>Now employees can hit the road with a travel pro. The HP EliteBook 850 industry leading Ultrabook™ 21 is ultra-productive in and out of the office. Work with confidence thanks to proven enterprise technologies and enterprise security, performance and management features.</a:t>
            </a:r>
          </a:p>
        </p:txBody>
      </p:sp>
      <p:graphicFrame>
        <p:nvGraphicFramePr>
          <p:cNvPr id="5" name="Table 4"/>
          <p:cNvGraphicFramePr>
            <a:graphicFrameLocks noGrp="1"/>
          </p:cNvGraphicFramePr>
          <p:nvPr/>
        </p:nvGraphicFramePr>
        <p:xfrm>
          <a:off x="3657600" y="1188720"/>
          <a:ext cx="4937760" cy="5029200"/>
        </p:xfrm>
        <a:graphic>
          <a:graphicData uri="http://schemas.openxmlformats.org/drawingml/2006/table">
            <a:tbl>
              <a:tblPr firstRow="1" bandRow="1">
                <a:tableStyleId>{5C22544A-7EE6-4342-B048-85BDC9FD1C3A}</a:tableStyleId>
              </a:tblPr>
              <a:tblGrid>
                <a:gridCol w="2468880"/>
                <a:gridCol w="2468880"/>
              </a:tblGrid>
              <a:tr h="628650">
                <a:tc>
                  <a:txBody>
                    <a:bodyPr/>
                    <a:lstStyle/>
                    <a:p>
                      <a:r>
                        <a:rPr sz="1200" b="1">
                          <a:solidFill>
                            <a:srgbClr val="222222"/>
                          </a:solidFill>
                          <a:latin typeface="Calibri"/>
                        </a:rPr>
                        <a:t>Specification</a:t>
                      </a:r>
                    </a:p>
                  </a:txBody>
                  <a:tcPr/>
                </a:tc>
                <a:tc>
                  <a:txBody>
                    <a:bodyPr/>
                    <a:lstStyle/>
                    <a:p>
                      <a:r>
                        <a:rPr sz="1200" b="1">
                          <a:solidFill>
                            <a:srgbClr val="222222"/>
                          </a:solidFill>
                          <a:latin typeface="Calibri"/>
                        </a:rPr>
                        <a:t>Details</a:t>
                      </a:r>
                    </a:p>
                  </a:txBody>
                  <a:tcPr/>
                </a:tc>
              </a:tr>
              <a:tr h="628650">
                <a:tc>
                  <a:txBody>
                    <a:bodyPr/>
                    <a:lstStyle/>
                    <a:p>
                      <a:r>
                        <a:rPr sz="1000" b="0">
                          <a:solidFill>
                            <a:srgbClr val="222222"/>
                          </a:solidFill>
                          <a:latin typeface="Calibri"/>
                        </a:rPr>
                        <a:t>Ram</a:t>
                      </a:r>
                    </a:p>
                  </a:txBody>
                  <a:tcPr/>
                </a:tc>
                <a:tc>
                  <a:txBody>
                    <a:bodyPr/>
                    <a:lstStyle/>
                    <a:p>
                      <a:r>
                        <a:rPr sz="1000" b="0">
                          <a:solidFill>
                            <a:srgbClr val="222222"/>
                          </a:solidFill>
                          <a:latin typeface="Calibri"/>
                        </a:rPr>
                        <a:t>Upgradeable to 16 GB</a:t>
                      </a:r>
                    </a:p>
                  </a:txBody>
                  <a:tcPr/>
                </a:tc>
              </a:tr>
              <a:tr h="628650">
                <a:tc>
                  <a:txBody>
                    <a:bodyPr/>
                    <a:lstStyle/>
                    <a:p>
                      <a:r>
                        <a:rPr sz="1000" b="0">
                          <a:solidFill>
                            <a:srgbClr val="222222"/>
                          </a:solidFill>
                          <a:latin typeface="Calibri"/>
                        </a:rPr>
                        <a:t>Cpu</a:t>
                      </a:r>
                    </a:p>
                  </a:txBody>
                  <a:tcPr/>
                </a:tc>
                <a:tc>
                  <a:txBody>
                    <a:bodyPr/>
                    <a:lstStyle/>
                    <a:p>
                      <a:r>
                        <a:rPr sz="1000" b="0">
                          <a:solidFill>
                            <a:srgbClr val="222222"/>
                          </a:solidFill>
                          <a:latin typeface="Calibri"/>
                        </a:rPr>
                        <a:t>Chipset integrated with processor</a:t>
                      </a:r>
                    </a:p>
                  </a:txBody>
                  <a:tcPr/>
                </a:tc>
              </a:tr>
              <a:tr h="628650">
                <a:tc>
                  <a:txBody>
                    <a:bodyPr/>
                    <a:lstStyle/>
                    <a:p>
                      <a:r>
                        <a:rPr sz="1000" b="0">
                          <a:solidFill>
                            <a:srgbClr val="222222"/>
                          </a:solidFill>
                          <a:latin typeface="Calibri"/>
                        </a:rPr>
                        <a:t>Display</a:t>
                      </a:r>
                    </a:p>
                  </a:txBody>
                  <a:tcPr/>
                </a:tc>
                <a:tc>
                  <a:txBody>
                    <a:bodyPr/>
                    <a:lstStyle/>
                    <a:p>
                      <a:r>
                        <a:rPr sz="1000" b="0">
                          <a:solidFill>
                            <a:srgbClr val="222222"/>
                          </a:solidFill>
                          <a:latin typeface="Calibri"/>
                        </a:rPr>
                        <a:t>39.6 cm (15.6")</a:t>
                      </a:r>
                    </a:p>
                  </a:txBody>
                  <a:tcPr/>
                </a:tc>
              </a:tr>
              <a:tr h="628650">
                <a:tc>
                  <a:txBody>
                    <a:bodyPr/>
                    <a:lstStyle/>
                    <a:p>
                      <a:r>
                        <a:rPr sz="1000" b="0">
                          <a:solidFill>
                            <a:srgbClr val="222222"/>
                          </a:solidFill>
                          <a:latin typeface="Calibri"/>
                        </a:rPr>
                        <a:t>Battery</a:t>
                      </a:r>
                    </a:p>
                  </a:txBody>
                  <a:tcPr/>
                </a:tc>
                <a:tc>
                  <a:txBody>
                    <a:bodyPr/>
                    <a:lstStyle/>
                    <a:p>
                      <a:r>
                        <a:rPr sz="1000" b="0">
                          <a:solidFill>
                            <a:srgbClr val="222222"/>
                          </a:solidFill>
                          <a:latin typeface="Calibri"/>
                        </a:rPr>
                        <a:t>Primary Battery: 3-cell (24 WHr) HP Long Life; 3-cell (50 WHr) HP Long Life; 6-cell (60 WHr) HP Long Life; Secondary battery life slice; 45W Smart AC adapter; 65W Smart AC adapter; 65W Smart AC adapter; Discrete: 65W Smart AC adapter</a:t>
                      </a:r>
                    </a:p>
                  </a:txBody>
                  <a:tcPr/>
                </a:tc>
              </a:tr>
              <a:tr h="628650">
                <a:tc>
                  <a:txBody>
                    <a:bodyPr/>
                    <a:lstStyle/>
                    <a:p>
                      <a:r>
                        <a:rPr sz="1000" b="0">
                          <a:solidFill>
                            <a:srgbClr val="222222"/>
                          </a:solidFill>
                          <a:latin typeface="Calibri"/>
                        </a:rPr>
                        <a:t>Weight</a:t>
                      </a:r>
                    </a:p>
                  </a:txBody>
                  <a:tcPr/>
                </a:tc>
                <a:tc>
                  <a:txBody>
                    <a:bodyPr/>
                    <a:lstStyle/>
                    <a:p>
                      <a:r>
                        <a:rPr sz="1000" b="0">
                          <a:solidFill>
                            <a:srgbClr val="222222"/>
                          </a:solidFill>
                          <a:latin typeface="Calibri"/>
                        </a:rPr>
                        <a:t>Starting at 1.88 kg</a:t>
                      </a:r>
                    </a:p>
                  </a:txBody>
                  <a:tcPr/>
                </a:tc>
              </a:tr>
              <a:tr h="628650">
                <a:tc>
                  <a:txBody>
                    <a:bodyPr/>
                    <a:lstStyle/>
                    <a:p>
                      <a:r>
                        <a:rPr sz="1000" b="0">
                          <a:solidFill>
                            <a:srgbClr val="222222"/>
                          </a:solidFill>
                          <a:latin typeface="Calibri"/>
                        </a:rPr>
                        <a:t>Ports</a:t>
                      </a:r>
                    </a:p>
                  </a:txBody>
                  <a:tcPr/>
                </a:tc>
                <a:tc>
                  <a:txBody>
                    <a:bodyPr/>
                    <a:lstStyle/>
                    <a:p>
                      <a:r>
                        <a:rPr sz="1000" b="0">
                          <a:solidFill>
                            <a:srgbClr val="222222"/>
                          </a:solidFill>
                          <a:latin typeface="Calibri"/>
                        </a:rPr>
                        <a:t>1 Media Card Reader; 3 USB 3.0; 1 USB 3.0 charging; 1 DisplayPort 1.2; 1 VGA; 1 combo stereo headphone/mic jack; 1 AC power; 1 RJ-45; 1 docking connector; 1 secondary battery connector</a:t>
                      </a:r>
                    </a:p>
                  </a:txBody>
                  <a:tcPr/>
                </a:tc>
              </a:tr>
              <a:tr h="628650">
                <a:tc>
                  <a:txBody>
                    <a:bodyPr/>
                    <a:lstStyle/>
                    <a:p>
                      <a:r>
                        <a:rPr sz="1000" b="0">
                          <a:solidFill>
                            <a:srgbClr val="222222"/>
                          </a:solidFill>
                          <a:latin typeface="Calibri"/>
                        </a:rPr>
                        <a:t>Os</a:t>
                      </a:r>
                    </a:p>
                  </a:txBody>
                  <a:tcPr/>
                </a:tc>
                <a:tc>
                  <a:txBody>
                    <a:bodyPr/>
                    <a:lstStyle/>
                    <a:p>
                      <a:r>
                        <a:rPr sz="1000" b="0">
                          <a:solidFill>
                            <a:srgbClr val="222222"/>
                          </a:solidFill>
                          <a:latin typeface="Calibri"/>
                        </a:rPr>
                        <a:t>Windows 8 Pro or other operating systems available</a:t>
                      </a:r>
                    </a:p>
                  </a:txBody>
                  <a:tcPr/>
                </a:tc>
              </a:tr>
            </a:tbl>
          </a:graphicData>
        </a:graphic>
      </p:graphicFrame>
      <p:sp>
        <p:nvSpPr>
          <p:cNvPr id="6" name="TextBox 5"/>
          <p:cNvSpPr txBox="1"/>
          <p:nvPr/>
        </p:nvSpPr>
        <p:spPr>
          <a:xfrm>
            <a:off x="548640" y="6400800"/>
            <a:ext cx="8229600" cy="365760"/>
          </a:xfrm>
          <a:prstGeom prst="rect">
            <a:avLst/>
          </a:prstGeom>
          <a:noFill/>
        </p:spPr>
        <p:txBody>
          <a:bodyPr wrap="none">
            <a:spAutoFit/>
          </a:bodyPr>
          <a:lstStyle/>
          <a:p>
            <a:pPr algn="l"/>
            <a:r>
              <a:rPr sz="900" b="0">
                <a:solidFill>
                  <a:srgbClr val="787878"/>
                </a:solidFill>
                <a:latin typeface="Calibri"/>
              </a:rPr>
              <a:t>HP EliteBook 850 G1 — Product Details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229600" cy="640080"/>
          </a:xfrm>
          <a:prstGeom prst="rect">
            <a:avLst/>
          </a:prstGeom>
          <a:noFill/>
        </p:spPr>
        <p:txBody>
          <a:bodyPr wrap="none">
            <a:spAutoFit/>
          </a:bodyPr>
          <a:lstStyle/>
          <a:p>
            <a:r>
              <a:rPr sz="2200" b="1">
                <a:solidFill>
                  <a:srgbClr val="004279"/>
                </a:solidFill>
                <a:latin typeface="Calibri"/>
              </a:rPr>
              <a:t>HP EliteBook 840 G1</a:t>
            </a:r>
          </a:p>
        </p:txBody>
      </p:sp>
      <p:pic>
        <p:nvPicPr>
          <p:cNvPr id="3" name="Picture 2" descr="page_5_img_15.png"/>
          <p:cNvPicPr>
            <a:picLocks noChangeAspect="1"/>
          </p:cNvPicPr>
          <p:nvPr/>
        </p:nvPicPr>
        <p:blipFill>
          <a:blip r:embed="rId2"/>
          <a:stretch>
            <a:fillRect/>
          </a:stretch>
        </p:blipFill>
        <p:spPr>
          <a:xfrm>
            <a:off x="548640" y="1280160"/>
            <a:ext cx="2743200" cy="3108960"/>
          </a:xfrm>
          <a:prstGeom prst="rect">
            <a:avLst/>
          </a:prstGeom>
        </p:spPr>
      </p:pic>
      <p:sp>
        <p:nvSpPr>
          <p:cNvPr id="4" name="TextBox 3"/>
          <p:cNvSpPr txBox="1"/>
          <p:nvPr/>
        </p:nvSpPr>
        <p:spPr>
          <a:xfrm>
            <a:off x="548640" y="4206240"/>
            <a:ext cx="2743200" cy="2286000"/>
          </a:xfrm>
          <a:prstGeom prst="rect">
            <a:avLst/>
          </a:prstGeom>
          <a:noFill/>
        </p:spPr>
        <p:txBody>
          <a:bodyPr wrap="square">
            <a:spAutoFit/>
          </a:bodyPr>
          <a:lstStyle/>
          <a:p>
            <a:r>
              <a:rPr sz="1400" b="1">
                <a:solidFill>
                  <a:srgbClr val="0084B4"/>
                </a:solidFill>
                <a:latin typeface="Calibri"/>
              </a:rPr>
              <a:t>Description:</a:t>
            </a:r>
          </a:p>
          <a:p>
            <a:pPr lvl="1"/>
            <a:r>
              <a:rPr sz="1200" b="0">
                <a:solidFill>
                  <a:srgbClr val="222222"/>
                </a:solidFill>
                <a:latin typeface="Calibri"/>
              </a:rPr>
              <a:t>Now employees can hit the road with a travel pro. The HP EliteBook 840 industry leading Ultrabook™ 21 is ultra-productive in and out of the office. Work with confidence thanks to proven enterprise technologies and enterprise security, performance and management features.</a:t>
            </a:r>
          </a:p>
        </p:txBody>
      </p:sp>
      <p:graphicFrame>
        <p:nvGraphicFramePr>
          <p:cNvPr id="5" name="Table 4"/>
          <p:cNvGraphicFramePr>
            <a:graphicFrameLocks noGrp="1"/>
          </p:cNvGraphicFramePr>
          <p:nvPr/>
        </p:nvGraphicFramePr>
        <p:xfrm>
          <a:off x="3657600" y="1188720"/>
          <a:ext cx="4937760" cy="5029200"/>
        </p:xfrm>
        <a:graphic>
          <a:graphicData uri="http://schemas.openxmlformats.org/drawingml/2006/table">
            <a:tbl>
              <a:tblPr firstRow="1" bandRow="1">
                <a:tableStyleId>{5C22544A-7EE6-4342-B048-85BDC9FD1C3A}</a:tableStyleId>
              </a:tblPr>
              <a:tblGrid>
                <a:gridCol w="2468880"/>
                <a:gridCol w="2468880"/>
              </a:tblGrid>
              <a:tr h="628650">
                <a:tc>
                  <a:txBody>
                    <a:bodyPr/>
                    <a:lstStyle/>
                    <a:p>
                      <a:r>
                        <a:rPr sz="1200" b="1">
                          <a:solidFill>
                            <a:srgbClr val="222222"/>
                          </a:solidFill>
                          <a:latin typeface="Calibri"/>
                        </a:rPr>
                        <a:t>Specification</a:t>
                      </a:r>
                    </a:p>
                  </a:txBody>
                  <a:tcPr/>
                </a:tc>
                <a:tc>
                  <a:txBody>
                    <a:bodyPr/>
                    <a:lstStyle/>
                    <a:p>
                      <a:r>
                        <a:rPr sz="1200" b="1">
                          <a:solidFill>
                            <a:srgbClr val="222222"/>
                          </a:solidFill>
                          <a:latin typeface="Calibri"/>
                        </a:rPr>
                        <a:t>Details</a:t>
                      </a:r>
                    </a:p>
                  </a:txBody>
                  <a:tcPr/>
                </a:tc>
              </a:tr>
              <a:tr h="628650">
                <a:tc>
                  <a:txBody>
                    <a:bodyPr/>
                    <a:lstStyle/>
                    <a:p>
                      <a:r>
                        <a:rPr sz="1000" b="0">
                          <a:solidFill>
                            <a:srgbClr val="222222"/>
                          </a:solidFill>
                          <a:latin typeface="Calibri"/>
                        </a:rPr>
                        <a:t>Ram</a:t>
                      </a:r>
                    </a:p>
                  </a:txBody>
                  <a:tcPr/>
                </a:tc>
                <a:tc>
                  <a:txBody>
                    <a:bodyPr/>
                    <a:lstStyle/>
                    <a:p>
                      <a:r>
                        <a:rPr sz="1000" b="0">
                          <a:solidFill>
                            <a:srgbClr val="222222"/>
                          </a:solidFill>
                          <a:latin typeface="Calibri"/>
                        </a:rPr>
                        <a:t>Upgradeable to 16 GB</a:t>
                      </a:r>
                    </a:p>
                  </a:txBody>
                  <a:tcPr/>
                </a:tc>
              </a:tr>
              <a:tr h="628650">
                <a:tc>
                  <a:txBody>
                    <a:bodyPr/>
                    <a:lstStyle/>
                    <a:p>
                      <a:r>
                        <a:rPr sz="1000" b="0">
                          <a:solidFill>
                            <a:srgbClr val="222222"/>
                          </a:solidFill>
                          <a:latin typeface="Calibri"/>
                        </a:rPr>
                        <a:t>Cpu</a:t>
                      </a:r>
                    </a:p>
                  </a:txBody>
                  <a:tcPr/>
                </a:tc>
                <a:tc>
                  <a:txBody>
                    <a:bodyPr/>
                    <a:lstStyle/>
                    <a:p>
                      <a:r>
                        <a:rPr sz="1000" b="0">
                          <a:solidFill>
                            <a:srgbClr val="222222"/>
                          </a:solidFill>
                          <a:latin typeface="Calibri"/>
                        </a:rPr>
                        <a:t>Chipset integrated with processor</a:t>
                      </a:r>
                    </a:p>
                  </a:txBody>
                  <a:tcPr/>
                </a:tc>
              </a:tr>
              <a:tr h="628650">
                <a:tc>
                  <a:txBody>
                    <a:bodyPr/>
                    <a:lstStyle/>
                    <a:p>
                      <a:r>
                        <a:rPr sz="1000" b="0">
                          <a:solidFill>
                            <a:srgbClr val="222222"/>
                          </a:solidFill>
                          <a:latin typeface="Calibri"/>
                        </a:rPr>
                        <a:t>Display</a:t>
                      </a:r>
                    </a:p>
                  </a:txBody>
                  <a:tcPr/>
                </a:tc>
                <a:tc>
                  <a:txBody>
                    <a:bodyPr/>
                    <a:lstStyle/>
                    <a:p>
                      <a:r>
                        <a:rPr sz="1000" b="0">
                          <a:solidFill>
                            <a:srgbClr val="222222"/>
                          </a:solidFill>
                          <a:latin typeface="Calibri"/>
                        </a:rPr>
                        <a:t>35.6 cm (14")</a:t>
                      </a:r>
                    </a:p>
                  </a:txBody>
                  <a:tcPr/>
                </a:tc>
              </a:tr>
              <a:tr h="628650">
                <a:tc>
                  <a:txBody>
                    <a:bodyPr/>
                    <a:lstStyle/>
                    <a:p>
                      <a:r>
                        <a:rPr sz="1000" b="0">
                          <a:solidFill>
                            <a:srgbClr val="222222"/>
                          </a:solidFill>
                          <a:latin typeface="Calibri"/>
                        </a:rPr>
                        <a:t>Battery</a:t>
                      </a:r>
                    </a:p>
                  </a:txBody>
                  <a:tcPr/>
                </a:tc>
                <a:tc>
                  <a:txBody>
                    <a:bodyPr/>
                    <a:lstStyle/>
                    <a:p>
                      <a:r>
                        <a:rPr sz="1000" b="0">
                          <a:solidFill>
                            <a:srgbClr val="222222"/>
                          </a:solidFill>
                          <a:latin typeface="Calibri"/>
                        </a:rPr>
                        <a:t>Primary Battery: 3-cell (24 WHr) HP Long Life; 3-cell (50 WHr) HP Long Life; 6-cell (60 WHr) HP Long Life; Secondary battery life slice; 45W Smart AC adapter; 65W Smart AC adapter; 65W Smart AC adapter; Discrete: 65W Smart AC adapter</a:t>
                      </a:r>
                    </a:p>
                  </a:txBody>
                  <a:tcPr/>
                </a:tc>
              </a:tr>
              <a:tr h="628650">
                <a:tc>
                  <a:txBody>
                    <a:bodyPr/>
                    <a:lstStyle/>
                    <a:p>
                      <a:r>
                        <a:rPr sz="1000" b="0">
                          <a:solidFill>
                            <a:srgbClr val="222222"/>
                          </a:solidFill>
                          <a:latin typeface="Calibri"/>
                        </a:rPr>
                        <a:t>Weight</a:t>
                      </a:r>
                    </a:p>
                  </a:txBody>
                  <a:tcPr/>
                </a:tc>
                <a:tc>
                  <a:txBody>
                    <a:bodyPr/>
                    <a:lstStyle/>
                    <a:p>
                      <a:r>
                        <a:rPr sz="1000" b="0">
                          <a:solidFill>
                            <a:srgbClr val="222222"/>
                          </a:solidFill>
                          <a:latin typeface="Calibri"/>
                        </a:rPr>
                        <a:t>Starting at 1.58 kg</a:t>
                      </a:r>
                    </a:p>
                  </a:txBody>
                  <a:tcPr/>
                </a:tc>
              </a:tr>
              <a:tr h="628650">
                <a:tc>
                  <a:txBody>
                    <a:bodyPr/>
                    <a:lstStyle/>
                    <a:p>
                      <a:r>
                        <a:rPr sz="1000" b="0">
                          <a:solidFill>
                            <a:srgbClr val="222222"/>
                          </a:solidFill>
                          <a:latin typeface="Calibri"/>
                        </a:rPr>
                        <a:t>Ports</a:t>
                      </a:r>
                    </a:p>
                  </a:txBody>
                  <a:tcPr/>
                </a:tc>
                <a:tc>
                  <a:txBody>
                    <a:bodyPr/>
                    <a:lstStyle/>
                    <a:p>
                      <a:r>
                        <a:rPr sz="1000" b="0">
                          <a:solidFill>
                            <a:srgbClr val="222222"/>
                          </a:solidFill>
                          <a:latin typeface="Calibri"/>
                        </a:rPr>
                        <a:t>1 Media Card Reader; 3 USB 3.0; 1 USB 3.0 charging; 1 DisplayPort 1.2; 1 VGA; 1 combo stereo headphone/mic jack; 1 AC power; 1 RJ-45; 1 side docking connector</a:t>
                      </a:r>
                    </a:p>
                  </a:txBody>
                  <a:tcPr/>
                </a:tc>
              </a:tr>
              <a:tr h="628650">
                <a:tc>
                  <a:txBody>
                    <a:bodyPr/>
                    <a:lstStyle/>
                    <a:p>
                      <a:r>
                        <a:rPr sz="1000" b="0">
                          <a:solidFill>
                            <a:srgbClr val="222222"/>
                          </a:solidFill>
                          <a:latin typeface="Calibri"/>
                        </a:rPr>
                        <a:t>Os</a:t>
                      </a:r>
                    </a:p>
                  </a:txBody>
                  <a:tcPr/>
                </a:tc>
                <a:tc>
                  <a:txBody>
                    <a:bodyPr/>
                    <a:lstStyle/>
                    <a:p>
                      <a:r>
                        <a:rPr sz="1000" b="0">
                          <a:solidFill>
                            <a:srgbClr val="222222"/>
                          </a:solidFill>
                          <a:latin typeface="Calibri"/>
                        </a:rPr>
                        <a:t>Windows 8 Pro or other operating systems available</a:t>
                      </a:r>
                    </a:p>
                  </a:txBody>
                  <a:tcPr/>
                </a:tc>
              </a:tr>
            </a:tbl>
          </a:graphicData>
        </a:graphic>
      </p:graphicFrame>
      <p:sp>
        <p:nvSpPr>
          <p:cNvPr id="6" name="TextBox 5"/>
          <p:cNvSpPr txBox="1"/>
          <p:nvPr/>
        </p:nvSpPr>
        <p:spPr>
          <a:xfrm>
            <a:off x="548640" y="6400800"/>
            <a:ext cx="8229600" cy="365760"/>
          </a:xfrm>
          <a:prstGeom prst="rect">
            <a:avLst/>
          </a:prstGeom>
          <a:noFill/>
        </p:spPr>
        <p:txBody>
          <a:bodyPr wrap="none">
            <a:spAutoFit/>
          </a:bodyPr>
          <a:lstStyle/>
          <a:p>
            <a:pPr algn="l"/>
            <a:r>
              <a:rPr sz="900" b="0">
                <a:solidFill>
                  <a:srgbClr val="787878"/>
                </a:solidFill>
                <a:latin typeface="Calibri"/>
              </a:rPr>
              <a:t>HP EliteBook 840 G1 — Product Details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229600" cy="640080"/>
          </a:xfrm>
          <a:prstGeom prst="rect">
            <a:avLst/>
          </a:prstGeom>
          <a:noFill/>
        </p:spPr>
        <p:txBody>
          <a:bodyPr wrap="none">
            <a:spAutoFit/>
          </a:bodyPr>
          <a:lstStyle/>
          <a:p>
            <a:r>
              <a:rPr sz="2200" b="1">
                <a:solidFill>
                  <a:srgbClr val="004279"/>
                </a:solidFill>
                <a:latin typeface="Calibri"/>
              </a:rPr>
              <a:t>HP ProBook 655 G1</a:t>
            </a:r>
          </a:p>
        </p:txBody>
      </p:sp>
      <p:pic>
        <p:nvPicPr>
          <p:cNvPr id="3" name="Picture 2" descr="page_5_img_14.png"/>
          <p:cNvPicPr>
            <a:picLocks noChangeAspect="1"/>
          </p:cNvPicPr>
          <p:nvPr/>
        </p:nvPicPr>
        <p:blipFill>
          <a:blip r:embed="rId2"/>
          <a:stretch>
            <a:fillRect/>
          </a:stretch>
        </p:blipFill>
        <p:spPr>
          <a:xfrm>
            <a:off x="548640" y="1280160"/>
            <a:ext cx="2743200" cy="3108960"/>
          </a:xfrm>
          <a:prstGeom prst="rect">
            <a:avLst/>
          </a:prstGeom>
        </p:spPr>
      </p:pic>
      <p:sp>
        <p:nvSpPr>
          <p:cNvPr id="4" name="TextBox 3"/>
          <p:cNvSpPr txBox="1"/>
          <p:nvPr/>
        </p:nvSpPr>
        <p:spPr>
          <a:xfrm>
            <a:off x="548640" y="4206240"/>
            <a:ext cx="2743200" cy="2286000"/>
          </a:xfrm>
          <a:prstGeom prst="rect">
            <a:avLst/>
          </a:prstGeom>
          <a:noFill/>
        </p:spPr>
        <p:txBody>
          <a:bodyPr wrap="square">
            <a:spAutoFit/>
          </a:bodyPr>
          <a:lstStyle/>
          <a:p>
            <a:r>
              <a:rPr sz="1400" b="1">
                <a:solidFill>
                  <a:srgbClr val="0084B4"/>
                </a:solidFill>
                <a:latin typeface="Calibri"/>
              </a:rPr>
              <a:t>Description:</a:t>
            </a:r>
          </a:p>
          <a:p>
            <a:pPr lvl="1"/>
            <a:r>
              <a:rPr sz="1200" b="0">
                <a:solidFill>
                  <a:srgbClr val="222222"/>
                </a:solidFill>
                <a:latin typeface="Calibri"/>
              </a:rPr>
              <a:t>Challenge the Status Quo. Optimised for Windows 8 Pro. 2 this configurable laptop touts a 39.6 cm diagonal display, UMA graphics and AMD's latest technology. The professional design and HP 3D DriveGuard help protect your data from mobile use.</a:t>
            </a:r>
          </a:p>
        </p:txBody>
      </p:sp>
      <p:graphicFrame>
        <p:nvGraphicFramePr>
          <p:cNvPr id="5" name="Table 4"/>
          <p:cNvGraphicFramePr>
            <a:graphicFrameLocks noGrp="1"/>
          </p:cNvGraphicFramePr>
          <p:nvPr/>
        </p:nvGraphicFramePr>
        <p:xfrm>
          <a:off x="3657600" y="1188720"/>
          <a:ext cx="4937760" cy="5029200"/>
        </p:xfrm>
        <a:graphic>
          <a:graphicData uri="http://schemas.openxmlformats.org/drawingml/2006/table">
            <a:tbl>
              <a:tblPr firstRow="1" bandRow="1">
                <a:tableStyleId>{5C22544A-7EE6-4342-B048-85BDC9FD1C3A}</a:tableStyleId>
              </a:tblPr>
              <a:tblGrid>
                <a:gridCol w="2468880"/>
                <a:gridCol w="2468880"/>
              </a:tblGrid>
              <a:tr h="502920">
                <a:tc>
                  <a:txBody>
                    <a:bodyPr/>
                    <a:lstStyle/>
                    <a:p>
                      <a:r>
                        <a:rPr sz="1200" b="1">
                          <a:solidFill>
                            <a:srgbClr val="222222"/>
                          </a:solidFill>
                          <a:latin typeface="Calibri"/>
                        </a:rPr>
                        <a:t>Specification</a:t>
                      </a:r>
                    </a:p>
                  </a:txBody>
                  <a:tcPr/>
                </a:tc>
                <a:tc>
                  <a:txBody>
                    <a:bodyPr/>
                    <a:lstStyle/>
                    <a:p>
                      <a:r>
                        <a:rPr sz="1200" b="1">
                          <a:solidFill>
                            <a:srgbClr val="222222"/>
                          </a:solidFill>
                          <a:latin typeface="Calibri"/>
                        </a:rPr>
                        <a:t>Details</a:t>
                      </a:r>
                    </a:p>
                  </a:txBody>
                  <a:tcPr/>
                </a:tc>
              </a:tr>
              <a:tr h="502920">
                <a:tc>
                  <a:txBody>
                    <a:bodyPr/>
                    <a:lstStyle/>
                    <a:p>
                      <a:r>
                        <a:rPr sz="1000" b="0">
                          <a:solidFill>
                            <a:srgbClr val="222222"/>
                          </a:solidFill>
                          <a:latin typeface="Calibri"/>
                        </a:rPr>
                        <a:t>Ram</a:t>
                      </a:r>
                    </a:p>
                  </a:txBody>
                  <a:tcPr/>
                </a:tc>
                <a:tc>
                  <a:txBody>
                    <a:bodyPr/>
                    <a:lstStyle/>
                    <a:p>
                      <a:r>
                        <a:rPr sz="1000" b="0">
                          <a:solidFill>
                            <a:srgbClr val="222222"/>
                          </a:solidFill>
                          <a:latin typeface="Calibri"/>
                        </a:rPr>
                        <a:t>Upgradeable to 16 GB</a:t>
                      </a:r>
                    </a:p>
                  </a:txBody>
                  <a:tcPr/>
                </a:tc>
              </a:tr>
              <a:tr h="502920">
                <a:tc>
                  <a:txBody>
                    <a:bodyPr/>
                    <a:lstStyle/>
                    <a:p>
                      <a:r>
                        <a:rPr sz="1000" b="0">
                          <a:solidFill>
                            <a:srgbClr val="222222"/>
                          </a:solidFill>
                          <a:latin typeface="Calibri"/>
                        </a:rPr>
                        <a:t>Cpu</a:t>
                      </a:r>
                    </a:p>
                  </a:txBody>
                  <a:tcPr/>
                </a:tc>
                <a:tc>
                  <a:txBody>
                    <a:bodyPr/>
                    <a:lstStyle/>
                    <a:p>
                      <a:r>
                        <a:rPr sz="1000" b="0">
                          <a:solidFill>
                            <a:srgbClr val="222222"/>
                          </a:solidFill>
                          <a:latin typeface="Calibri"/>
                        </a:rPr>
                        <a:t>AMD's latest technology</a:t>
                      </a:r>
                    </a:p>
                  </a:txBody>
                  <a:tcPr/>
                </a:tc>
              </a:tr>
              <a:tr h="502920">
                <a:tc>
                  <a:txBody>
                    <a:bodyPr/>
                    <a:lstStyle/>
                    <a:p>
                      <a:r>
                        <a:rPr sz="1000" b="0">
                          <a:solidFill>
                            <a:srgbClr val="222222"/>
                          </a:solidFill>
                          <a:latin typeface="Calibri"/>
                        </a:rPr>
                        <a:t>Gpu</a:t>
                      </a:r>
                    </a:p>
                  </a:txBody>
                  <a:tcPr/>
                </a:tc>
                <a:tc>
                  <a:txBody>
                    <a:bodyPr/>
                    <a:lstStyle/>
                    <a:p>
                      <a:r>
                        <a:rPr sz="1000" b="0">
                          <a:solidFill>
                            <a:srgbClr val="222222"/>
                          </a:solidFill>
                          <a:latin typeface="Calibri"/>
                        </a:rPr>
                        <a:t>UMA graphics</a:t>
                      </a:r>
                    </a:p>
                  </a:txBody>
                  <a:tcPr/>
                </a:tc>
              </a:tr>
              <a:tr h="502920">
                <a:tc>
                  <a:txBody>
                    <a:bodyPr/>
                    <a:lstStyle/>
                    <a:p>
                      <a:r>
                        <a:rPr sz="1000" b="0">
                          <a:solidFill>
                            <a:srgbClr val="222222"/>
                          </a:solidFill>
                          <a:latin typeface="Calibri"/>
                        </a:rPr>
                        <a:t>Storage</a:t>
                      </a:r>
                    </a:p>
                  </a:txBody>
                  <a:tcPr/>
                </a:tc>
                <a:tc>
                  <a:txBody>
                    <a:bodyPr/>
                    <a:lstStyle/>
                    <a:p>
                      <a:r>
                        <a:rPr sz="1000" b="0">
                          <a:solidFill>
                            <a:srgbClr val="222222"/>
                          </a:solidFill>
                          <a:latin typeface="Calibri"/>
                        </a:rPr>
                        <a:t>HP 3D DriveGuard</a:t>
                      </a:r>
                    </a:p>
                  </a:txBody>
                  <a:tcPr/>
                </a:tc>
              </a:tr>
              <a:tr h="502920">
                <a:tc>
                  <a:txBody>
                    <a:bodyPr/>
                    <a:lstStyle/>
                    <a:p>
                      <a:r>
                        <a:rPr sz="1000" b="0">
                          <a:solidFill>
                            <a:srgbClr val="222222"/>
                          </a:solidFill>
                          <a:latin typeface="Calibri"/>
                        </a:rPr>
                        <a:t>Display</a:t>
                      </a:r>
                    </a:p>
                  </a:txBody>
                  <a:tcPr/>
                </a:tc>
                <a:tc>
                  <a:txBody>
                    <a:bodyPr/>
                    <a:lstStyle/>
                    <a:p>
                      <a:r>
                        <a:rPr sz="1000" b="0">
                          <a:solidFill>
                            <a:srgbClr val="222222"/>
                          </a:solidFill>
                          <a:latin typeface="Calibri"/>
                        </a:rPr>
                        <a:t>39.6 cm diagonal</a:t>
                      </a:r>
                    </a:p>
                  </a:txBody>
                  <a:tcPr/>
                </a:tc>
              </a:tr>
              <a:tr h="502920">
                <a:tc>
                  <a:txBody>
                    <a:bodyPr/>
                    <a:lstStyle/>
                    <a:p>
                      <a:r>
                        <a:rPr sz="1000" b="0">
                          <a:solidFill>
                            <a:srgbClr val="222222"/>
                          </a:solidFill>
                          <a:latin typeface="Calibri"/>
                        </a:rPr>
                        <a:t>Battery</a:t>
                      </a:r>
                    </a:p>
                  </a:txBody>
                  <a:tcPr/>
                </a:tc>
                <a:tc>
                  <a:txBody>
                    <a:bodyPr/>
                    <a:lstStyle/>
                    <a:p>
                      <a:r>
                        <a:rPr sz="1000" b="0">
                          <a:solidFill>
                            <a:srgbClr val="222222"/>
                          </a:solidFill>
                          <a:latin typeface="Calibri"/>
                        </a:rPr>
                        <a:t>90W Smart AC Adapter (discrete); 65W Smart AC Adapter (integrated); HP Fast Charge (not supported on 9-cell primary or secondary batteries)</a:t>
                      </a:r>
                    </a:p>
                  </a:txBody>
                  <a:tcPr/>
                </a:tc>
              </a:tr>
              <a:tr h="502920">
                <a:tc>
                  <a:txBody>
                    <a:bodyPr/>
                    <a:lstStyle/>
                    <a:p>
                      <a:r>
                        <a:rPr sz="1000" b="0">
                          <a:solidFill>
                            <a:srgbClr val="222222"/>
                          </a:solidFill>
                          <a:latin typeface="Calibri"/>
                        </a:rPr>
                        <a:t>Weight</a:t>
                      </a:r>
                    </a:p>
                  </a:txBody>
                  <a:tcPr/>
                </a:tc>
                <a:tc>
                  <a:txBody>
                    <a:bodyPr/>
                    <a:lstStyle/>
                    <a:p>
                      <a:r>
                        <a:rPr sz="1000" b="0">
                          <a:solidFill>
                            <a:srgbClr val="222222"/>
                          </a:solidFill>
                          <a:latin typeface="Calibri"/>
                        </a:rPr>
                        <a:t>Starting at 2.32 kg</a:t>
                      </a:r>
                    </a:p>
                  </a:txBody>
                  <a:tcPr/>
                </a:tc>
              </a:tr>
              <a:tr h="502920">
                <a:tc>
                  <a:txBody>
                    <a:bodyPr/>
                    <a:lstStyle/>
                    <a:p>
                      <a:r>
                        <a:rPr sz="1000" b="0">
                          <a:solidFill>
                            <a:srgbClr val="222222"/>
                          </a:solidFill>
                          <a:latin typeface="Calibri"/>
                        </a:rPr>
                        <a:t>Ports</a:t>
                      </a:r>
                    </a:p>
                  </a:txBody>
                  <a:tcPr/>
                </a:tc>
                <a:tc>
                  <a:txBody>
                    <a:bodyPr/>
                    <a:lstStyle/>
                    <a:p>
                      <a:r>
                        <a:rPr sz="1000" b="0">
                          <a:solidFill>
                            <a:srgbClr val="222222"/>
                          </a:solidFill>
                          <a:latin typeface="Calibri"/>
                        </a:rPr>
                        <a:t>1 ExpressCard/54; 1 Secure Digital; 2 USB 3.0; 2 USB 2.0; 1 stereo microphone in; 1 stereo headphone/line-out; 1 1394a; 1 AC power; 1 RJ-45; 1 docking connector; 1 secondary battery connector; 1 VGA; 1 serial; 1 RJ-11 (optional)</a:t>
                      </a:r>
                    </a:p>
                  </a:txBody>
                  <a:tcPr/>
                </a:tc>
              </a:tr>
              <a:tr h="502920">
                <a:tc>
                  <a:txBody>
                    <a:bodyPr/>
                    <a:lstStyle/>
                    <a:p>
                      <a:r>
                        <a:rPr sz="1000" b="0">
                          <a:solidFill>
                            <a:srgbClr val="222222"/>
                          </a:solidFill>
                          <a:latin typeface="Calibri"/>
                        </a:rPr>
                        <a:t>Os</a:t>
                      </a:r>
                    </a:p>
                  </a:txBody>
                  <a:tcPr/>
                </a:tc>
                <a:tc>
                  <a:txBody>
                    <a:bodyPr/>
                    <a:lstStyle/>
                    <a:p>
                      <a:r>
                        <a:rPr sz="1000" b="0">
                          <a:solidFill>
                            <a:srgbClr val="222222"/>
                          </a:solidFill>
                          <a:latin typeface="Calibri"/>
                        </a:rPr>
                        <a:t>Windows 8 Pro</a:t>
                      </a:r>
                    </a:p>
                  </a:txBody>
                  <a:tcPr/>
                </a:tc>
              </a:tr>
            </a:tbl>
          </a:graphicData>
        </a:graphic>
      </p:graphicFrame>
      <p:sp>
        <p:nvSpPr>
          <p:cNvPr id="6" name="TextBox 5"/>
          <p:cNvSpPr txBox="1"/>
          <p:nvPr/>
        </p:nvSpPr>
        <p:spPr>
          <a:xfrm>
            <a:off x="548640" y="6400800"/>
            <a:ext cx="8229600" cy="365760"/>
          </a:xfrm>
          <a:prstGeom prst="rect">
            <a:avLst/>
          </a:prstGeom>
          <a:noFill/>
        </p:spPr>
        <p:txBody>
          <a:bodyPr wrap="none">
            <a:spAutoFit/>
          </a:bodyPr>
          <a:lstStyle/>
          <a:p>
            <a:pPr algn="l"/>
            <a:r>
              <a:rPr sz="900" b="0">
                <a:solidFill>
                  <a:srgbClr val="787878"/>
                </a:solidFill>
                <a:latin typeface="Calibri"/>
              </a:rPr>
              <a:t>HP ProBook 655 G1 — Product Details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457200"/>
            <a:ext cx="8229600" cy="640080"/>
          </a:xfrm>
          <a:prstGeom prst="rect">
            <a:avLst/>
          </a:prstGeom>
          <a:noFill/>
        </p:spPr>
        <p:txBody>
          <a:bodyPr wrap="none">
            <a:spAutoFit/>
          </a:bodyPr>
          <a:lstStyle/>
          <a:p>
            <a:r>
              <a:rPr sz="2200" b="1">
                <a:solidFill>
                  <a:srgbClr val="004279"/>
                </a:solidFill>
                <a:latin typeface="Calibri"/>
              </a:rPr>
              <a:t>Product Comparison</a:t>
            </a:r>
          </a:p>
        </p:txBody>
      </p:sp>
      <p:graphicFrame>
        <p:nvGraphicFramePr>
          <p:cNvPr id="3" name="Table 2"/>
          <p:cNvGraphicFramePr>
            <a:graphicFrameLocks noGrp="1"/>
          </p:cNvGraphicFramePr>
          <p:nvPr/>
        </p:nvGraphicFramePr>
        <p:xfrm>
          <a:off x="274320" y="1188720"/>
          <a:ext cx="8595360" cy="4937760"/>
        </p:xfrm>
        <a:graphic>
          <a:graphicData uri="http://schemas.openxmlformats.org/drawingml/2006/table">
            <a:tbl>
              <a:tblPr firstRow="1" bandRow="1">
                <a:tableStyleId>{5C22544A-7EE6-4342-B048-85BDC9FD1C3A}</a:tableStyleId>
              </a:tblPr>
              <a:tblGrid>
                <a:gridCol w="1432560"/>
                <a:gridCol w="1432560"/>
                <a:gridCol w="1432560"/>
                <a:gridCol w="1432560"/>
                <a:gridCol w="1432560"/>
                <a:gridCol w="1432560"/>
              </a:tblGrid>
              <a:tr h="493776">
                <a:tc>
                  <a:txBody>
                    <a:bodyPr/>
                    <a:lstStyle/>
                    <a:p>
                      <a:r>
                        <a:rPr sz="1100" b="1">
                          <a:solidFill>
                            <a:srgbClr val="222222"/>
                          </a:solidFill>
                          <a:latin typeface="Calibri"/>
                        </a:rPr>
                        <a:t>Feature</a:t>
                      </a:r>
                    </a:p>
                  </a:txBody>
                  <a:tcPr/>
                </a:tc>
                <a:tc>
                  <a:txBody>
                    <a:bodyPr/>
                    <a:lstStyle/>
                    <a:p>
                      <a:r>
                        <a:rPr sz="1100" b="1">
                          <a:solidFill>
                            <a:srgbClr val="222222"/>
                          </a:solidFill>
                          <a:latin typeface="Calibri"/>
                        </a:rPr>
                        <a:t>HP ProBook 640 G1</a:t>
                      </a:r>
                    </a:p>
                  </a:txBody>
                  <a:tcPr/>
                </a:tc>
                <a:tc>
                  <a:txBody>
                    <a:bodyPr/>
                    <a:lstStyle/>
                    <a:p>
                      <a:r>
                        <a:rPr sz="1100" b="1">
                          <a:solidFill>
                            <a:srgbClr val="222222"/>
                          </a:solidFill>
                          <a:latin typeface="Calibri"/>
                        </a:rPr>
                        <a:t>HP ProBook 650 G1</a:t>
                      </a:r>
                    </a:p>
                  </a:txBody>
                  <a:tcPr/>
                </a:tc>
                <a:tc>
                  <a:txBody>
                    <a:bodyPr/>
                    <a:lstStyle/>
                    <a:p>
                      <a:r>
                        <a:rPr sz="1100" b="1">
                          <a:solidFill>
                            <a:srgbClr val="222222"/>
                          </a:solidFill>
                          <a:latin typeface="Calibri"/>
                        </a:rPr>
                        <a:t>HP EliteBook 850 G1</a:t>
                      </a:r>
                    </a:p>
                  </a:txBody>
                  <a:tcPr/>
                </a:tc>
                <a:tc>
                  <a:txBody>
                    <a:bodyPr/>
                    <a:lstStyle/>
                    <a:p>
                      <a:r>
                        <a:rPr sz="1100" b="1">
                          <a:solidFill>
                            <a:srgbClr val="222222"/>
                          </a:solidFill>
                          <a:latin typeface="Calibri"/>
                        </a:rPr>
                        <a:t>HP EliteBook 840 G1</a:t>
                      </a:r>
                    </a:p>
                  </a:txBody>
                  <a:tcPr/>
                </a:tc>
                <a:tc>
                  <a:txBody>
                    <a:bodyPr/>
                    <a:lstStyle/>
                    <a:p>
                      <a:r>
                        <a:rPr sz="1100" b="1">
                          <a:solidFill>
                            <a:srgbClr val="222222"/>
                          </a:solidFill>
                          <a:latin typeface="Calibri"/>
                        </a:rPr>
                        <a:t>HP ProBook 655 G1</a:t>
                      </a:r>
                    </a:p>
                  </a:txBody>
                  <a:tcPr/>
                </a:tc>
              </a:tr>
              <a:tr h="493776">
                <a:tc>
                  <a:txBody>
                    <a:bodyPr/>
                    <a:lstStyle/>
                    <a:p>
                      <a:r>
                        <a:rPr sz="1000" b="1">
                          <a:solidFill>
                            <a:srgbClr val="222222"/>
                          </a:solidFill>
                          <a:latin typeface="Calibri"/>
                        </a:rPr>
                        <a:t>Battery</a:t>
                      </a:r>
                    </a:p>
                  </a:txBody>
                  <a:tcPr/>
                </a:tc>
                <a:tc>
                  <a:txBody>
                    <a:bodyPr/>
                    <a:lstStyle/>
                    <a:p>
                      <a:r>
                        <a:rPr sz="900" b="0">
                          <a:solidFill>
                            <a:srgbClr val="222222"/>
                          </a:solidFill>
                          <a:latin typeface="Calibri"/>
                        </a:rPr>
                        <a:t>90W Smart AC Adapter (discrete); 65W Smart AC Adapter (integrated); HP Fast Charge (not supported on 9-cell primary or secondary batteries)</a:t>
                      </a:r>
                    </a:p>
                  </a:txBody>
                  <a:tcPr/>
                </a:tc>
                <a:tc>
                  <a:txBody>
                    <a:bodyPr/>
                    <a:lstStyle/>
                    <a:p>
                      <a:r>
                        <a:rPr sz="900" b="0">
                          <a:solidFill>
                            <a:srgbClr val="222222"/>
                          </a:solidFill>
                          <a:latin typeface="Calibri"/>
                        </a:rPr>
                        <a:t>90W Smart AC Adapter (discrete); 65W Smart AC Adapter (integrated); HP Fast Charge (not supported on 9-cell primary or secondary batteries)</a:t>
                      </a:r>
                    </a:p>
                  </a:txBody>
                  <a:tcPr/>
                </a:tc>
                <a:tc>
                  <a:txBody>
                    <a:bodyPr/>
                    <a:lstStyle/>
                    <a:p>
                      <a:r>
                        <a:rPr sz="900" b="0">
                          <a:solidFill>
                            <a:srgbClr val="222222"/>
                          </a:solidFill>
                          <a:latin typeface="Calibri"/>
                        </a:rPr>
                        <a:t>Primary Battery: 3-cell (24 WHr) HP Long Life; 3-cell (50 WHr) HP Long Life; 6-cell (60 WHr) HP Long Life; Secondary battery life slice; 45W Smart AC adapter; 65W Smart AC adapter; 65W Smart AC adapter; Discrete: 65W Smart AC adapter</a:t>
                      </a:r>
                    </a:p>
                  </a:txBody>
                  <a:tcPr/>
                </a:tc>
                <a:tc>
                  <a:txBody>
                    <a:bodyPr/>
                    <a:lstStyle/>
                    <a:p>
                      <a:r>
                        <a:rPr sz="900" b="0">
                          <a:solidFill>
                            <a:srgbClr val="222222"/>
                          </a:solidFill>
                          <a:latin typeface="Calibri"/>
                        </a:rPr>
                        <a:t>Primary Battery: 3-cell (24 WHr) HP Long Life; 3-cell (50 WHr) HP Long Life; 6-cell (60 WHr) HP Long Life; Secondary battery life slice; 45W Smart AC adapter; 65W Smart AC adapter; 65W Smart AC adapter; Discrete: 65W Smart AC adapter</a:t>
                      </a:r>
                    </a:p>
                  </a:txBody>
                  <a:tcPr/>
                </a:tc>
                <a:tc>
                  <a:txBody>
                    <a:bodyPr/>
                    <a:lstStyle/>
                    <a:p>
                      <a:r>
                        <a:rPr sz="900" b="0">
                          <a:solidFill>
                            <a:srgbClr val="222222"/>
                          </a:solidFill>
                          <a:latin typeface="Calibri"/>
                        </a:rPr>
                        <a:t>90W Smart AC Adapter (discrete); 65W Smart AC Adapter (integrated); HP Fast Charge (not supported on 9-cell primary or secondary batteries)</a:t>
                      </a:r>
                    </a:p>
                  </a:txBody>
                  <a:tcPr/>
                </a:tc>
              </a:tr>
              <a:tr h="493776">
                <a:tc>
                  <a:txBody>
                    <a:bodyPr/>
                    <a:lstStyle/>
                    <a:p>
                      <a:r>
                        <a:rPr sz="1000" b="1">
                          <a:solidFill>
                            <a:srgbClr val="222222"/>
                          </a:solidFill>
                          <a:latin typeface="Calibri"/>
                        </a:rPr>
                        <a:t>Cpu</a:t>
                      </a:r>
                    </a:p>
                  </a:txBody>
                  <a:tcPr/>
                </a:tc>
                <a:tc>
                  <a:txBody>
                    <a:bodyPr/>
                    <a:lstStyle/>
                    <a:p>
                      <a:r>
                        <a:rPr sz="900" b="0">
                          <a:solidFill>
                            <a:srgbClr val="222222"/>
                          </a:solidFill>
                          <a:latin typeface="Calibri"/>
                        </a:rPr>
                        <a:t>Intel® technology</a:t>
                      </a:r>
                    </a:p>
                  </a:txBody>
                  <a:tcPr/>
                </a:tc>
                <a:tc>
                  <a:txBody>
                    <a:bodyPr/>
                    <a:lstStyle/>
                    <a:p>
                      <a:r>
                        <a:rPr sz="900" b="0">
                          <a:solidFill>
                            <a:srgbClr val="222222"/>
                          </a:solidFill>
                          <a:latin typeface="Calibri"/>
                        </a:rPr>
                        <a:t>Intel® technology</a:t>
                      </a:r>
                    </a:p>
                  </a:txBody>
                  <a:tcPr/>
                </a:tc>
                <a:tc>
                  <a:txBody>
                    <a:bodyPr/>
                    <a:lstStyle/>
                    <a:p>
                      <a:r>
                        <a:rPr sz="900" b="0">
                          <a:solidFill>
                            <a:srgbClr val="222222"/>
                          </a:solidFill>
                          <a:latin typeface="Calibri"/>
                        </a:rPr>
                        <a:t>Chipset integrated with processor</a:t>
                      </a:r>
                    </a:p>
                  </a:txBody>
                  <a:tcPr/>
                </a:tc>
                <a:tc>
                  <a:txBody>
                    <a:bodyPr/>
                    <a:lstStyle/>
                    <a:p>
                      <a:r>
                        <a:rPr sz="900" b="0">
                          <a:solidFill>
                            <a:srgbClr val="222222"/>
                          </a:solidFill>
                          <a:latin typeface="Calibri"/>
                        </a:rPr>
                        <a:t>Chipset integrated with processor</a:t>
                      </a:r>
                    </a:p>
                  </a:txBody>
                  <a:tcPr/>
                </a:tc>
                <a:tc>
                  <a:txBody>
                    <a:bodyPr/>
                    <a:lstStyle/>
                    <a:p>
                      <a:r>
                        <a:rPr sz="900" b="0">
                          <a:solidFill>
                            <a:srgbClr val="222222"/>
                          </a:solidFill>
                          <a:latin typeface="Calibri"/>
                        </a:rPr>
                        <a:t>AMD's latest technology</a:t>
                      </a:r>
                    </a:p>
                  </a:txBody>
                  <a:tcPr/>
                </a:tc>
              </a:tr>
              <a:tr h="493776">
                <a:tc>
                  <a:txBody>
                    <a:bodyPr/>
                    <a:lstStyle/>
                    <a:p>
                      <a:r>
                        <a:rPr sz="1000" b="1">
                          <a:solidFill>
                            <a:srgbClr val="222222"/>
                          </a:solidFill>
                          <a:latin typeface="Calibri"/>
                        </a:rPr>
                        <a:t>Display</a:t>
                      </a:r>
                    </a:p>
                  </a:txBody>
                  <a:tcPr/>
                </a:tc>
                <a:tc>
                  <a:txBody>
                    <a:bodyPr/>
                    <a:lstStyle/>
                    <a:p>
                      <a:r>
                        <a:rPr sz="900" b="0">
                          <a:solidFill>
                            <a:srgbClr val="222222"/>
                          </a:solidFill>
                          <a:latin typeface="Calibri"/>
                        </a:rPr>
                        <a:t>35.6 cm diagonal</a:t>
                      </a:r>
                    </a:p>
                  </a:txBody>
                  <a:tcPr/>
                </a:tc>
                <a:tc>
                  <a:txBody>
                    <a:bodyPr/>
                    <a:lstStyle/>
                    <a:p>
                      <a:r>
                        <a:rPr sz="900" b="0">
                          <a:solidFill>
                            <a:srgbClr val="222222"/>
                          </a:solidFill>
                          <a:latin typeface="Calibri"/>
                        </a:rPr>
                        <a:t>39.6 cm diagonal</a:t>
                      </a:r>
                    </a:p>
                  </a:txBody>
                  <a:tcPr/>
                </a:tc>
                <a:tc>
                  <a:txBody>
                    <a:bodyPr/>
                    <a:lstStyle/>
                    <a:p>
                      <a:r>
                        <a:rPr sz="900" b="0">
                          <a:solidFill>
                            <a:srgbClr val="222222"/>
                          </a:solidFill>
                          <a:latin typeface="Calibri"/>
                        </a:rPr>
                        <a:t>39.6 cm (15.6")</a:t>
                      </a:r>
                    </a:p>
                  </a:txBody>
                  <a:tcPr/>
                </a:tc>
                <a:tc>
                  <a:txBody>
                    <a:bodyPr/>
                    <a:lstStyle/>
                    <a:p>
                      <a:r>
                        <a:rPr sz="900" b="0">
                          <a:solidFill>
                            <a:srgbClr val="222222"/>
                          </a:solidFill>
                          <a:latin typeface="Calibri"/>
                        </a:rPr>
                        <a:t>35.6 cm (14")</a:t>
                      </a:r>
                    </a:p>
                  </a:txBody>
                  <a:tcPr/>
                </a:tc>
                <a:tc>
                  <a:txBody>
                    <a:bodyPr/>
                    <a:lstStyle/>
                    <a:p>
                      <a:r>
                        <a:rPr sz="900" b="0">
                          <a:solidFill>
                            <a:srgbClr val="222222"/>
                          </a:solidFill>
                          <a:latin typeface="Calibri"/>
                        </a:rPr>
                        <a:t>39.6 cm diagonal</a:t>
                      </a:r>
                    </a:p>
                  </a:txBody>
                  <a:tcPr/>
                </a:tc>
              </a:tr>
              <a:tr h="493776">
                <a:tc>
                  <a:txBody>
                    <a:bodyPr/>
                    <a:lstStyle/>
                    <a:p>
                      <a:r>
                        <a:rPr sz="1000" b="1">
                          <a:solidFill>
                            <a:srgbClr val="222222"/>
                          </a:solidFill>
                          <a:latin typeface="Calibri"/>
                        </a:rPr>
                        <a:t>Gpu</a:t>
                      </a:r>
                    </a:p>
                  </a:txBody>
                  <a:tcPr/>
                </a:tc>
                <a:tc>
                  <a:txBody>
                    <a:bodyPr/>
                    <a:lstStyle/>
                    <a:p>
                      <a:r>
                        <a:rPr sz="900" b="0">
                          <a:solidFill>
                            <a:srgbClr val="222222"/>
                          </a:solidFill>
                          <a:latin typeface="Calibri"/>
                        </a:rPr>
                        <a:t>UMA or discrete graphics</a:t>
                      </a:r>
                    </a:p>
                  </a:txBody>
                  <a:tcPr/>
                </a:tc>
                <a:tc>
                  <a:txBody>
                    <a:bodyPr/>
                    <a:lstStyle/>
                    <a:p>
                      <a:r>
                        <a:rPr sz="900" b="0">
                          <a:solidFill>
                            <a:srgbClr val="222222"/>
                          </a:solidFill>
                          <a:latin typeface="Calibri"/>
                        </a:rPr>
                        <a:t>UMA or discrete graphics</a:t>
                      </a:r>
                    </a:p>
                  </a:txBody>
                  <a:tcPr/>
                </a:tc>
                <a:tc>
                  <a:txBody>
                    <a:bodyPr/>
                    <a:lstStyle/>
                    <a:p>
                      <a:r>
                        <a:rPr sz="900" b="0">
                          <a:solidFill>
                            <a:srgbClr val="222222"/>
                          </a:solidFill>
                          <a:latin typeface="Calibri"/>
                        </a:rPr>
                        <a:t>N/A</a:t>
                      </a:r>
                    </a:p>
                  </a:txBody>
                  <a:tcPr/>
                </a:tc>
                <a:tc>
                  <a:txBody>
                    <a:bodyPr/>
                    <a:lstStyle/>
                    <a:p>
                      <a:r>
                        <a:rPr sz="900" b="0">
                          <a:solidFill>
                            <a:srgbClr val="222222"/>
                          </a:solidFill>
                          <a:latin typeface="Calibri"/>
                        </a:rPr>
                        <a:t>N/A</a:t>
                      </a:r>
                    </a:p>
                  </a:txBody>
                  <a:tcPr/>
                </a:tc>
                <a:tc>
                  <a:txBody>
                    <a:bodyPr/>
                    <a:lstStyle/>
                    <a:p>
                      <a:r>
                        <a:rPr sz="900" b="0">
                          <a:solidFill>
                            <a:srgbClr val="222222"/>
                          </a:solidFill>
                          <a:latin typeface="Calibri"/>
                        </a:rPr>
                        <a:t>UMA graphics</a:t>
                      </a:r>
                    </a:p>
                  </a:txBody>
                  <a:tcPr/>
                </a:tc>
              </a:tr>
              <a:tr h="493776">
                <a:tc>
                  <a:txBody>
                    <a:bodyPr/>
                    <a:lstStyle/>
                    <a:p>
                      <a:r>
                        <a:rPr sz="1000" b="1">
                          <a:solidFill>
                            <a:srgbClr val="222222"/>
                          </a:solidFill>
                          <a:latin typeface="Calibri"/>
                        </a:rPr>
                        <a:t>Os</a:t>
                      </a:r>
                    </a:p>
                  </a:txBody>
                  <a:tcPr/>
                </a:tc>
                <a:tc>
                  <a:txBody>
                    <a:bodyPr/>
                    <a:lstStyle/>
                    <a:p>
                      <a:r>
                        <a:rPr sz="900" b="0">
                          <a:solidFill>
                            <a:srgbClr val="222222"/>
                          </a:solidFill>
                          <a:latin typeface="Calibri"/>
                        </a:rPr>
                        <a:t>Windows 8 Pro</a:t>
                      </a:r>
                    </a:p>
                  </a:txBody>
                  <a:tcPr/>
                </a:tc>
                <a:tc>
                  <a:txBody>
                    <a:bodyPr/>
                    <a:lstStyle/>
                    <a:p>
                      <a:r>
                        <a:rPr sz="900" b="0">
                          <a:solidFill>
                            <a:srgbClr val="222222"/>
                          </a:solidFill>
                          <a:latin typeface="Calibri"/>
                        </a:rPr>
                        <a:t>Windows 8 Pro</a:t>
                      </a:r>
                    </a:p>
                  </a:txBody>
                  <a:tcPr/>
                </a:tc>
                <a:tc>
                  <a:txBody>
                    <a:bodyPr/>
                    <a:lstStyle/>
                    <a:p>
                      <a:r>
                        <a:rPr sz="900" b="0">
                          <a:solidFill>
                            <a:srgbClr val="222222"/>
                          </a:solidFill>
                          <a:latin typeface="Calibri"/>
                        </a:rPr>
                        <a:t>Windows 8 Pro or other operating systems available</a:t>
                      </a:r>
                    </a:p>
                  </a:txBody>
                  <a:tcPr/>
                </a:tc>
                <a:tc>
                  <a:txBody>
                    <a:bodyPr/>
                    <a:lstStyle/>
                    <a:p>
                      <a:r>
                        <a:rPr sz="900" b="0">
                          <a:solidFill>
                            <a:srgbClr val="222222"/>
                          </a:solidFill>
                          <a:latin typeface="Calibri"/>
                        </a:rPr>
                        <a:t>Windows 8 Pro or other operating systems available</a:t>
                      </a:r>
                    </a:p>
                  </a:txBody>
                  <a:tcPr/>
                </a:tc>
                <a:tc>
                  <a:txBody>
                    <a:bodyPr/>
                    <a:lstStyle/>
                    <a:p>
                      <a:r>
                        <a:rPr sz="900" b="0">
                          <a:solidFill>
                            <a:srgbClr val="222222"/>
                          </a:solidFill>
                          <a:latin typeface="Calibri"/>
                        </a:rPr>
                        <a:t>Windows 8 Pro</a:t>
                      </a:r>
                    </a:p>
                  </a:txBody>
                  <a:tcPr/>
                </a:tc>
              </a:tr>
              <a:tr h="493776">
                <a:tc>
                  <a:txBody>
                    <a:bodyPr/>
                    <a:lstStyle/>
                    <a:p>
                      <a:r>
                        <a:rPr sz="1000" b="1">
                          <a:solidFill>
                            <a:srgbClr val="222222"/>
                          </a:solidFill>
                          <a:latin typeface="Calibri"/>
                        </a:rPr>
                        <a:t>Ports</a:t>
                      </a:r>
                    </a:p>
                  </a:txBody>
                  <a:tcPr/>
                </a:tc>
                <a:tc>
                  <a:txBody>
                    <a:bodyPr/>
                    <a:lstStyle/>
                    <a:p>
                      <a:r>
                        <a:rPr sz="900" b="0">
                          <a:solidFill>
                            <a:srgbClr val="222222"/>
                          </a:solidFill>
                          <a:latin typeface="Calibri"/>
                        </a:rPr>
                        <a:t>1 ExpressCard/54; 1 Secure Digital; 2 USB 3.0; 2 USB 2.0; 1 stereo microphone in; 1 stereo headphone/line-out; 1 1394a; 1 AC power; 1 RJ-45; 1 docking connector; 1 secondary battery connector; 1 VGA; 1 serial; 1 RJ-11 (optional)</a:t>
                      </a:r>
                    </a:p>
                  </a:txBody>
                  <a:tcPr/>
                </a:tc>
                <a:tc>
                  <a:txBody>
                    <a:bodyPr/>
                    <a:lstStyle/>
                    <a:p>
                      <a:r>
                        <a:rPr sz="900" b="0">
                          <a:solidFill>
                            <a:srgbClr val="222222"/>
                          </a:solidFill>
                          <a:latin typeface="Calibri"/>
                        </a:rPr>
                        <a:t>1 ExpressCard/54; 1 Secure Digital; 2 USB 3.0; 2 USB 2.0; 1 stereo microphone in; 1 stereo headphone/line-out; 1 1394a; 1 AC power; 1 RJ-45; 1 docking connector; 1 secondary battery connector; 1 VGA; 1 serial; 1 RJ-11 (optional)</a:t>
                      </a:r>
                    </a:p>
                  </a:txBody>
                  <a:tcPr/>
                </a:tc>
                <a:tc>
                  <a:txBody>
                    <a:bodyPr/>
                    <a:lstStyle/>
                    <a:p>
                      <a:r>
                        <a:rPr sz="900" b="0">
                          <a:solidFill>
                            <a:srgbClr val="222222"/>
                          </a:solidFill>
                          <a:latin typeface="Calibri"/>
                        </a:rPr>
                        <a:t>1 Media Card Reader; 3 USB 3.0; 1 USB 3.0 charging; 1 DisplayPort 1.2; 1 VGA; 1 combo stereo headphone/mic jack; 1 AC power; 1 RJ-45; 1 docking connector; 1 secondary battery connector</a:t>
                      </a:r>
                    </a:p>
                  </a:txBody>
                  <a:tcPr/>
                </a:tc>
                <a:tc>
                  <a:txBody>
                    <a:bodyPr/>
                    <a:lstStyle/>
                    <a:p>
                      <a:r>
                        <a:rPr sz="900" b="0">
                          <a:solidFill>
                            <a:srgbClr val="222222"/>
                          </a:solidFill>
                          <a:latin typeface="Calibri"/>
                        </a:rPr>
                        <a:t>1 Media Card Reader; 3 USB 3.0; 1 USB 3.0 charging; 1 DisplayPort 1.2; 1 VGA; 1 combo stereo headphone/mic jack; 1 AC power; 1 RJ-45; 1 side docking connector</a:t>
                      </a:r>
                    </a:p>
                  </a:txBody>
                  <a:tcPr/>
                </a:tc>
                <a:tc>
                  <a:txBody>
                    <a:bodyPr/>
                    <a:lstStyle/>
                    <a:p>
                      <a:r>
                        <a:rPr sz="900" b="0">
                          <a:solidFill>
                            <a:srgbClr val="222222"/>
                          </a:solidFill>
                          <a:latin typeface="Calibri"/>
                        </a:rPr>
                        <a:t>1 ExpressCard/54; 1 Secure Digital; 2 USB 3.0; 2 USB 2.0; 1 stereo microphone in; 1 stereo headphone/line-out; 1 1394a; 1 AC power; 1 RJ-45; 1 docking connector; 1 secondary battery connector; 1 VGA; 1 serial; 1 RJ-11 (optional)</a:t>
                      </a:r>
                    </a:p>
                  </a:txBody>
                  <a:tcPr/>
                </a:tc>
              </a:tr>
              <a:tr h="493776">
                <a:tc>
                  <a:txBody>
                    <a:bodyPr/>
                    <a:lstStyle/>
                    <a:p>
                      <a:r>
                        <a:rPr sz="1000" b="1">
                          <a:solidFill>
                            <a:srgbClr val="222222"/>
                          </a:solidFill>
                          <a:latin typeface="Calibri"/>
                        </a:rPr>
                        <a:t>Ram</a:t>
                      </a:r>
                    </a:p>
                  </a:txBody>
                  <a:tcPr/>
                </a:tc>
                <a:tc>
                  <a:txBody>
                    <a:bodyPr/>
                    <a:lstStyle/>
                    <a:p>
                      <a:r>
                        <a:rPr sz="900" b="0">
                          <a:solidFill>
                            <a:srgbClr val="222222"/>
                          </a:solidFill>
                          <a:latin typeface="Calibri"/>
                        </a:rPr>
                        <a:t>Upgradeable to 16 GB</a:t>
                      </a:r>
                    </a:p>
                  </a:txBody>
                  <a:tcPr/>
                </a:tc>
                <a:tc>
                  <a:txBody>
                    <a:bodyPr/>
                    <a:lstStyle/>
                    <a:p>
                      <a:r>
                        <a:rPr sz="900" b="0">
                          <a:solidFill>
                            <a:srgbClr val="222222"/>
                          </a:solidFill>
                          <a:latin typeface="Calibri"/>
                        </a:rPr>
                        <a:t>Upgradeable to 16 GB</a:t>
                      </a:r>
                    </a:p>
                  </a:txBody>
                  <a:tcPr/>
                </a:tc>
                <a:tc>
                  <a:txBody>
                    <a:bodyPr/>
                    <a:lstStyle/>
                    <a:p>
                      <a:r>
                        <a:rPr sz="900" b="0">
                          <a:solidFill>
                            <a:srgbClr val="222222"/>
                          </a:solidFill>
                          <a:latin typeface="Calibri"/>
                        </a:rPr>
                        <a:t>Upgradeable to 16 GB</a:t>
                      </a:r>
                    </a:p>
                  </a:txBody>
                  <a:tcPr/>
                </a:tc>
                <a:tc>
                  <a:txBody>
                    <a:bodyPr/>
                    <a:lstStyle/>
                    <a:p>
                      <a:r>
                        <a:rPr sz="900" b="0">
                          <a:solidFill>
                            <a:srgbClr val="222222"/>
                          </a:solidFill>
                          <a:latin typeface="Calibri"/>
                        </a:rPr>
                        <a:t>Upgradeable to 16 GB</a:t>
                      </a:r>
                    </a:p>
                  </a:txBody>
                  <a:tcPr/>
                </a:tc>
                <a:tc>
                  <a:txBody>
                    <a:bodyPr/>
                    <a:lstStyle/>
                    <a:p>
                      <a:r>
                        <a:rPr sz="900" b="0">
                          <a:solidFill>
                            <a:srgbClr val="222222"/>
                          </a:solidFill>
                          <a:latin typeface="Calibri"/>
                        </a:rPr>
                        <a:t>Upgradeable to 16 GB</a:t>
                      </a:r>
                    </a:p>
                  </a:txBody>
                  <a:tcPr/>
                </a:tc>
              </a:tr>
              <a:tr h="493776">
                <a:tc>
                  <a:txBody>
                    <a:bodyPr/>
                    <a:lstStyle/>
                    <a:p>
                      <a:r>
                        <a:rPr sz="1000" b="1">
                          <a:solidFill>
                            <a:srgbClr val="222222"/>
                          </a:solidFill>
                          <a:latin typeface="Calibri"/>
                        </a:rPr>
                        <a:t>Storage</a:t>
                      </a:r>
                    </a:p>
                  </a:txBody>
                  <a:tcPr/>
                </a:tc>
                <a:tc>
                  <a:txBody>
                    <a:bodyPr/>
                    <a:lstStyle/>
                    <a:p>
                      <a:r>
                        <a:rPr sz="900" b="0">
                          <a:solidFill>
                            <a:srgbClr val="222222"/>
                          </a:solidFill>
                          <a:latin typeface="Calibri"/>
                        </a:rPr>
                        <a:t>N/A</a:t>
                      </a:r>
                    </a:p>
                  </a:txBody>
                  <a:tcPr/>
                </a:tc>
                <a:tc>
                  <a:txBody>
                    <a:bodyPr/>
                    <a:lstStyle/>
                    <a:p>
                      <a:r>
                        <a:rPr sz="900" b="0">
                          <a:solidFill>
                            <a:srgbClr val="222222"/>
                          </a:solidFill>
                          <a:latin typeface="Calibri"/>
                        </a:rPr>
                        <a:t>N/A</a:t>
                      </a:r>
                    </a:p>
                  </a:txBody>
                  <a:tcPr/>
                </a:tc>
                <a:tc>
                  <a:txBody>
                    <a:bodyPr/>
                    <a:lstStyle/>
                    <a:p>
                      <a:r>
                        <a:rPr sz="900" b="0">
                          <a:solidFill>
                            <a:srgbClr val="222222"/>
                          </a:solidFill>
                          <a:latin typeface="Calibri"/>
                        </a:rPr>
                        <a:t>N/A</a:t>
                      </a:r>
                    </a:p>
                  </a:txBody>
                  <a:tcPr/>
                </a:tc>
                <a:tc>
                  <a:txBody>
                    <a:bodyPr/>
                    <a:lstStyle/>
                    <a:p>
                      <a:r>
                        <a:rPr sz="900" b="0">
                          <a:solidFill>
                            <a:srgbClr val="222222"/>
                          </a:solidFill>
                          <a:latin typeface="Calibri"/>
                        </a:rPr>
                        <a:t>N/A</a:t>
                      </a:r>
                    </a:p>
                  </a:txBody>
                  <a:tcPr/>
                </a:tc>
                <a:tc>
                  <a:txBody>
                    <a:bodyPr/>
                    <a:lstStyle/>
                    <a:p>
                      <a:r>
                        <a:rPr sz="900" b="0">
                          <a:solidFill>
                            <a:srgbClr val="222222"/>
                          </a:solidFill>
                          <a:latin typeface="Calibri"/>
                        </a:rPr>
                        <a:t>HP 3D DriveGuard</a:t>
                      </a:r>
                    </a:p>
                  </a:txBody>
                  <a:tcPr/>
                </a:tc>
              </a:tr>
              <a:tr h="493776">
                <a:tc>
                  <a:txBody>
                    <a:bodyPr/>
                    <a:lstStyle/>
                    <a:p>
                      <a:r>
                        <a:rPr sz="1000" b="1">
                          <a:solidFill>
                            <a:srgbClr val="222222"/>
                          </a:solidFill>
                          <a:latin typeface="Calibri"/>
                        </a:rPr>
                        <a:t>Weight</a:t>
                      </a:r>
                    </a:p>
                  </a:txBody>
                  <a:tcPr/>
                </a:tc>
                <a:tc>
                  <a:txBody>
                    <a:bodyPr/>
                    <a:lstStyle/>
                    <a:p>
                      <a:r>
                        <a:rPr sz="900" b="0">
                          <a:solidFill>
                            <a:srgbClr val="222222"/>
                          </a:solidFill>
                          <a:latin typeface="Calibri"/>
                        </a:rPr>
                        <a:t>Starting at 2.0 kg</a:t>
                      </a:r>
                    </a:p>
                  </a:txBody>
                  <a:tcPr/>
                </a:tc>
                <a:tc>
                  <a:txBody>
                    <a:bodyPr/>
                    <a:lstStyle/>
                    <a:p>
                      <a:r>
                        <a:rPr sz="900" b="0">
                          <a:solidFill>
                            <a:srgbClr val="222222"/>
                          </a:solidFill>
                          <a:latin typeface="Calibri"/>
                        </a:rPr>
                        <a:t>Starting at 2.32 kg</a:t>
                      </a:r>
                    </a:p>
                  </a:txBody>
                  <a:tcPr/>
                </a:tc>
                <a:tc>
                  <a:txBody>
                    <a:bodyPr/>
                    <a:lstStyle/>
                    <a:p>
                      <a:r>
                        <a:rPr sz="900" b="0">
                          <a:solidFill>
                            <a:srgbClr val="222222"/>
                          </a:solidFill>
                          <a:latin typeface="Calibri"/>
                        </a:rPr>
                        <a:t>Starting at 1.88 kg</a:t>
                      </a:r>
                    </a:p>
                  </a:txBody>
                  <a:tcPr/>
                </a:tc>
                <a:tc>
                  <a:txBody>
                    <a:bodyPr/>
                    <a:lstStyle/>
                    <a:p>
                      <a:r>
                        <a:rPr sz="900" b="0">
                          <a:solidFill>
                            <a:srgbClr val="222222"/>
                          </a:solidFill>
                          <a:latin typeface="Calibri"/>
                        </a:rPr>
                        <a:t>Starting at 1.58 kg</a:t>
                      </a:r>
                    </a:p>
                  </a:txBody>
                  <a:tcPr/>
                </a:tc>
                <a:tc>
                  <a:txBody>
                    <a:bodyPr/>
                    <a:lstStyle/>
                    <a:p>
                      <a:r>
                        <a:rPr sz="900" b="0">
                          <a:solidFill>
                            <a:srgbClr val="222222"/>
                          </a:solidFill>
                          <a:latin typeface="Calibri"/>
                        </a:rPr>
                        <a:t>Starting at 2.32 kg</a:t>
                      </a:r>
                    </a:p>
                  </a:txBody>
                  <a:tcPr/>
                </a:tc>
              </a:tr>
            </a:tbl>
          </a:graphicData>
        </a:graphic>
      </p:graphicFrame>
      <p:sp>
        <p:nvSpPr>
          <p:cNvPr id="4" name="TextBox 3"/>
          <p:cNvSpPr txBox="1"/>
          <p:nvPr/>
        </p:nvSpPr>
        <p:spPr>
          <a:xfrm>
            <a:off x="548640" y="6400800"/>
            <a:ext cx="8229600" cy="365760"/>
          </a:xfrm>
          <a:prstGeom prst="rect">
            <a:avLst/>
          </a:prstGeom>
          <a:noFill/>
        </p:spPr>
        <p:txBody>
          <a:bodyPr wrap="none">
            <a:spAutoFit/>
          </a:bodyPr>
          <a:lstStyle/>
          <a:p>
            <a:pPr algn="l"/>
            <a:r>
              <a:rPr sz="900" b="0">
                <a:solidFill>
                  <a:srgbClr val="787878"/>
                </a:solidFill>
                <a:latin typeface="Calibri"/>
              </a:rPr>
              <a:t>Comparison Across Recommended Products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48640"/>
          </a:xfrm>
          <a:prstGeom prst="rect">
            <a:avLst/>
          </a:prstGeom>
          <a:noFill/>
        </p:spPr>
        <p:txBody>
          <a:bodyPr wrap="none">
            <a:spAutoFit/>
          </a:bodyPr>
          <a:lstStyle/>
          <a:p>
            <a:pPr>
              <a:defRPr sz="2800" b="1"/>
            </a:pPr>
            <a:r>
              <a:t>Upsell Recommendations — Page 1</a:t>
            </a:r>
          </a:p>
        </p:txBody>
      </p:sp>
      <p:sp>
        <p:nvSpPr>
          <p:cNvPr id="3" name="TextBox 2"/>
          <p:cNvSpPr txBox="1"/>
          <p:nvPr/>
        </p:nvSpPr>
        <p:spPr>
          <a:xfrm>
            <a:off x="457200" y="1097280"/>
            <a:ext cx="2743200" cy="365760"/>
          </a:xfrm>
          <a:prstGeom prst="rect">
            <a:avLst/>
          </a:prstGeom>
          <a:noFill/>
        </p:spPr>
        <p:txBody>
          <a:bodyPr wrap="square">
            <a:spAutoFit/>
          </a:bodyPr>
          <a:lstStyle/>
          <a:p>
            <a:pPr algn="ctr">
              <a:defRPr sz="2200" b="1">
                <a:solidFill>
                  <a:srgbClr val="000000"/>
                </a:solidFill>
              </a:defRPr>
            </a:pPr>
            <a:r>
              <a:t>Mouse</a:t>
            </a:r>
          </a:p>
        </p:txBody>
      </p:sp>
      <p:pic>
        <p:nvPicPr>
          <p:cNvPr id="4" name="Picture 3" descr="page_4_img_4.png"/>
          <p:cNvPicPr>
            <a:picLocks noChangeAspect="1"/>
          </p:cNvPicPr>
          <p:nvPr/>
        </p:nvPicPr>
        <p:blipFill>
          <a:blip r:embed="rId2"/>
          <a:stretch>
            <a:fillRect/>
          </a:stretch>
        </p:blipFill>
        <p:spPr>
          <a:xfrm>
            <a:off x="1504950" y="1463040"/>
            <a:ext cx="647700" cy="914400"/>
          </a:xfrm>
          <a:prstGeom prst="rect">
            <a:avLst/>
          </a:prstGeom>
        </p:spPr>
      </p:pic>
      <p:sp>
        <p:nvSpPr>
          <p:cNvPr id="5" name="TextBox 4"/>
          <p:cNvSpPr txBox="1"/>
          <p:nvPr/>
        </p:nvSpPr>
        <p:spPr>
          <a:xfrm>
            <a:off x="457200" y="2377440"/>
            <a:ext cx="2743200" cy="329184"/>
          </a:xfrm>
          <a:prstGeom prst="rect">
            <a:avLst/>
          </a:prstGeom>
          <a:noFill/>
        </p:spPr>
        <p:txBody>
          <a:bodyPr wrap="square">
            <a:spAutoFit/>
          </a:bodyPr>
          <a:lstStyle/>
          <a:p>
            <a:pPr algn="ctr">
              <a:defRPr sz="1400" b="1">
                <a:solidFill>
                  <a:srgbClr val="000000"/>
                </a:solidFill>
              </a:defRPr>
            </a:pPr>
            <a:r>
              <a:t>HP X4000b Bluetooth Mouse</a:t>
            </a:r>
          </a:p>
        </p:txBody>
      </p:sp>
      <p:sp>
        <p:nvSpPr>
          <p:cNvPr id="6" name="TextBox 5"/>
          <p:cNvSpPr txBox="1"/>
          <p:nvPr/>
        </p:nvSpPr>
        <p:spPr>
          <a:xfrm>
            <a:off x="457200" y="2706624"/>
            <a:ext cx="2743200" cy="585216"/>
          </a:xfrm>
          <a:prstGeom prst="rect">
            <a:avLst/>
          </a:prstGeom>
          <a:noFill/>
        </p:spPr>
        <p:txBody>
          <a:bodyPr wrap="square">
            <a:spAutoFit/>
          </a:bodyPr>
          <a:lstStyle/>
          <a:p>
            <a:pPr algn="l">
              <a:defRPr sz="1100" b="0">
                <a:solidFill>
                  <a:srgbClr val="000000"/>
                </a:solidFill>
              </a:defRPr>
            </a:pPr>
            <a:r>
              <a:t>Be more productive on the go with the sleek, stylish HP X4000b Bluetoo</a:t>
            </a:r>
          </a:p>
        </p:txBody>
      </p:sp>
      <p:pic>
        <p:nvPicPr>
          <p:cNvPr id="7" name="Picture 6" descr="page_4_img_5.png"/>
          <p:cNvPicPr>
            <a:picLocks noChangeAspect="1"/>
          </p:cNvPicPr>
          <p:nvPr/>
        </p:nvPicPr>
        <p:blipFill>
          <a:blip r:embed="rId3"/>
          <a:stretch>
            <a:fillRect/>
          </a:stretch>
        </p:blipFill>
        <p:spPr>
          <a:xfrm>
            <a:off x="1521823" y="3291840"/>
            <a:ext cx="613954" cy="914400"/>
          </a:xfrm>
          <a:prstGeom prst="rect">
            <a:avLst/>
          </a:prstGeom>
        </p:spPr>
      </p:pic>
      <p:sp>
        <p:nvSpPr>
          <p:cNvPr id="8" name="TextBox 7"/>
          <p:cNvSpPr txBox="1"/>
          <p:nvPr/>
        </p:nvSpPr>
        <p:spPr>
          <a:xfrm>
            <a:off x="457200" y="4206240"/>
            <a:ext cx="2743200" cy="329184"/>
          </a:xfrm>
          <a:prstGeom prst="rect">
            <a:avLst/>
          </a:prstGeom>
          <a:noFill/>
        </p:spPr>
        <p:txBody>
          <a:bodyPr wrap="square">
            <a:spAutoFit/>
          </a:bodyPr>
          <a:lstStyle/>
          <a:p>
            <a:pPr algn="ctr">
              <a:defRPr sz="1400" b="1">
                <a:solidFill>
                  <a:srgbClr val="000000"/>
                </a:solidFill>
              </a:defRPr>
            </a:pPr>
            <a:r>
              <a:t>HP Bluetooth TTP Mouse</a:t>
            </a:r>
          </a:p>
        </p:txBody>
      </p:sp>
      <p:sp>
        <p:nvSpPr>
          <p:cNvPr id="9" name="TextBox 8"/>
          <p:cNvSpPr txBox="1"/>
          <p:nvPr/>
        </p:nvSpPr>
        <p:spPr>
          <a:xfrm>
            <a:off x="457200" y="4535424"/>
            <a:ext cx="2743200" cy="585216"/>
          </a:xfrm>
          <a:prstGeom prst="rect">
            <a:avLst/>
          </a:prstGeom>
          <a:noFill/>
        </p:spPr>
        <p:txBody>
          <a:bodyPr wrap="square">
            <a:spAutoFit/>
          </a:bodyPr>
          <a:lstStyle/>
          <a:p>
            <a:pPr algn="l">
              <a:defRPr sz="1100" b="0">
                <a:solidFill>
                  <a:srgbClr val="000000"/>
                </a:solidFill>
              </a:defRPr>
            </a:pPr>
          </a:p>
        </p:txBody>
      </p:sp>
      <p:pic>
        <p:nvPicPr>
          <p:cNvPr id="10" name="Picture 9" descr="page_27_img_17.png"/>
          <p:cNvPicPr>
            <a:picLocks noChangeAspect="1"/>
          </p:cNvPicPr>
          <p:nvPr/>
        </p:nvPicPr>
        <p:blipFill>
          <a:blip r:embed="rId4"/>
          <a:stretch>
            <a:fillRect/>
          </a:stretch>
        </p:blipFill>
        <p:spPr>
          <a:xfrm>
            <a:off x="1423115" y="5120640"/>
            <a:ext cx="811369" cy="914400"/>
          </a:xfrm>
          <a:prstGeom prst="rect">
            <a:avLst/>
          </a:prstGeom>
        </p:spPr>
      </p:pic>
      <p:sp>
        <p:nvSpPr>
          <p:cNvPr id="11" name="TextBox 10"/>
          <p:cNvSpPr txBox="1"/>
          <p:nvPr/>
        </p:nvSpPr>
        <p:spPr>
          <a:xfrm>
            <a:off x="457200" y="6035040"/>
            <a:ext cx="2743200" cy="329184"/>
          </a:xfrm>
          <a:prstGeom prst="rect">
            <a:avLst/>
          </a:prstGeom>
          <a:noFill/>
        </p:spPr>
        <p:txBody>
          <a:bodyPr wrap="square">
            <a:spAutoFit/>
          </a:bodyPr>
          <a:lstStyle/>
          <a:p>
            <a:pPr algn="ctr">
              <a:defRPr sz="1400" b="1">
                <a:solidFill>
                  <a:srgbClr val="000000"/>
                </a:solidFill>
              </a:defRPr>
            </a:pPr>
            <a:r>
              <a:t>HP Comfort Grip Wireless Mouse</a:t>
            </a:r>
          </a:p>
        </p:txBody>
      </p:sp>
      <p:sp>
        <p:nvSpPr>
          <p:cNvPr id="12" name="TextBox 11"/>
          <p:cNvSpPr txBox="1"/>
          <p:nvPr/>
        </p:nvSpPr>
        <p:spPr>
          <a:xfrm>
            <a:off x="457200" y="6364224"/>
            <a:ext cx="2743200" cy="585216"/>
          </a:xfrm>
          <a:prstGeom prst="rect">
            <a:avLst/>
          </a:prstGeom>
          <a:noFill/>
        </p:spPr>
        <p:txBody>
          <a:bodyPr wrap="square">
            <a:spAutoFit/>
          </a:bodyPr>
          <a:lstStyle/>
          <a:p>
            <a:pPr algn="l">
              <a:defRPr sz="1100" b="0">
                <a:solidFill>
                  <a:srgbClr val="000000"/>
                </a:solidFill>
              </a:defRPr>
            </a:pPr>
            <a:r>
              <a:t>The HP Comfort Grip Wireless Mouse features a 30-month battery life de</a:t>
            </a:r>
          </a:p>
        </p:txBody>
      </p:sp>
      <p:sp>
        <p:nvSpPr>
          <p:cNvPr id="13" name="TextBox 12"/>
          <p:cNvSpPr txBox="1"/>
          <p:nvPr/>
        </p:nvSpPr>
        <p:spPr>
          <a:xfrm>
            <a:off x="3200400" y="1097280"/>
            <a:ext cx="2743200" cy="365760"/>
          </a:xfrm>
          <a:prstGeom prst="rect">
            <a:avLst/>
          </a:prstGeom>
          <a:noFill/>
        </p:spPr>
        <p:txBody>
          <a:bodyPr wrap="square">
            <a:spAutoFit/>
          </a:bodyPr>
          <a:lstStyle/>
          <a:p>
            <a:pPr algn="ctr">
              <a:defRPr sz="2200" b="1">
                <a:solidFill>
                  <a:srgbClr val="000000"/>
                </a:solidFill>
              </a:defRPr>
            </a:pPr>
            <a:r>
              <a:t>Keyboard</a:t>
            </a:r>
          </a:p>
        </p:txBody>
      </p:sp>
      <p:pic>
        <p:nvPicPr>
          <p:cNvPr id="14" name="Picture 13" descr="page_10_img_5.png"/>
          <p:cNvPicPr>
            <a:picLocks noChangeAspect="1"/>
          </p:cNvPicPr>
          <p:nvPr/>
        </p:nvPicPr>
        <p:blipFill>
          <a:blip r:embed="rId5"/>
          <a:stretch>
            <a:fillRect/>
          </a:stretch>
        </p:blipFill>
        <p:spPr>
          <a:xfrm>
            <a:off x="3749040" y="1463040"/>
            <a:ext cx="1645920" cy="914400"/>
          </a:xfrm>
          <a:prstGeom prst="rect">
            <a:avLst/>
          </a:prstGeom>
        </p:spPr>
      </p:pic>
      <p:sp>
        <p:nvSpPr>
          <p:cNvPr id="15" name="TextBox 14"/>
          <p:cNvSpPr txBox="1"/>
          <p:nvPr/>
        </p:nvSpPr>
        <p:spPr>
          <a:xfrm>
            <a:off x="3200400" y="2377440"/>
            <a:ext cx="2743200" cy="329184"/>
          </a:xfrm>
          <a:prstGeom prst="rect">
            <a:avLst/>
          </a:prstGeom>
          <a:noFill/>
        </p:spPr>
        <p:txBody>
          <a:bodyPr wrap="square">
            <a:spAutoFit/>
          </a:bodyPr>
          <a:lstStyle/>
          <a:p>
            <a:pPr algn="ctr">
              <a:defRPr sz="1400" b="1">
                <a:solidFill>
                  <a:srgbClr val="000000"/>
                </a:solidFill>
              </a:defRPr>
            </a:pPr>
            <a:r>
              <a:t>HP Slim Bluetooth Keyboard</a:t>
            </a:r>
          </a:p>
        </p:txBody>
      </p:sp>
      <p:sp>
        <p:nvSpPr>
          <p:cNvPr id="16" name="TextBox 15"/>
          <p:cNvSpPr txBox="1"/>
          <p:nvPr/>
        </p:nvSpPr>
        <p:spPr>
          <a:xfrm>
            <a:off x="3200400" y="2706624"/>
            <a:ext cx="2743200" cy="585216"/>
          </a:xfrm>
          <a:prstGeom prst="rect">
            <a:avLst/>
          </a:prstGeom>
          <a:noFill/>
        </p:spPr>
        <p:txBody>
          <a:bodyPr wrap="square">
            <a:spAutoFit/>
          </a:bodyPr>
          <a:lstStyle/>
          <a:p>
            <a:pPr algn="l">
              <a:defRPr sz="1100" b="0">
                <a:solidFill>
                  <a:srgbClr val="000000"/>
                </a:solidFill>
              </a:defRPr>
            </a:pPr>
            <a:r>
              <a:t>The HP Slim Bluetooth Keyboard is a thin and light wireless keyboard t</a:t>
            </a:r>
          </a:p>
        </p:txBody>
      </p:sp>
      <p:sp>
        <p:nvSpPr>
          <p:cNvPr id="17" name="TextBox 16"/>
          <p:cNvSpPr txBox="1"/>
          <p:nvPr/>
        </p:nvSpPr>
        <p:spPr>
          <a:xfrm>
            <a:off x="5943600" y="1097280"/>
            <a:ext cx="2743200" cy="365760"/>
          </a:xfrm>
          <a:prstGeom prst="rect">
            <a:avLst/>
          </a:prstGeom>
          <a:noFill/>
        </p:spPr>
        <p:txBody>
          <a:bodyPr wrap="square">
            <a:spAutoFit/>
          </a:bodyPr>
          <a:lstStyle/>
          <a:p>
            <a:pPr algn="ctr">
              <a:defRPr sz="2200" b="1">
                <a:solidFill>
                  <a:srgbClr val="000000"/>
                </a:solidFill>
              </a:defRPr>
            </a:pPr>
            <a:r>
              <a:t>Backpack</a:t>
            </a:r>
          </a:p>
        </p:txBody>
      </p:sp>
      <p:pic>
        <p:nvPicPr>
          <p:cNvPr id="18" name="Picture 17" descr="page_28_img_15.png"/>
          <p:cNvPicPr>
            <a:picLocks noChangeAspect="1"/>
          </p:cNvPicPr>
          <p:nvPr/>
        </p:nvPicPr>
        <p:blipFill>
          <a:blip r:embed="rId6"/>
          <a:stretch>
            <a:fillRect/>
          </a:stretch>
        </p:blipFill>
        <p:spPr>
          <a:xfrm>
            <a:off x="6927640" y="1463040"/>
            <a:ext cx="775120" cy="914400"/>
          </a:xfrm>
          <a:prstGeom prst="rect">
            <a:avLst/>
          </a:prstGeom>
        </p:spPr>
      </p:pic>
      <p:sp>
        <p:nvSpPr>
          <p:cNvPr id="19" name="TextBox 18"/>
          <p:cNvSpPr txBox="1"/>
          <p:nvPr/>
        </p:nvSpPr>
        <p:spPr>
          <a:xfrm>
            <a:off x="5943600" y="2377440"/>
            <a:ext cx="2743200" cy="329184"/>
          </a:xfrm>
          <a:prstGeom prst="rect">
            <a:avLst/>
          </a:prstGeom>
          <a:noFill/>
        </p:spPr>
        <p:txBody>
          <a:bodyPr wrap="square">
            <a:spAutoFit/>
          </a:bodyPr>
          <a:lstStyle/>
          <a:p>
            <a:pPr algn="ctr">
              <a:defRPr sz="1400" b="1">
                <a:solidFill>
                  <a:srgbClr val="000000"/>
                </a:solidFill>
              </a:defRPr>
            </a:pPr>
            <a:r>
              <a:t>HP Business Nylon Backpack</a:t>
            </a:r>
          </a:p>
        </p:txBody>
      </p:sp>
      <p:sp>
        <p:nvSpPr>
          <p:cNvPr id="20" name="TextBox 19"/>
          <p:cNvSpPr txBox="1"/>
          <p:nvPr/>
        </p:nvSpPr>
        <p:spPr>
          <a:xfrm>
            <a:off x="5943600" y="2706624"/>
            <a:ext cx="2743200" cy="585216"/>
          </a:xfrm>
          <a:prstGeom prst="rect">
            <a:avLst/>
          </a:prstGeom>
          <a:noFill/>
        </p:spPr>
        <p:txBody>
          <a:bodyPr wrap="square">
            <a:spAutoFit/>
          </a:bodyPr>
          <a:lstStyle/>
          <a:p>
            <a:pPr algn="l">
              <a:defRPr sz="1100" b="0">
                <a:solidFill>
                  <a:srgbClr val="000000"/>
                </a:solidFill>
              </a:defRPr>
            </a:pPr>
            <a:r>
              <a:t>HP Business Nylon Backpack offers a sturdy, all-purpose backpack for m</a:t>
            </a:r>
          </a:p>
        </p:txBody>
      </p:sp>
      <p:pic>
        <p:nvPicPr>
          <p:cNvPr id="21" name="Picture 20" descr="page_28_img_6.png"/>
          <p:cNvPicPr>
            <a:picLocks noChangeAspect="1"/>
          </p:cNvPicPr>
          <p:nvPr/>
        </p:nvPicPr>
        <p:blipFill>
          <a:blip r:embed="rId7"/>
          <a:stretch>
            <a:fillRect/>
          </a:stretch>
        </p:blipFill>
        <p:spPr>
          <a:xfrm>
            <a:off x="6969125" y="3291840"/>
            <a:ext cx="692150" cy="914400"/>
          </a:xfrm>
          <a:prstGeom prst="rect">
            <a:avLst/>
          </a:prstGeom>
        </p:spPr>
      </p:pic>
      <p:sp>
        <p:nvSpPr>
          <p:cNvPr id="22" name="TextBox 21"/>
          <p:cNvSpPr txBox="1"/>
          <p:nvPr/>
        </p:nvSpPr>
        <p:spPr>
          <a:xfrm>
            <a:off x="5943600" y="4206240"/>
            <a:ext cx="2743200" cy="329184"/>
          </a:xfrm>
          <a:prstGeom prst="rect">
            <a:avLst/>
          </a:prstGeom>
          <a:noFill/>
        </p:spPr>
        <p:txBody>
          <a:bodyPr wrap="square">
            <a:spAutoFit/>
          </a:bodyPr>
          <a:lstStyle/>
          <a:p>
            <a:pPr algn="ctr">
              <a:defRPr sz="1400" b="1">
                <a:solidFill>
                  <a:srgbClr val="000000"/>
                </a:solidFill>
              </a:defRPr>
            </a:pPr>
            <a:r>
              <a:t>HP Essential Backpack</a:t>
            </a:r>
          </a:p>
        </p:txBody>
      </p:sp>
      <p:sp>
        <p:nvSpPr>
          <p:cNvPr id="23" name="TextBox 22"/>
          <p:cNvSpPr txBox="1"/>
          <p:nvPr/>
        </p:nvSpPr>
        <p:spPr>
          <a:xfrm>
            <a:off x="5943600" y="4535424"/>
            <a:ext cx="2743200" cy="585216"/>
          </a:xfrm>
          <a:prstGeom prst="rect">
            <a:avLst/>
          </a:prstGeom>
          <a:noFill/>
        </p:spPr>
        <p:txBody>
          <a:bodyPr wrap="square">
            <a:spAutoFit/>
          </a:bodyPr>
          <a:lstStyle/>
          <a:p>
            <a:pPr algn="l">
              <a:defRPr sz="1100" b="0">
                <a:solidFill>
                  <a:srgbClr val="000000"/>
                </a:solidFill>
              </a:defRPr>
            </a:pPr>
            <a:r>
              <a:t>The HP Essential Backpack is a great notebook carrying solution for bo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48640"/>
          </a:xfrm>
          <a:prstGeom prst="rect">
            <a:avLst/>
          </a:prstGeom>
          <a:noFill/>
        </p:spPr>
        <p:txBody>
          <a:bodyPr wrap="none">
            <a:spAutoFit/>
          </a:bodyPr>
          <a:lstStyle/>
          <a:p>
            <a:pPr>
              <a:defRPr sz="2800" b="1"/>
            </a:pPr>
            <a:r>
              <a:t>Upsell Recommendations — Page 2</a:t>
            </a:r>
          </a:p>
        </p:txBody>
      </p:sp>
      <p:sp>
        <p:nvSpPr>
          <p:cNvPr id="3" name="TextBox 2"/>
          <p:cNvSpPr txBox="1"/>
          <p:nvPr/>
        </p:nvSpPr>
        <p:spPr>
          <a:xfrm>
            <a:off x="457200" y="1097280"/>
            <a:ext cx="2743200" cy="365760"/>
          </a:xfrm>
          <a:prstGeom prst="rect">
            <a:avLst/>
          </a:prstGeom>
          <a:noFill/>
        </p:spPr>
        <p:txBody>
          <a:bodyPr wrap="square">
            <a:spAutoFit/>
          </a:bodyPr>
          <a:lstStyle/>
          <a:p>
            <a:pPr algn="ctr">
              <a:defRPr sz="2200" b="1">
                <a:solidFill>
                  <a:srgbClr val="000000"/>
                </a:solidFill>
              </a:defRPr>
            </a:pPr>
            <a:r>
              <a:t>Sleeve</a:t>
            </a:r>
          </a:p>
        </p:txBody>
      </p:sp>
      <p:pic>
        <p:nvPicPr>
          <p:cNvPr id="4" name="Picture 3" descr="page_28_img_9.png"/>
          <p:cNvPicPr>
            <a:picLocks noChangeAspect="1"/>
          </p:cNvPicPr>
          <p:nvPr/>
        </p:nvPicPr>
        <p:blipFill>
          <a:blip r:embed="rId2"/>
          <a:stretch>
            <a:fillRect/>
          </a:stretch>
        </p:blipFill>
        <p:spPr>
          <a:xfrm>
            <a:off x="1272487" y="1463040"/>
            <a:ext cx="1112626" cy="914400"/>
          </a:xfrm>
          <a:prstGeom prst="rect">
            <a:avLst/>
          </a:prstGeom>
        </p:spPr>
      </p:pic>
      <p:sp>
        <p:nvSpPr>
          <p:cNvPr id="5" name="TextBox 4"/>
          <p:cNvSpPr txBox="1"/>
          <p:nvPr/>
        </p:nvSpPr>
        <p:spPr>
          <a:xfrm>
            <a:off x="457200" y="2377440"/>
            <a:ext cx="2743200" cy="329184"/>
          </a:xfrm>
          <a:prstGeom prst="rect">
            <a:avLst/>
          </a:prstGeom>
          <a:noFill/>
        </p:spPr>
        <p:txBody>
          <a:bodyPr wrap="square">
            <a:spAutoFit/>
          </a:bodyPr>
          <a:lstStyle/>
          <a:p>
            <a:pPr algn="ctr">
              <a:defRPr sz="1400" b="1">
                <a:solidFill>
                  <a:srgbClr val="000000"/>
                </a:solidFill>
              </a:defRPr>
            </a:pPr>
            <a:r>
              <a:t>HP ElitePad Case</a:t>
            </a:r>
          </a:p>
        </p:txBody>
      </p:sp>
      <p:sp>
        <p:nvSpPr>
          <p:cNvPr id="6" name="TextBox 5"/>
          <p:cNvSpPr txBox="1"/>
          <p:nvPr/>
        </p:nvSpPr>
        <p:spPr>
          <a:xfrm>
            <a:off x="457200" y="2706624"/>
            <a:ext cx="2743200" cy="585216"/>
          </a:xfrm>
          <a:prstGeom prst="rect">
            <a:avLst/>
          </a:prstGeom>
          <a:noFill/>
        </p:spPr>
        <p:txBody>
          <a:bodyPr wrap="square">
            <a:spAutoFit/>
          </a:bodyPr>
          <a:lstStyle/>
          <a:p>
            <a:pPr algn="l">
              <a:defRPr sz="1100" b="0">
                <a:solidFill>
                  <a:srgbClr val="000000"/>
                </a:solidFill>
              </a:defRPr>
            </a:pPr>
            <a:r>
              <a:t>Sophistication. Durability. We've got you covered. Carry your HP Elite</a:t>
            </a:r>
          </a:p>
        </p:txBody>
      </p:sp>
      <p:pic>
        <p:nvPicPr>
          <p:cNvPr id="7" name="Picture 6" descr="page_28_img_9.png"/>
          <p:cNvPicPr>
            <a:picLocks noChangeAspect="1"/>
          </p:cNvPicPr>
          <p:nvPr/>
        </p:nvPicPr>
        <p:blipFill>
          <a:blip r:embed="rId2"/>
          <a:stretch>
            <a:fillRect/>
          </a:stretch>
        </p:blipFill>
        <p:spPr>
          <a:xfrm>
            <a:off x="1272487" y="3291840"/>
            <a:ext cx="1112626" cy="914400"/>
          </a:xfrm>
          <a:prstGeom prst="rect">
            <a:avLst/>
          </a:prstGeom>
        </p:spPr>
      </p:pic>
      <p:sp>
        <p:nvSpPr>
          <p:cNvPr id="8" name="TextBox 7"/>
          <p:cNvSpPr txBox="1"/>
          <p:nvPr/>
        </p:nvSpPr>
        <p:spPr>
          <a:xfrm>
            <a:off x="457200" y="4206240"/>
            <a:ext cx="2743200" cy="329184"/>
          </a:xfrm>
          <a:prstGeom prst="rect">
            <a:avLst/>
          </a:prstGeom>
          <a:noFill/>
        </p:spPr>
        <p:txBody>
          <a:bodyPr wrap="square">
            <a:spAutoFit/>
          </a:bodyPr>
          <a:lstStyle/>
          <a:p>
            <a:pPr algn="ctr">
              <a:defRPr sz="1400" b="1">
                <a:solidFill>
                  <a:srgbClr val="000000"/>
                </a:solidFill>
              </a:defRPr>
            </a:pPr>
            <a:r>
              <a:t>HP ElitePad Rugged Case</a:t>
            </a:r>
          </a:p>
        </p:txBody>
      </p:sp>
      <p:sp>
        <p:nvSpPr>
          <p:cNvPr id="9" name="TextBox 8"/>
          <p:cNvSpPr txBox="1"/>
          <p:nvPr/>
        </p:nvSpPr>
        <p:spPr>
          <a:xfrm>
            <a:off x="457200" y="4535424"/>
            <a:ext cx="2743200" cy="585216"/>
          </a:xfrm>
          <a:prstGeom prst="rect">
            <a:avLst/>
          </a:prstGeom>
          <a:noFill/>
        </p:spPr>
        <p:txBody>
          <a:bodyPr wrap="square">
            <a:spAutoFit/>
          </a:bodyPr>
          <a:lstStyle/>
          <a:p>
            <a:pPr algn="l">
              <a:defRPr sz="1100" b="0">
                <a:solidFill>
                  <a:srgbClr val="000000"/>
                </a:solidFill>
              </a:defRPr>
            </a:pPr>
            <a:r>
              <a:t>Help protect your HP ElitePad when you work with a business rugged env</a:t>
            </a:r>
          </a:p>
        </p:txBody>
      </p:sp>
      <p:sp>
        <p:nvSpPr>
          <p:cNvPr id="10" name="TextBox 9"/>
          <p:cNvSpPr txBox="1"/>
          <p:nvPr/>
        </p:nvSpPr>
        <p:spPr>
          <a:xfrm>
            <a:off x="3200400" y="1097280"/>
            <a:ext cx="2743200" cy="365760"/>
          </a:xfrm>
          <a:prstGeom prst="rect">
            <a:avLst/>
          </a:prstGeom>
          <a:noFill/>
        </p:spPr>
        <p:txBody>
          <a:bodyPr wrap="square">
            <a:spAutoFit/>
          </a:bodyPr>
          <a:lstStyle/>
          <a:p>
            <a:pPr algn="ctr">
              <a:defRPr sz="2200" b="1">
                <a:solidFill>
                  <a:srgbClr val="000000"/>
                </a:solidFill>
              </a:defRPr>
            </a:pPr>
            <a:r>
              <a:t>Docking Station</a:t>
            </a:r>
          </a:p>
        </p:txBody>
      </p:sp>
      <p:pic>
        <p:nvPicPr>
          <p:cNvPr id="11" name="Picture 10" descr="page_28_img_4.png"/>
          <p:cNvPicPr>
            <a:picLocks noChangeAspect="1"/>
          </p:cNvPicPr>
          <p:nvPr/>
        </p:nvPicPr>
        <p:blipFill>
          <a:blip r:embed="rId3"/>
          <a:stretch>
            <a:fillRect/>
          </a:stretch>
        </p:blipFill>
        <p:spPr>
          <a:xfrm>
            <a:off x="3863009" y="1463040"/>
            <a:ext cx="1417982" cy="914400"/>
          </a:xfrm>
          <a:prstGeom prst="rect">
            <a:avLst/>
          </a:prstGeom>
        </p:spPr>
      </p:pic>
      <p:sp>
        <p:nvSpPr>
          <p:cNvPr id="12" name="TextBox 11"/>
          <p:cNvSpPr txBox="1"/>
          <p:nvPr/>
        </p:nvSpPr>
        <p:spPr>
          <a:xfrm>
            <a:off x="3200400" y="2377440"/>
            <a:ext cx="2743200" cy="329184"/>
          </a:xfrm>
          <a:prstGeom prst="rect">
            <a:avLst/>
          </a:prstGeom>
          <a:noFill/>
        </p:spPr>
        <p:txBody>
          <a:bodyPr wrap="square">
            <a:spAutoFit/>
          </a:bodyPr>
          <a:lstStyle/>
          <a:p>
            <a:pPr algn="ctr">
              <a:defRPr sz="1400" b="1">
                <a:solidFill>
                  <a:srgbClr val="000000"/>
                </a:solidFill>
              </a:defRPr>
            </a:pPr>
            <a:r>
              <a:t>HP 2012 230W Docking Station</a:t>
            </a:r>
          </a:p>
        </p:txBody>
      </p:sp>
      <p:sp>
        <p:nvSpPr>
          <p:cNvPr id="13" name="TextBox 12"/>
          <p:cNvSpPr txBox="1"/>
          <p:nvPr/>
        </p:nvSpPr>
        <p:spPr>
          <a:xfrm>
            <a:off x="3200400" y="2706624"/>
            <a:ext cx="2743200" cy="585216"/>
          </a:xfrm>
          <a:prstGeom prst="rect">
            <a:avLst/>
          </a:prstGeom>
          <a:noFill/>
        </p:spPr>
        <p:txBody>
          <a:bodyPr wrap="square">
            <a:spAutoFit/>
          </a:bodyPr>
          <a:lstStyle/>
          <a:p>
            <a:pPr algn="l">
              <a:defRPr sz="1100" b="0">
                <a:solidFill>
                  <a:srgbClr val="000000"/>
                </a:solidFill>
              </a:defRPr>
            </a:pPr>
            <a:r>
              <a:t>HP offers a full line of docking stations designed exclusively for sel</a:t>
            </a:r>
          </a:p>
        </p:txBody>
      </p:sp>
      <p:pic>
        <p:nvPicPr>
          <p:cNvPr id="14" name="Picture 13" descr="page_28_img_4.png"/>
          <p:cNvPicPr>
            <a:picLocks noChangeAspect="1"/>
          </p:cNvPicPr>
          <p:nvPr/>
        </p:nvPicPr>
        <p:blipFill>
          <a:blip r:embed="rId3"/>
          <a:stretch>
            <a:fillRect/>
          </a:stretch>
        </p:blipFill>
        <p:spPr>
          <a:xfrm>
            <a:off x="3863009" y="3291840"/>
            <a:ext cx="1417982" cy="914400"/>
          </a:xfrm>
          <a:prstGeom prst="rect">
            <a:avLst/>
          </a:prstGeom>
        </p:spPr>
      </p:pic>
      <p:sp>
        <p:nvSpPr>
          <p:cNvPr id="15" name="TextBox 14"/>
          <p:cNvSpPr txBox="1"/>
          <p:nvPr/>
        </p:nvSpPr>
        <p:spPr>
          <a:xfrm>
            <a:off x="3200400" y="4206240"/>
            <a:ext cx="2743200" cy="329184"/>
          </a:xfrm>
          <a:prstGeom prst="rect">
            <a:avLst/>
          </a:prstGeom>
          <a:noFill/>
        </p:spPr>
        <p:txBody>
          <a:bodyPr wrap="square">
            <a:spAutoFit/>
          </a:bodyPr>
          <a:lstStyle/>
          <a:p>
            <a:pPr algn="ctr">
              <a:defRPr sz="1400" b="1">
                <a:solidFill>
                  <a:srgbClr val="000000"/>
                </a:solidFill>
              </a:defRPr>
            </a:pPr>
            <a:r>
              <a:t>HP 2012 230W Advanced Docking Station</a:t>
            </a:r>
          </a:p>
        </p:txBody>
      </p:sp>
      <p:sp>
        <p:nvSpPr>
          <p:cNvPr id="16" name="TextBox 15"/>
          <p:cNvSpPr txBox="1"/>
          <p:nvPr/>
        </p:nvSpPr>
        <p:spPr>
          <a:xfrm>
            <a:off x="3200400" y="4535424"/>
            <a:ext cx="2743200" cy="585216"/>
          </a:xfrm>
          <a:prstGeom prst="rect">
            <a:avLst/>
          </a:prstGeom>
          <a:noFill/>
        </p:spPr>
        <p:txBody>
          <a:bodyPr wrap="square">
            <a:spAutoFit/>
          </a:bodyPr>
          <a:lstStyle/>
          <a:p>
            <a:pPr algn="l">
              <a:defRPr sz="1100" b="0">
                <a:solidFill>
                  <a:srgbClr val="000000"/>
                </a:solidFill>
              </a:defRPr>
            </a:pPr>
            <a:r>
              <a:t>HP offers a full line of docking stations designed exclusively for sel</a:t>
            </a:r>
          </a:p>
        </p:txBody>
      </p:sp>
      <p:pic>
        <p:nvPicPr>
          <p:cNvPr id="17" name="Picture 16" descr="page_28_img_3.png"/>
          <p:cNvPicPr>
            <a:picLocks noChangeAspect="1"/>
          </p:cNvPicPr>
          <p:nvPr/>
        </p:nvPicPr>
        <p:blipFill>
          <a:blip r:embed="rId4"/>
          <a:stretch>
            <a:fillRect/>
          </a:stretch>
        </p:blipFill>
        <p:spPr>
          <a:xfrm>
            <a:off x="3845257" y="5120640"/>
            <a:ext cx="1453486" cy="914400"/>
          </a:xfrm>
          <a:prstGeom prst="rect">
            <a:avLst/>
          </a:prstGeom>
        </p:spPr>
      </p:pic>
      <p:sp>
        <p:nvSpPr>
          <p:cNvPr id="18" name="TextBox 17"/>
          <p:cNvSpPr txBox="1"/>
          <p:nvPr/>
        </p:nvSpPr>
        <p:spPr>
          <a:xfrm>
            <a:off x="3200400" y="6035040"/>
            <a:ext cx="2743200" cy="329184"/>
          </a:xfrm>
          <a:prstGeom prst="rect">
            <a:avLst/>
          </a:prstGeom>
          <a:noFill/>
        </p:spPr>
        <p:txBody>
          <a:bodyPr wrap="square">
            <a:spAutoFit/>
          </a:bodyPr>
          <a:lstStyle/>
          <a:p>
            <a:pPr algn="ctr">
              <a:defRPr sz="1400" b="1">
                <a:solidFill>
                  <a:srgbClr val="000000"/>
                </a:solidFill>
              </a:defRPr>
            </a:pPr>
            <a:r>
              <a:t>HP 2012 120W Advanced Docking Station</a:t>
            </a:r>
          </a:p>
        </p:txBody>
      </p:sp>
      <p:sp>
        <p:nvSpPr>
          <p:cNvPr id="19" name="TextBox 18"/>
          <p:cNvSpPr txBox="1"/>
          <p:nvPr/>
        </p:nvSpPr>
        <p:spPr>
          <a:xfrm>
            <a:off x="3200400" y="6364224"/>
            <a:ext cx="2743200" cy="585216"/>
          </a:xfrm>
          <a:prstGeom prst="rect">
            <a:avLst/>
          </a:prstGeom>
          <a:noFill/>
        </p:spPr>
        <p:txBody>
          <a:bodyPr wrap="square">
            <a:spAutoFit/>
          </a:bodyPr>
          <a:lstStyle/>
          <a:p>
            <a:pPr algn="l">
              <a:defRPr sz="1100" b="0">
                <a:solidFill>
                  <a:srgbClr val="000000"/>
                </a:solidFill>
              </a:defRPr>
            </a:pPr>
            <a:r>
              <a:t>HP offers a full line of docking stations designed exclusively for sel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0"/>
            <a:ext cx="8229600" cy="3200400"/>
          </a:xfrm>
          <a:prstGeom prst="rect">
            <a:avLst/>
          </a:prstGeom>
          <a:noFill/>
        </p:spPr>
        <p:txBody>
          <a:bodyPr wrap="none">
            <a:spAutoFit/>
          </a:bodyPr>
          <a:lstStyle/>
          <a:p>
            <a:r>
              <a:rPr sz="1800" b="0">
                <a:solidFill>
                  <a:srgbClr val="222222"/>
                </a:solidFill>
                <a:latin typeface="Calibri"/>
              </a:rPr>
              <a:t>Recommended next steps</a:t>
            </a:r>
          </a:p>
        </p:txBody>
      </p:sp>
      <p:sp>
        <p:nvSpPr>
          <p:cNvPr id="3" name="TextBox 2"/>
          <p:cNvSpPr txBox="1"/>
          <p:nvPr/>
        </p:nvSpPr>
        <p:spPr>
          <a:xfrm>
            <a:off x="548640" y="6400800"/>
            <a:ext cx="8229600" cy="365760"/>
          </a:xfrm>
          <a:prstGeom prst="rect">
            <a:avLst/>
          </a:prstGeom>
          <a:noFill/>
        </p:spPr>
        <p:txBody>
          <a:bodyPr wrap="none">
            <a:spAutoFit/>
          </a:bodyPr>
          <a:lstStyle/>
          <a:p>
            <a:pPr algn="l"/>
            <a:r>
              <a:rPr sz="900" b="0">
                <a:solidFill>
                  <a:srgbClr val="787878"/>
                </a:solidFill>
                <a:latin typeface="Calibri"/>
              </a:rPr>
              <a:t>Thank You — HP Sales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