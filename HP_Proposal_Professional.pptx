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7315200" cy="1097280"/>
          </a:xfrm>
          <a:prstGeom prst="rect">
            <a:avLst/>
          </a:prstGeom>
          <a:noFill/>
        </p:spPr>
        <p:txBody>
          <a:bodyPr wrap="none">
            <a:spAutoFit/>
          </a:bodyPr>
          <a:lstStyle/>
          <a:p>
            <a:pPr algn="l"/>
            <a:r>
              <a:rPr sz="3200" b="1">
                <a:solidFill>
                  <a:srgbClr val="004279"/>
                </a:solidFill>
                <a:latin typeface="Calibri"/>
              </a:rPr>
              <a:t>Introducing our cutting-edge product, designed to elevate yo</a:t>
            </a:r>
          </a:p>
        </p:txBody>
      </p:sp>
      <p:sp>
        <p:nvSpPr>
          <p:cNvPr id="3" name="TextBox 2"/>
          <p:cNvSpPr txBox="1"/>
          <p:nvPr/>
        </p:nvSpPr>
        <p:spPr>
          <a:xfrm>
            <a:off x="548640" y="1463040"/>
            <a:ext cx="7315200" cy="914400"/>
          </a:xfrm>
          <a:prstGeom prst="rect">
            <a:avLst/>
          </a:prstGeom>
          <a:noFill/>
        </p:spPr>
        <p:txBody>
          <a:bodyPr wrap="none">
            <a:spAutoFit/>
          </a:bodyPr>
          <a:lstStyle/>
          <a:p>
            <a:r>
              <a:rPr sz="1400" b="0">
                <a:solidFill>
                  <a:srgbClr val="787878"/>
                </a:solidFill>
                <a:latin typeface="Calibri"/>
              </a:rPr>
              <a:t>Proposal for: We need 10 laptops for a design team, around ₹1 lakh each, lightweight, 8GB RAM, and good graphics.</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Generated by HP AI Sales Assistant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7772400" cy="457200"/>
          </a:xfrm>
          <a:prstGeom prst="rect">
            <a:avLst/>
          </a:prstGeom>
          <a:noFill/>
        </p:spPr>
        <p:txBody>
          <a:bodyPr wrap="none">
            <a:spAutoFit/>
          </a:bodyPr>
          <a:lstStyle/>
          <a:p>
            <a:r>
              <a:rPr sz="2000" b="1">
                <a:solidFill>
                  <a:srgbClr val="004279"/>
                </a:solidFill>
                <a:latin typeface="Calibri"/>
              </a:rPr>
              <a:t>Executive Summary</a:t>
            </a:r>
          </a:p>
        </p:txBody>
      </p:sp>
      <p:sp>
        <p:nvSpPr>
          <p:cNvPr id="3" name="TextBox 2"/>
          <p:cNvSpPr txBox="1"/>
          <p:nvPr/>
        </p:nvSpPr>
        <p:spPr>
          <a:xfrm>
            <a:off x="548640" y="1097280"/>
            <a:ext cx="4572000" cy="2926080"/>
          </a:xfrm>
          <a:prstGeom prst="rect">
            <a:avLst/>
          </a:prstGeom>
          <a:noFill/>
        </p:spPr>
        <p:txBody>
          <a:bodyPr wrap="none">
            <a:spAutoFit/>
          </a:bodyPr>
          <a:lstStyle/>
          <a:p>
            <a:r>
              <a:rPr sz="1200" b="0">
                <a:solidFill>
                  <a:srgbClr val="222222"/>
                </a:solidFill>
                <a:latin typeface="Calibri"/>
              </a:rPr>
              <a:t>Introducing our cutting-edge product, designed to elevate your experience with unparalleled performance and sleek, user-</a:t>
            </a:r>
          </a:p>
          <a:p>
            <a:r>
              <a:t>friendly design. With industry-leading efficiency and unmatched durability, it outperforms competitors while reducing</a:t>
            </a:r>
          </a:p>
          <a:p>
            <a:r>
              <a:t>operational costs. Our commitment to exceptional customer support and innovative features ensures you stay ahead of the</a:t>
            </a:r>
          </a:p>
          <a:p>
            <a:r>
              <a:t>curve. Choose us for a solution that not only meets but exceeds your expectations.</a:t>
            </a:r>
          </a:p>
        </p:txBody>
      </p:sp>
      <p:sp>
        <p:nvSpPr>
          <p:cNvPr id="4" name="TextBox 3"/>
          <p:cNvSpPr txBox="1"/>
          <p:nvPr/>
        </p:nvSpPr>
        <p:spPr>
          <a:xfrm>
            <a:off x="6217920" y="1097280"/>
            <a:ext cx="2743200" cy="2926080"/>
          </a:xfrm>
          <a:prstGeom prst="rect">
            <a:avLst/>
          </a:prstGeom>
          <a:noFill/>
        </p:spPr>
        <p:txBody>
          <a:bodyPr wrap="none">
            <a:spAutoFit/>
          </a:bodyPr>
          <a:lstStyle/>
          <a:p>
            <a:r>
              <a:rPr sz="1400" b="1">
                <a:solidFill>
                  <a:srgbClr val="0084B4"/>
                </a:solidFill>
                <a:latin typeface="Calibri"/>
              </a:rPr>
              <a:t>Key Highlights</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g</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u</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9</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g</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j</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y</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d</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5</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2</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5</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y</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9</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y</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u</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y</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y</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2</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y</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z</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y</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3</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2</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3</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_</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p</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b</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y</a:t>
            </a:r>
          </a:p>
          <a:p>
            <a:pPr lvl="1"/>
            <a:r>
              <a:rPr sz="1200" b="0">
                <a:solidFill>
                  <a:srgbClr val="222222"/>
                </a:solidFill>
                <a:latin typeface="Calibri"/>
              </a:rPr>
              <a:t>• .</a:t>
            </a:r>
          </a:p>
        </p:txBody>
      </p:sp>
      <p:sp>
        <p:nvSpPr>
          <p:cNvPr id="5" name="TextBox 4"/>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Executive Summary • Tailored to customer requirements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ProBook 650 G1</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Tailored for business. Optimised for Windows 8 Pro. 2 this configurable notebook features a 39.6 cm diagonal display and</a:t>
            </a:r>
          </a:p>
          <a:p>
            <a:r>
              <a:t>UMA or discrete graphics. From the professional design to Intel® technology, you're ready for business.</a:t>
            </a:r>
          </a:p>
        </p:txBody>
      </p:sp>
      <p:pic>
        <p:nvPicPr>
          <p:cNvPr id="4" name="Picture 3" descr="hp catalogue_NA_NA_slide5.png"/>
          <p:cNvPicPr>
            <a:picLocks noChangeAspect="1"/>
          </p:cNvPicPr>
          <p:nvPr/>
        </p:nvPicPr>
        <p:blipFill>
          <a:blip r:embed="rId2"/>
          <a:stretch>
            <a:fillRect/>
          </a:stretch>
        </p:blipFill>
        <p:spPr>
          <a:xfrm>
            <a:off x="5669280" y="1097280"/>
            <a:ext cx="2261062"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ProBook 650 G1 • Product Sheet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ProBook 640 G1</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Tailored for business. Optimised for Windows 8 Pro. 2 this configurable notebook features a 35.6 cm diagonal display and</a:t>
            </a:r>
          </a:p>
          <a:p>
            <a:r>
              <a:t>UMA or discrete graphics. From the professional design to Intel® technology, you're ready for business.</a:t>
            </a:r>
          </a:p>
        </p:txBody>
      </p:sp>
      <p:pic>
        <p:nvPicPr>
          <p:cNvPr id="4" name="Picture 3" descr="hp catalogue_NA_NA_slide5.png"/>
          <p:cNvPicPr>
            <a:picLocks noChangeAspect="1"/>
          </p:cNvPicPr>
          <p:nvPr/>
        </p:nvPicPr>
        <p:blipFill>
          <a:blip r:embed="rId2"/>
          <a:stretch>
            <a:fillRect/>
          </a:stretch>
        </p:blipFill>
        <p:spPr>
          <a:xfrm>
            <a:off x="5669280" y="1097280"/>
            <a:ext cx="2261062"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ProBook 640 G1 • Product Sheet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ProBook 455 G2</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Meet the demands of your work. Work smarter—and look good doing it—with an HP ProBook built to perform wherever business</a:t>
            </a:r>
          </a:p>
          <a:p>
            <a:r>
              <a:t>takes you. Count on a durable design inside and out, with integrated security and a spill-resistant keyboard. Plus,</a:t>
            </a:r>
          </a:p>
          <a:p>
            <a:r>
              <a:t>there's less bulk to bring with you, thanks to thin, stylish construction.</a:t>
            </a:r>
          </a:p>
        </p:txBody>
      </p:sp>
      <p:pic>
        <p:nvPicPr>
          <p:cNvPr id="4" name="Picture 3" descr="hp catalogue_NA_NA_slide5.png"/>
          <p:cNvPicPr>
            <a:picLocks noChangeAspect="1"/>
          </p:cNvPicPr>
          <p:nvPr/>
        </p:nvPicPr>
        <p:blipFill>
          <a:blip r:embed="rId2"/>
          <a:stretch>
            <a:fillRect/>
          </a:stretch>
        </p:blipFill>
        <p:spPr>
          <a:xfrm>
            <a:off x="5669280" y="1097280"/>
            <a:ext cx="2261062"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ProBook 455 G2 • Product Sheet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Sales Pitch &amp; Competitive Advantages</a:t>
            </a:r>
          </a:p>
        </p:txBody>
      </p:sp>
      <p:sp>
        <p:nvSpPr>
          <p:cNvPr id="3" name="TextBox 2"/>
          <p:cNvSpPr txBox="1"/>
          <p:nvPr/>
        </p:nvSpPr>
        <p:spPr>
          <a:xfrm>
            <a:off x="548640" y="1005840"/>
            <a:ext cx="5029200" cy="2377440"/>
          </a:xfrm>
          <a:prstGeom prst="rect">
            <a:avLst/>
          </a:prstGeom>
          <a:noFill/>
        </p:spPr>
        <p:txBody>
          <a:bodyPr wrap="none">
            <a:spAutoFit/>
          </a:bodyPr>
          <a:lstStyle/>
          <a:p>
            <a:r>
              <a:rPr sz="1200" b="0">
                <a:solidFill>
                  <a:srgbClr val="222222"/>
                </a:solidFill>
                <a:latin typeface="Calibri"/>
              </a:rPr>
              <a:t>Introducing our cutting-edge product, designed to elevate your experience with unparalleled performance and sleek, user-friendly design. With industry-leading efficiency and unmatched durability, it outperforms competitors while reducing operational costs. Our commitment to exceptional customer support and innovative features ensures you stay ahead of the curve. Choose us for a solution that not only meets but exceeds your expectations.</a:t>
            </a:r>
          </a:p>
        </p:txBody>
      </p:sp>
      <p:sp>
        <p:nvSpPr>
          <p:cNvPr id="4" name="TextBox 3"/>
          <p:cNvSpPr txBox="1"/>
          <p:nvPr/>
        </p:nvSpPr>
        <p:spPr>
          <a:xfrm>
            <a:off x="5669280" y="1005840"/>
            <a:ext cx="3291840" cy="3291840"/>
          </a:xfrm>
          <a:prstGeom prst="rect">
            <a:avLst/>
          </a:prstGeom>
          <a:noFill/>
        </p:spPr>
        <p:txBody>
          <a:bodyPr wrap="none">
            <a:spAutoFit/>
          </a:bodyPr>
          <a:lstStyle/>
          <a:p>
            <a:r>
              <a:rPr sz="1300" b="1">
                <a:solidFill>
                  <a:srgbClr val="0084B4"/>
                </a:solidFill>
                <a:latin typeface="Calibri"/>
              </a:rPr>
              <a:t>Key Benefits</a:t>
            </a:r>
          </a:p>
          <a:p>
            <a:r>
              <a:rPr sz="1100" b="0">
                <a:solidFill>
                  <a:srgbClr val="222222"/>
                </a:solidFill>
                <a:latin typeface="Calibri"/>
              </a:rPr>
              <a:t>• H</a:t>
            </a:r>
          </a:p>
          <a:p>
            <a:r>
              <a:rPr sz="1100" b="0">
                <a:solidFill>
                  <a:srgbClr val="222222"/>
                </a:solidFill>
                <a:latin typeface="Calibri"/>
              </a:rPr>
              <a:t>• e</a:t>
            </a:r>
          </a:p>
          <a:p>
            <a:r>
              <a:rPr sz="1100" b="0">
                <a:solidFill>
                  <a:srgbClr val="222222"/>
                </a:solidFill>
                <a:latin typeface="Calibri"/>
              </a:rPr>
              <a:t>• r</a:t>
            </a:r>
          </a:p>
          <a:p>
            <a:r>
              <a:rPr sz="1100" b="0">
                <a:solidFill>
                  <a:srgbClr val="222222"/>
                </a:solidFill>
                <a:latin typeface="Calibri"/>
              </a:rPr>
              <a:t>• e</a:t>
            </a:r>
          </a:p>
        </p:txBody>
      </p:sp>
      <p:sp>
        <p:nvSpPr>
          <p:cNvPr id="5" name="TextBox 4"/>
          <p:cNvSpPr txBox="1"/>
          <p:nvPr/>
        </p:nvSpPr>
        <p:spPr>
          <a:xfrm>
            <a:off x="548640" y="3291840"/>
            <a:ext cx="8229600" cy="1463040"/>
          </a:xfrm>
          <a:prstGeom prst="rect">
            <a:avLst/>
          </a:prstGeom>
          <a:noFill/>
        </p:spPr>
        <p:txBody>
          <a:bodyPr wrap="none">
            <a:spAutoFit/>
          </a:bodyPr>
          <a:lstStyle/>
          <a:p>
            <a:r>
              <a:rPr sz="1300" b="1">
                <a:solidFill>
                  <a:srgbClr val="0084B4"/>
                </a:solidFill>
                <a:latin typeface="Calibri"/>
              </a:rPr>
              <a:t>Competitive Advantages</a:t>
            </a:r>
          </a:p>
          <a:p>
            <a:r>
              <a:rPr sz="1100" b="0">
                <a:solidFill>
                  <a:srgbClr val="222222"/>
                </a:solidFill>
                <a:latin typeface="Calibri"/>
              </a:rPr>
              <a:t>• W</a:t>
            </a:r>
          </a:p>
          <a:p>
            <a:r>
              <a:rPr sz="1100" b="0">
                <a:solidFill>
                  <a:srgbClr val="222222"/>
                </a:solidFill>
                <a:latin typeface="Calibri"/>
              </a:rPr>
              <a:t>• h</a:t>
            </a:r>
          </a:p>
          <a:p>
            <a:r>
              <a:rPr sz="1100" b="0">
                <a:solidFill>
                  <a:srgbClr val="222222"/>
                </a:solidFill>
                <a:latin typeface="Calibri"/>
              </a:rPr>
              <a:t>• e</a:t>
            </a:r>
          </a:p>
          <a:p>
            <a:r>
              <a:rPr sz="1100" b="0">
                <a:solidFill>
                  <a:srgbClr val="222222"/>
                </a:solidFill>
                <a:latin typeface="Calibri"/>
              </a:rPr>
              <a:t>• n</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Sales Pitch • Tailored by AI Sales Assistant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Technical Comparison</a:t>
            </a:r>
          </a:p>
        </p:txBody>
      </p:sp>
      <p:graphicFrame>
        <p:nvGraphicFramePr>
          <p:cNvPr id="3" name="Table 2"/>
          <p:cNvGraphicFramePr>
            <a:graphicFrameLocks noGrp="1"/>
          </p:cNvGraphicFramePr>
          <p:nvPr/>
        </p:nvGraphicFramePr>
        <p:xfrm>
          <a:off x="365760" y="1188720"/>
          <a:ext cx="8412480" cy="3840480"/>
        </p:xfrm>
        <a:graphic>
          <a:graphicData uri="http://schemas.openxmlformats.org/drawingml/2006/table">
            <a:tbl>
              <a:tblPr firstRow="1" bandRow="1">
                <a:tableStyleId>{5C22544A-7EE6-4342-B048-85BDC9FD1C3A}</a:tableStyleId>
              </a:tblPr>
              <a:tblGrid>
                <a:gridCol w="2103120"/>
                <a:gridCol w="2103120"/>
                <a:gridCol w="2103120"/>
                <a:gridCol w="2103120"/>
              </a:tblGrid>
              <a:tr h="480060">
                <a:tc>
                  <a:txBody>
                    <a:bodyPr/>
                    <a:lstStyle/>
                    <a:p>
                      <a:r>
                        <a:rPr sz="1100" b="1">
                          <a:solidFill>
                            <a:srgbClr val="0084B4"/>
                          </a:solidFill>
                          <a:latin typeface="Calibri"/>
                        </a:rPr>
                        <a:t>Feature</a:t>
                      </a:r>
                    </a:p>
                  </a:txBody>
                  <a:tcPr/>
                </a:tc>
                <a:tc>
                  <a:txBody>
                    <a:bodyPr/>
                    <a:lstStyle/>
                    <a:p>
                      <a:r>
                        <a:rPr sz="1100" b="1">
                          <a:solidFill>
                            <a:srgbClr val="222222"/>
                          </a:solidFill>
                          <a:latin typeface="Calibri"/>
                        </a:rPr>
                        <a:t>HP ProBook 650 G1</a:t>
                      </a:r>
                    </a:p>
                  </a:txBody>
                  <a:tcPr/>
                </a:tc>
                <a:tc>
                  <a:txBody>
                    <a:bodyPr/>
                    <a:lstStyle/>
                    <a:p>
                      <a:r>
                        <a:rPr sz="1100" b="1">
                          <a:solidFill>
                            <a:srgbClr val="222222"/>
                          </a:solidFill>
                          <a:latin typeface="Calibri"/>
                        </a:rPr>
                        <a:t>HP ProBook 640 G1</a:t>
                      </a:r>
                    </a:p>
                  </a:txBody>
                  <a:tcPr/>
                </a:tc>
                <a:tc>
                  <a:txBody>
                    <a:bodyPr/>
                    <a:lstStyle/>
                    <a:p>
                      <a:r>
                        <a:rPr sz="1100" b="1">
                          <a:solidFill>
                            <a:srgbClr val="222222"/>
                          </a:solidFill>
                          <a:latin typeface="Calibri"/>
                        </a:rPr>
                        <a:t>HP ProBook 455 G2</a:t>
                      </a:r>
                    </a:p>
                  </a:txBody>
                  <a:tcPr/>
                </a:tc>
              </a:tr>
              <a:tr h="480060">
                <a:tc>
                  <a:txBody>
                    <a:bodyPr/>
                    <a:lstStyle/>
                    <a:p>
                      <a:r>
                        <a:rPr sz="1000" b="1">
                          <a:solidFill>
                            <a:srgbClr val="222222"/>
                          </a:solidFill>
                          <a:latin typeface="Calibri"/>
                        </a:rPr>
                        <a:t>Operating system</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Processor</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Memory</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Graphics</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Storage</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Weight</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Power</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bl>
          </a:graphicData>
        </a:graphic>
      </p:graphicFrame>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Technical Comparison • Data extracted from product specs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Pricing &amp; Availability</a:t>
            </a:r>
          </a:p>
        </p:txBody>
      </p:sp>
      <p:sp>
        <p:nvSpPr>
          <p:cNvPr id="3" name="TextBox 2"/>
          <p:cNvSpPr txBox="1"/>
          <p:nvPr/>
        </p:nvSpPr>
        <p:spPr>
          <a:xfrm>
            <a:off x="548640" y="1097280"/>
            <a:ext cx="8229600" cy="2743200"/>
          </a:xfrm>
          <a:prstGeom prst="rect">
            <a:avLst/>
          </a:prstGeom>
          <a:noFill/>
        </p:spPr>
        <p:txBody>
          <a:bodyPr wrap="none">
            <a:spAutoFit/>
          </a:bodyPr>
          <a:lstStyle/>
          <a:p>
            <a:r>
              <a:rPr sz="1200" b="0">
                <a:solidFill>
                  <a:srgbClr val="222222"/>
                </a:solidFill>
                <a:latin typeface="Calibri"/>
              </a:rPr>
              <a:t>Contact Sales for best quotation and lead times. Suggested starting points:</a:t>
            </a:r>
          </a:p>
          <a:p>
            <a:r>
              <a:rPr sz="1100" b="0">
                <a:solidFill>
                  <a:srgbClr val="222222"/>
                </a:solidFill>
                <a:latin typeface="Calibri"/>
              </a:rPr>
              <a:t>• HP ProBook 650 G1: Contact Sales</a:t>
            </a:r>
          </a:p>
          <a:p>
            <a:r>
              <a:rPr sz="1100" b="0">
                <a:solidFill>
                  <a:srgbClr val="222222"/>
                </a:solidFill>
                <a:latin typeface="Calibri"/>
              </a:rPr>
              <a:t>• HP ProBook 640 G1: Contact Sales</a:t>
            </a:r>
          </a:p>
          <a:p>
            <a:r>
              <a:rPr sz="1100" b="0">
                <a:solidFill>
                  <a:srgbClr val="222222"/>
                </a:solidFill>
                <a:latin typeface="Calibri"/>
              </a:rPr>
              <a:t>• HP ProBook 455 G2: Contact Sales</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Pricing indicative; contact HP Sales for firm quotation.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8229600" cy="365760"/>
          </a:xfrm>
          <a:prstGeom prst="rect">
            <a:avLst/>
          </a:prstGeom>
          <a:noFill/>
        </p:spPr>
        <p:txBody>
          <a:bodyPr wrap="none">
            <a:spAutoFit/>
          </a:bodyPr>
          <a:lstStyle/>
          <a:p>
            <a:r>
              <a:rPr sz="2000" b="1">
                <a:solidFill>
                  <a:srgbClr val="004279"/>
                </a:solidFill>
                <a:latin typeface="Calibri"/>
              </a:rPr>
              <a:t>Upsell &amp; Cross-sell Opportunities</a:t>
            </a:r>
          </a:p>
        </p:txBody>
      </p:sp>
      <p:sp>
        <p:nvSpPr>
          <p:cNvPr id="3" name="TextBox 2"/>
          <p:cNvSpPr txBox="1"/>
          <p:nvPr/>
        </p:nvSpPr>
        <p:spPr>
          <a:xfrm>
            <a:off x="548640" y="1097280"/>
            <a:ext cx="8229600" cy="3291840"/>
          </a:xfrm>
          <a:prstGeom prst="rect">
            <a:avLst/>
          </a:prstGeom>
          <a:noFill/>
        </p:spPr>
        <p:txBody>
          <a:bodyPr wrap="none">
            <a:spAutoFit/>
          </a:bodyPr>
          <a:lstStyle/>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d</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g</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1</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g</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g</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1</a:t>
            </a:r>
          </a:p>
          <a:p>
            <a:r>
              <a:rPr sz="1200" b="0">
                <a:solidFill>
                  <a:srgbClr val="222222"/>
                </a:solidFill>
                <a:latin typeface="Calibri"/>
              </a:rPr>
              <a:t>• 6</a:t>
            </a:r>
          </a:p>
          <a:p>
            <a:r>
              <a:rPr sz="1200" b="0">
                <a:solidFill>
                  <a:srgbClr val="222222"/>
                </a:solidFill>
                <a:latin typeface="Calibri"/>
              </a:rPr>
              <a:t>• G</a:t>
            </a:r>
          </a:p>
          <a:p>
            <a:r>
              <a:rPr sz="1200" b="0">
                <a:solidFill>
                  <a:srgbClr val="222222"/>
                </a:solidFill>
                <a:latin typeface="Calibri"/>
              </a:rPr>
              <a:t>• B</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P</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2</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u</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3</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u</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1</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o</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p</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K</a:t>
            </a:r>
          </a:p>
          <a:p>
            <a:r>
              <a:rPr sz="1200" b="0">
                <a:solidFill>
                  <a:srgbClr val="222222"/>
                </a:solidFill>
                <a:latin typeface="Calibri"/>
              </a:rPr>
              <a:t>• e</a:t>
            </a:r>
          </a:p>
          <a:p>
            <a:r>
              <a:rPr sz="1200" b="0">
                <a:solidFill>
                  <a:srgbClr val="222222"/>
                </a:solidFill>
                <a:latin typeface="Calibri"/>
              </a:rPr>
              <a:t>• y</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&amp;</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k</a:t>
            </a:r>
          </a:p>
          <a:p>
            <a:r>
              <a:rPr sz="1200" b="0">
                <a:solidFill>
                  <a:srgbClr val="222222"/>
                </a:solidFill>
                <a:latin typeface="Calibri"/>
              </a:rPr>
              <a:t>• e</a:t>
            </a:r>
          </a:p>
          <a:p>
            <a:r>
              <a:rPr sz="1200" b="0">
                <a:solidFill>
                  <a:srgbClr val="222222"/>
                </a:solidFill>
                <a:latin typeface="Calibri"/>
              </a:rPr>
              <a:t>• y</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2</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3</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b</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b</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f</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4</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g</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5</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1</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m</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k</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b</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2</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g</a:t>
            </a:r>
          </a:p>
          <a:p>
            <a:r>
              <a:rPr sz="1200" b="0">
                <a:solidFill>
                  <a:srgbClr val="222222"/>
                </a:solidFill>
                <a:latin typeface="Calibri"/>
              </a:rPr>
              <a:t>• u</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3</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j</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y</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Suggested bundles to increase deal 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914400"/>
            <a:ext cx="8229600" cy="548640"/>
          </a:xfrm>
          <a:prstGeom prst="rect">
            <a:avLst/>
          </a:prstGeom>
          <a:noFill/>
        </p:spPr>
        <p:txBody>
          <a:bodyPr wrap="none">
            <a:spAutoFit/>
          </a:bodyPr>
          <a:lstStyle/>
          <a:p>
            <a:r>
              <a:rPr sz="2200" b="1">
                <a:solidFill>
                  <a:srgbClr val="004279"/>
                </a:solidFill>
                <a:latin typeface="Calibri"/>
              </a:rPr>
              <a:t>Next Steps &amp; Call to Action</a:t>
            </a:r>
          </a:p>
        </p:txBody>
      </p:sp>
      <p:sp>
        <p:nvSpPr>
          <p:cNvPr id="3" name="TextBox 2"/>
          <p:cNvSpPr txBox="1"/>
          <p:nvPr/>
        </p:nvSpPr>
        <p:spPr>
          <a:xfrm>
            <a:off x="548640" y="1463040"/>
            <a:ext cx="8229600" cy="2560320"/>
          </a:xfrm>
          <a:prstGeom prst="rect">
            <a:avLst/>
          </a:prstGeom>
          <a:noFill/>
        </p:spPr>
        <p:txBody>
          <a:bodyPr wrap="none">
            <a:spAutoFit/>
          </a:bodyPr>
          <a:lstStyle/>
          <a:p>
            <a:r>
              <a:rPr sz="1200" b="0">
                <a:solidFill>
                  <a:srgbClr val="222222"/>
                </a:solidFill>
                <a:latin typeface="Calibri"/>
              </a:rPr>
              <a:t>1) Confirm shortlist and configuration</a:t>
            </a:r>
          </a:p>
          <a:p>
            <a:r>
              <a:t>2) Request formal quote and lead time</a:t>
            </a:r>
          </a:p>
          <a:p>
            <a:r>
              <a:t>3) Schedule an on-site demo or workshop</a:t>
            </a:r>
          </a:p>
          <a:p/>
          <a:p>
            <a:r>
              <a:t>Contact: HP Sales Representative</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Thank you — HP Sales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